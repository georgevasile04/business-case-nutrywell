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8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  <p:sldMasterId id="2147483792" r:id="rId6"/>
    <p:sldMasterId id="2147483797" r:id="rId7"/>
    <p:sldMasterId id="2147483800" r:id="rId8"/>
    <p:sldMasterId id="2147483803" r:id="rId9"/>
    <p:sldMasterId id="2147483806" r:id="rId10"/>
    <p:sldMasterId id="2147483809" r:id="rId11"/>
    <p:sldMasterId id="2147483813" r:id="rId12"/>
  </p:sldMasterIdLst>
  <p:notesMasterIdLst>
    <p:notesMasterId r:id="rId66"/>
  </p:notesMasterIdLst>
  <p:sldIdLst>
    <p:sldId id="328" r:id="rId13"/>
    <p:sldId id="926" r:id="rId14"/>
    <p:sldId id="904" r:id="rId15"/>
    <p:sldId id="905" r:id="rId16"/>
    <p:sldId id="907" r:id="rId17"/>
    <p:sldId id="261" r:id="rId18"/>
    <p:sldId id="263" r:id="rId19"/>
    <p:sldId id="264" r:id="rId20"/>
    <p:sldId id="268" r:id="rId21"/>
    <p:sldId id="271" r:id="rId22"/>
    <p:sldId id="911" r:id="rId23"/>
    <p:sldId id="296" r:id="rId24"/>
    <p:sldId id="284" r:id="rId25"/>
    <p:sldId id="309" r:id="rId26"/>
    <p:sldId id="314" r:id="rId27"/>
    <p:sldId id="913" r:id="rId28"/>
    <p:sldId id="927" r:id="rId29"/>
    <p:sldId id="919" r:id="rId30"/>
    <p:sldId id="918" r:id="rId31"/>
    <p:sldId id="916" r:id="rId32"/>
    <p:sldId id="923" r:id="rId33"/>
    <p:sldId id="890" r:id="rId34"/>
    <p:sldId id="330" r:id="rId35"/>
    <p:sldId id="349" r:id="rId36"/>
    <p:sldId id="347" r:id="rId37"/>
    <p:sldId id="322" r:id="rId38"/>
    <p:sldId id="321" r:id="rId39"/>
    <p:sldId id="323" r:id="rId40"/>
    <p:sldId id="325" r:id="rId41"/>
    <p:sldId id="362" r:id="rId42"/>
    <p:sldId id="301" r:id="rId43"/>
    <p:sldId id="329" r:id="rId44"/>
    <p:sldId id="327" r:id="rId45"/>
    <p:sldId id="302" r:id="rId46"/>
    <p:sldId id="334" r:id="rId47"/>
    <p:sldId id="333" r:id="rId48"/>
    <p:sldId id="332" r:id="rId49"/>
    <p:sldId id="341" r:id="rId50"/>
    <p:sldId id="891" r:id="rId51"/>
    <p:sldId id="338" r:id="rId52"/>
    <p:sldId id="342" r:id="rId53"/>
    <p:sldId id="318" r:id="rId54"/>
    <p:sldId id="340" r:id="rId55"/>
    <p:sldId id="306" r:id="rId56"/>
    <p:sldId id="345" r:id="rId57"/>
    <p:sldId id="308" r:id="rId58"/>
    <p:sldId id="348" r:id="rId59"/>
    <p:sldId id="320" r:id="rId60"/>
    <p:sldId id="310" r:id="rId61"/>
    <p:sldId id="313" r:id="rId62"/>
    <p:sldId id="312" r:id="rId63"/>
    <p:sldId id="350" r:id="rId64"/>
    <p:sldId id="351" r:id="rId65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E8F608B0-C726-4B4A-953F-B3B4D0A2EBC9}">
          <p14:sldIdLst>
            <p14:sldId id="328"/>
            <p14:sldId id="926"/>
          </p14:sldIdLst>
        </p14:section>
        <p14:section name="Intro" id="{845466EB-E067-46D0-8484-60E30F5ED793}">
          <p14:sldIdLst>
            <p14:sldId id="904"/>
            <p14:sldId id="905"/>
          </p14:sldIdLst>
        </p14:section>
        <p14:section name="Intys" id="{2A3D7495-5707-4D7B-8FE7-7A76FB698823}">
          <p14:sldIdLst>
            <p14:sldId id="907"/>
            <p14:sldId id="261"/>
            <p14:sldId id="263"/>
            <p14:sldId id="264"/>
            <p14:sldId id="268"/>
            <p14:sldId id="271"/>
          </p14:sldIdLst>
        </p14:section>
        <p14:section name="Isolv" id="{AF1977F1-B6AA-4E20-ADC4-D3E907CD8233}">
          <p14:sldIdLst>
            <p14:sldId id="911"/>
            <p14:sldId id="296"/>
            <p14:sldId id="284"/>
            <p14:sldId id="309"/>
            <p14:sldId id="314"/>
          </p14:sldIdLst>
        </p14:section>
        <p14:section name="Case overview" id="{621D3CE1-DCAA-4ED6-A9A4-C2BDAD4AC461}">
          <p14:sldIdLst>
            <p14:sldId id="913"/>
            <p14:sldId id="927"/>
          </p14:sldIdLst>
        </p14:section>
        <p14:section name="Wow &amp; pre-requisite" id="{304CFBDB-09B9-4432-8369-741778CFCFFC}">
          <p14:sldIdLst>
            <p14:sldId id="919"/>
            <p14:sldId id="918"/>
            <p14:sldId id="916"/>
            <p14:sldId id="923"/>
          </p14:sldIdLst>
        </p14:section>
        <p14:section name="Q&amp;A" id="{DB26570D-2A87-4DE8-A54F-8E6AB7E6B7B1}">
          <p14:sldIdLst>
            <p14:sldId id="890"/>
            <p14:sldId id="330"/>
          </p14:sldIdLst>
        </p14:section>
        <p14:section name="Annexe" id="{EDCA8403-6993-4AEC-85A4-C2155403F918}">
          <p14:sldIdLst>
            <p14:sldId id="349"/>
            <p14:sldId id="347"/>
            <p14:sldId id="322"/>
            <p14:sldId id="321"/>
            <p14:sldId id="323"/>
            <p14:sldId id="325"/>
            <p14:sldId id="362"/>
            <p14:sldId id="301"/>
            <p14:sldId id="329"/>
            <p14:sldId id="327"/>
            <p14:sldId id="302"/>
            <p14:sldId id="334"/>
            <p14:sldId id="333"/>
            <p14:sldId id="332"/>
            <p14:sldId id="341"/>
            <p14:sldId id="891"/>
            <p14:sldId id="338"/>
            <p14:sldId id="342"/>
            <p14:sldId id="318"/>
            <p14:sldId id="340"/>
            <p14:sldId id="306"/>
            <p14:sldId id="345"/>
            <p14:sldId id="308"/>
            <p14:sldId id="348"/>
            <p14:sldId id="320"/>
            <p14:sldId id="310"/>
            <p14:sldId id="313"/>
            <p14:sldId id="312"/>
            <p14:sldId id="350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bien Tahon" initials="FT" lastIdx="3" clrIdx="0">
    <p:extLst>
      <p:ext uri="{19B8F6BF-5375-455C-9EA6-DF929625EA0E}">
        <p15:presenceInfo xmlns:p15="http://schemas.microsoft.com/office/powerpoint/2012/main" userId="S::fabien.tahon@intys.eu::369fe236-1850-4025-be8a-335cbcee2b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D5CA"/>
    <a:srgbClr val="DBC2B3"/>
    <a:srgbClr val="D02C2F"/>
    <a:srgbClr val="0F1726"/>
    <a:srgbClr val="474B54"/>
    <a:srgbClr val="908F8E"/>
    <a:srgbClr val="FFFFFF"/>
    <a:srgbClr val="403B35"/>
    <a:srgbClr val="47433F"/>
    <a:srgbClr val="E46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395D94-7486-45BC-B8BF-BCA013A02D10}" v="666" dt="2026-02-20T08:57:38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>
        <p:guide orient="horz" pos="25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slide" Target="slides/slide51.xml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66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49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openxmlformats.org/officeDocument/2006/relationships/slide" Target="slides/slide52.xml"/><Relationship Id="rId69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9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slide" Target="slides/slide47.xml"/><Relationship Id="rId67" Type="http://schemas.openxmlformats.org/officeDocument/2006/relationships/commentAuthors" Target="commentAuthor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slide" Target="slides/slide50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27327A-74AD-4DC2-B0FF-AB8742D08AC7}" type="doc">
      <dgm:prSet loTypeId="urn:microsoft.com/office/officeart/2005/8/layout/hierarchy6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7DC5B871-29FD-40EF-A1FF-36CBE453A2D7}">
      <dgm:prSet phldrT="[Text]"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>
              <a:solidFill>
                <a:schemeClr val="tx1"/>
              </a:solidFill>
              <a:latin typeface="Alata" pitchFamily="2" charset="0"/>
              <a:cs typeface="Alata" pitchFamily="2" charset="0"/>
            </a:rPr>
            <a:t>Large / Vague </a:t>
          </a:r>
          <a:r>
            <a:rPr lang="nl-BE" err="1">
              <a:solidFill>
                <a:schemeClr val="tx1"/>
              </a:solidFill>
              <a:latin typeface="Alata" pitchFamily="2" charset="0"/>
              <a:cs typeface="Alata" pitchFamily="2" charset="0"/>
            </a:rPr>
            <a:t>Problem</a:t>
          </a:r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E7ADA120-874D-4F6B-9A70-1B72C981B01D}" type="parTrans" cxnId="{03935C5E-C874-4C6E-87CE-52C252001DE7}">
      <dgm:prSet/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D60BF05F-2375-4C39-9B61-558902A11DC5}" type="sibTrans" cxnId="{03935C5E-C874-4C6E-87CE-52C252001DE7}">
      <dgm:prSet/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4054791C-A00E-41C8-93E9-433D0CF602A2}" type="asst">
      <dgm:prSet phldrT="[Text]"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>
              <a:solidFill>
                <a:schemeClr val="tx1"/>
              </a:solidFill>
              <a:latin typeface="Alata" pitchFamily="2" charset="0"/>
              <a:cs typeface="Alata" pitchFamily="2" charset="0"/>
            </a:rPr>
            <a:t>Problem 1</a:t>
          </a:r>
        </a:p>
      </dgm:t>
    </dgm:pt>
    <dgm:pt modelId="{5FD0E6F2-4E14-4CE6-93AD-8B5CAF92363A}" type="parTrans" cxnId="{79B80B26-756C-478E-B46A-AA05CFBA7CBF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A4C7DB39-DCB5-4DE8-9529-2854900838F2}" type="sibTrans" cxnId="{79B80B26-756C-478E-B46A-AA05CFBA7CBF}">
      <dgm:prSet/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CD3DC591-5B49-400E-A958-1A2B271D7397}" type="asst">
      <dgm:prSet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>
              <a:solidFill>
                <a:schemeClr val="tx1"/>
              </a:solidFill>
              <a:latin typeface="Alata" pitchFamily="2" charset="0"/>
              <a:cs typeface="Alata" pitchFamily="2" charset="0"/>
            </a:rPr>
            <a:t>Problem 2</a:t>
          </a:r>
        </a:p>
      </dgm:t>
    </dgm:pt>
    <dgm:pt modelId="{721DC572-9557-4749-951E-EAA78F68B540}" type="parTrans" cxnId="{90E74BE3-950F-4A59-BEB1-E3D30A9BADFB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37771F0C-AFD9-43E2-AE83-16F6BC5D6CA2}" type="sibTrans" cxnId="{90E74BE3-950F-4A59-BEB1-E3D30A9BADFB}">
      <dgm:prSet/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19018FBA-F002-49F7-B3DE-5B7D4463BA48}" type="asst">
      <dgm:prSet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</a:t>
          </a:r>
        </a:p>
      </dgm:t>
    </dgm:pt>
    <dgm:pt modelId="{C8855520-B1BD-4D36-9184-E252FE014833}" type="parTrans" cxnId="{3AC1F6F8-F457-4688-9FF0-C4CD52D18298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1660754B-2E2A-400B-9359-EF35D341AE18}" type="sibTrans" cxnId="{3AC1F6F8-F457-4688-9FF0-C4CD52D18298}">
      <dgm:prSet/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797F6DAD-C03B-4DB1-8F4D-48EBA82A20D0}">
      <dgm:prSet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</a:t>
          </a:r>
        </a:p>
      </dgm:t>
    </dgm:pt>
    <dgm:pt modelId="{E703E118-FA60-4C9F-9DCB-78D6942B2F5B}" type="parTrans" cxnId="{51552831-975C-4CB1-BA47-88B46D991F33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9B10D76E-F476-4FA2-A0AC-69375584D960}" type="sibTrans" cxnId="{51552831-975C-4CB1-BA47-88B46D991F33}">
      <dgm:prSet/>
      <dgm:spPr/>
      <dgm:t>
        <a:bodyPr/>
        <a:lstStyle/>
        <a:p>
          <a:endParaRPr lang="nl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E24354EE-9462-423A-818A-6BC41949D48D}" type="asst">
      <dgm:prSet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>
              <a:solidFill>
                <a:schemeClr val="tx1"/>
              </a:solidFill>
              <a:latin typeface="Alata" pitchFamily="2" charset="0"/>
              <a:cs typeface="Alata" pitchFamily="2" charset="0"/>
            </a:rPr>
            <a:t>Problem 3</a:t>
          </a:r>
        </a:p>
      </dgm:t>
    </dgm:pt>
    <dgm:pt modelId="{3B81CC9E-31F2-425F-B45F-F18BBFF03017}" type="parTrans" cxnId="{C1A5C229-1B18-4541-A95B-174EED71F11B}">
      <dgm:prSet>
        <dgm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2FBB353B-A314-44D1-8C3C-E1FFD3B8D73E}" type="sibTrans" cxnId="{C1A5C229-1B18-4541-A95B-174EED71F11B}">
      <dgm:prSet/>
      <dgm:spPr/>
      <dgm:t>
        <a:bodyPr/>
        <a:lstStyle/>
        <a:p>
          <a:endParaRPr lang="fr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18CC7708-A14C-4CD7-9734-92616469D9D0}" type="asst">
      <dgm:prSet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 </a:t>
          </a:r>
        </a:p>
      </dgm:t>
    </dgm:pt>
    <dgm:pt modelId="{A13FEC42-1B27-4448-B916-FC9E54E0C3B4}" type="parTrans" cxnId="{15358B40-7E7F-47A6-A454-EE3B3483F4BA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AE0798D1-2215-46B2-92CC-3107E38D95ED}" type="sibTrans" cxnId="{15358B40-7E7F-47A6-A454-EE3B3483F4BA}">
      <dgm:prSet/>
      <dgm:spPr/>
      <dgm:t>
        <a:bodyPr/>
        <a:lstStyle/>
        <a:p>
          <a:endParaRPr lang="fr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FB2FEDB4-A4BC-4BC9-A8EB-FE2632B97589}" type="asst">
      <dgm:prSet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 b="1">
              <a:solidFill>
                <a:schemeClr val="tx1"/>
              </a:solidFill>
              <a:latin typeface="Alata" pitchFamily="2" charset="0"/>
              <a:cs typeface="Alata" pitchFamily="2" charset="0"/>
            </a:rPr>
            <a:t>Prioritized</a:t>
          </a:r>
        </a:p>
        <a:p>
          <a:r>
            <a:rPr lang="nl-BE" b="1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</a:t>
          </a:r>
        </a:p>
      </dgm:t>
    </dgm:pt>
    <dgm:pt modelId="{642F13A7-3160-4705-A02A-FC08C17FEE0E}" type="parTrans" cxnId="{9932B4CA-55B2-45D7-9ACB-504987DFF7DE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306230BA-DFBE-4565-80F7-31BC6DF5022B}" type="sibTrans" cxnId="{9932B4CA-55B2-45D7-9ACB-504987DFF7DE}">
      <dgm:prSet/>
      <dgm:spPr/>
      <dgm:t>
        <a:bodyPr/>
        <a:lstStyle/>
        <a:p>
          <a:endParaRPr lang="fr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B46A3117-FFD3-4F63-99F2-D1C63180649C}">
      <dgm:prSet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nl-BE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</a:t>
          </a:r>
        </a:p>
      </dgm:t>
    </dgm:pt>
    <dgm:pt modelId="{808AC013-B159-4B3F-B182-E351F94F223C}" type="parTrans" cxnId="{4AC34419-8C10-42F6-A9EB-496DDDA68F3B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fr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1910D7EE-27B2-43A3-8B42-DD542FEEBD69}" type="sibTrans" cxnId="{4AC34419-8C10-42F6-A9EB-496DDDA68F3B}">
      <dgm:prSet/>
      <dgm:spPr/>
      <dgm:t>
        <a:bodyPr/>
        <a:lstStyle/>
        <a:p>
          <a:endParaRPr lang="fr-BE">
            <a:solidFill>
              <a:schemeClr val="tx1"/>
            </a:solidFill>
            <a:latin typeface="Alata" pitchFamily="2" charset="0"/>
            <a:cs typeface="Alata" pitchFamily="2" charset="0"/>
          </a:endParaRPr>
        </a:p>
      </dgm:t>
    </dgm:pt>
    <dgm:pt modelId="{6DEE3A73-A258-4EFA-A58C-DD38FAC1AC93}" type="pres">
      <dgm:prSet presAssocID="{1A27327A-74AD-4DC2-B0FF-AB8742D08AC7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33E85D8-9285-400D-9CDA-BDF29E89F2A3}" type="pres">
      <dgm:prSet presAssocID="{1A27327A-74AD-4DC2-B0FF-AB8742D08AC7}" presName="hierFlow" presStyleCnt="0"/>
      <dgm:spPr/>
    </dgm:pt>
    <dgm:pt modelId="{77EC39D2-693A-46C8-8696-1059B3B2058B}" type="pres">
      <dgm:prSet presAssocID="{1A27327A-74AD-4DC2-B0FF-AB8742D08AC7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CE824BB-67F9-48BD-A74D-93A7488980AB}" type="pres">
      <dgm:prSet presAssocID="{7DC5B871-29FD-40EF-A1FF-36CBE453A2D7}" presName="Name14" presStyleCnt="0"/>
      <dgm:spPr/>
    </dgm:pt>
    <dgm:pt modelId="{357495FB-D4E4-4883-9E8F-D141E0C893F0}" type="pres">
      <dgm:prSet presAssocID="{7DC5B871-29FD-40EF-A1FF-36CBE453A2D7}" presName="level1Shape" presStyleLbl="node0" presStyleIdx="0" presStyleCnt="1" custScaleX="140984" custScaleY="95221">
        <dgm:presLayoutVars>
          <dgm:chPref val="3"/>
        </dgm:presLayoutVars>
      </dgm:prSet>
      <dgm:spPr/>
    </dgm:pt>
    <dgm:pt modelId="{47802BF1-EF80-4592-899D-3E43693EF679}" type="pres">
      <dgm:prSet presAssocID="{7DC5B871-29FD-40EF-A1FF-36CBE453A2D7}" presName="hierChild2" presStyleCnt="0"/>
      <dgm:spPr/>
    </dgm:pt>
    <dgm:pt modelId="{1ADD71BF-BBE0-4AA5-9280-1C6C1F82178B}" type="pres">
      <dgm:prSet presAssocID="{5FD0E6F2-4E14-4CE6-93AD-8B5CAF92363A}" presName="Name19" presStyleLbl="parChTrans1D2" presStyleIdx="0" presStyleCnt="3"/>
      <dgm:spPr/>
    </dgm:pt>
    <dgm:pt modelId="{C871363D-D4E4-4D69-AC81-1BBE025505D7}" type="pres">
      <dgm:prSet presAssocID="{4054791C-A00E-41C8-93E9-433D0CF602A2}" presName="Name21" presStyleCnt="0"/>
      <dgm:spPr/>
    </dgm:pt>
    <dgm:pt modelId="{D73B6760-71A0-4F3B-9222-5B61145FAA9C}" type="pres">
      <dgm:prSet presAssocID="{4054791C-A00E-41C8-93E9-433D0CF602A2}" presName="level2Shape" presStyleLbl="asst1" presStyleIdx="0" presStyleCnt="6"/>
      <dgm:spPr/>
    </dgm:pt>
    <dgm:pt modelId="{95A08826-3CB3-431A-A1FC-FE75CAAEACE8}" type="pres">
      <dgm:prSet presAssocID="{4054791C-A00E-41C8-93E9-433D0CF602A2}" presName="hierChild3" presStyleCnt="0"/>
      <dgm:spPr/>
    </dgm:pt>
    <dgm:pt modelId="{803FC376-1660-4651-B933-C76CD9F60D67}" type="pres">
      <dgm:prSet presAssocID="{C8855520-B1BD-4D36-9184-E252FE014833}" presName="Name19" presStyleLbl="parChTrans1D3" presStyleIdx="0" presStyleCnt="5"/>
      <dgm:spPr/>
    </dgm:pt>
    <dgm:pt modelId="{06A5E691-D9C6-4709-9556-65C960D1485D}" type="pres">
      <dgm:prSet presAssocID="{19018FBA-F002-49F7-B3DE-5B7D4463BA48}" presName="Name21" presStyleCnt="0"/>
      <dgm:spPr/>
    </dgm:pt>
    <dgm:pt modelId="{9BD06A49-829C-46BE-98CA-A66D52DE3D35}" type="pres">
      <dgm:prSet presAssocID="{19018FBA-F002-49F7-B3DE-5B7D4463BA48}" presName="level2Shape" presStyleLbl="asst1" presStyleIdx="1" presStyleCnt="6"/>
      <dgm:spPr/>
    </dgm:pt>
    <dgm:pt modelId="{29436D11-F1BA-46DC-8D70-B0C2802D4C27}" type="pres">
      <dgm:prSet presAssocID="{19018FBA-F002-49F7-B3DE-5B7D4463BA48}" presName="hierChild3" presStyleCnt="0"/>
      <dgm:spPr/>
    </dgm:pt>
    <dgm:pt modelId="{97C05526-3443-43E0-9788-345B97B8F864}" type="pres">
      <dgm:prSet presAssocID="{721DC572-9557-4749-951E-EAA78F68B540}" presName="Name19" presStyleLbl="parChTrans1D2" presStyleIdx="1" presStyleCnt="3"/>
      <dgm:spPr/>
    </dgm:pt>
    <dgm:pt modelId="{5406B746-C444-4D3C-BDED-261B9AF57FAE}" type="pres">
      <dgm:prSet presAssocID="{CD3DC591-5B49-400E-A958-1A2B271D7397}" presName="Name21" presStyleCnt="0"/>
      <dgm:spPr/>
    </dgm:pt>
    <dgm:pt modelId="{A21B2050-8BD1-4950-933A-25AA930EBCD0}" type="pres">
      <dgm:prSet presAssocID="{CD3DC591-5B49-400E-A958-1A2B271D7397}" presName="level2Shape" presStyleLbl="asst1" presStyleIdx="2" presStyleCnt="6"/>
      <dgm:spPr/>
    </dgm:pt>
    <dgm:pt modelId="{FDCDC24E-7F74-44A5-9415-A6312B2D894F}" type="pres">
      <dgm:prSet presAssocID="{CD3DC591-5B49-400E-A958-1A2B271D7397}" presName="hierChild3" presStyleCnt="0"/>
      <dgm:spPr/>
    </dgm:pt>
    <dgm:pt modelId="{32A8ED0B-44C0-4D0F-B2BA-48F29B47A37A}" type="pres">
      <dgm:prSet presAssocID="{A13FEC42-1B27-4448-B916-FC9E54E0C3B4}" presName="Name19" presStyleLbl="parChTrans1D3" presStyleIdx="1" presStyleCnt="5"/>
      <dgm:spPr/>
    </dgm:pt>
    <dgm:pt modelId="{5CCDE2C8-E444-4A9E-A514-663D93E5E0FF}" type="pres">
      <dgm:prSet presAssocID="{18CC7708-A14C-4CD7-9734-92616469D9D0}" presName="Name21" presStyleCnt="0"/>
      <dgm:spPr/>
    </dgm:pt>
    <dgm:pt modelId="{8755D7AD-B969-4C9A-B2A0-151BA351856A}" type="pres">
      <dgm:prSet presAssocID="{18CC7708-A14C-4CD7-9734-92616469D9D0}" presName="level2Shape" presStyleLbl="asst1" presStyleIdx="3" presStyleCnt="6" custScaleX="120891"/>
      <dgm:spPr/>
    </dgm:pt>
    <dgm:pt modelId="{E1B0ECE4-430B-4E63-9E99-B2F351438321}" type="pres">
      <dgm:prSet presAssocID="{18CC7708-A14C-4CD7-9734-92616469D9D0}" presName="hierChild3" presStyleCnt="0"/>
      <dgm:spPr/>
    </dgm:pt>
    <dgm:pt modelId="{61BDF3C1-CB91-48E6-9339-49C38D60DDD1}" type="pres">
      <dgm:prSet presAssocID="{642F13A7-3160-4705-A02A-FC08C17FEE0E}" presName="Name19" presStyleLbl="parChTrans1D3" presStyleIdx="2" presStyleCnt="5"/>
      <dgm:spPr/>
    </dgm:pt>
    <dgm:pt modelId="{8F7F9D90-2C53-47A2-8203-111CFEB8196E}" type="pres">
      <dgm:prSet presAssocID="{FB2FEDB4-A4BC-4BC9-A8EB-FE2632B97589}" presName="Name21" presStyleCnt="0"/>
      <dgm:spPr/>
    </dgm:pt>
    <dgm:pt modelId="{9273953F-6503-44D1-BD2C-8B5D8D3C5808}" type="pres">
      <dgm:prSet presAssocID="{FB2FEDB4-A4BC-4BC9-A8EB-FE2632B97589}" presName="level2Shape" presStyleLbl="asst1" presStyleIdx="4" presStyleCnt="6"/>
      <dgm:spPr/>
    </dgm:pt>
    <dgm:pt modelId="{BFA2405C-5223-4231-8776-856EC0E82FCB}" type="pres">
      <dgm:prSet presAssocID="{FB2FEDB4-A4BC-4BC9-A8EB-FE2632B97589}" presName="hierChild3" presStyleCnt="0"/>
      <dgm:spPr/>
    </dgm:pt>
    <dgm:pt modelId="{23F69D75-62D3-4571-B5B8-C11A6DCAE1AE}" type="pres">
      <dgm:prSet presAssocID="{3B81CC9E-31F2-425F-B45F-F18BBFF03017}" presName="Name19" presStyleLbl="parChTrans1D2" presStyleIdx="2" presStyleCnt="3"/>
      <dgm:spPr/>
    </dgm:pt>
    <dgm:pt modelId="{DA28EDBF-B71B-4F26-B500-31FFCA6E86D4}" type="pres">
      <dgm:prSet presAssocID="{E24354EE-9462-423A-818A-6BC41949D48D}" presName="Name21" presStyleCnt="0"/>
      <dgm:spPr/>
    </dgm:pt>
    <dgm:pt modelId="{1F772BF7-A439-4473-A2E1-EC35DA6AB80F}" type="pres">
      <dgm:prSet presAssocID="{E24354EE-9462-423A-818A-6BC41949D48D}" presName="level2Shape" presStyleLbl="asst1" presStyleIdx="5" presStyleCnt="6"/>
      <dgm:spPr/>
    </dgm:pt>
    <dgm:pt modelId="{9A9F8021-A241-42E5-B2CE-AF5B8CEE20C1}" type="pres">
      <dgm:prSet presAssocID="{E24354EE-9462-423A-818A-6BC41949D48D}" presName="hierChild3" presStyleCnt="0"/>
      <dgm:spPr/>
    </dgm:pt>
    <dgm:pt modelId="{24BF2EE9-21BE-423E-A848-386383EB7C06}" type="pres">
      <dgm:prSet presAssocID="{E703E118-FA60-4C9F-9DCB-78D6942B2F5B}" presName="Name19" presStyleLbl="parChTrans1D3" presStyleIdx="3" presStyleCnt="5"/>
      <dgm:spPr/>
    </dgm:pt>
    <dgm:pt modelId="{23AF083E-AABA-409F-95E9-74510835CBDE}" type="pres">
      <dgm:prSet presAssocID="{797F6DAD-C03B-4DB1-8F4D-48EBA82A20D0}" presName="Name21" presStyleCnt="0"/>
      <dgm:spPr/>
    </dgm:pt>
    <dgm:pt modelId="{777C2A0F-418C-4250-871D-D5824D0DCF5E}" type="pres">
      <dgm:prSet presAssocID="{797F6DAD-C03B-4DB1-8F4D-48EBA82A20D0}" presName="level2Shape" presStyleLbl="node3" presStyleIdx="0" presStyleCnt="2"/>
      <dgm:spPr/>
    </dgm:pt>
    <dgm:pt modelId="{4F1E75D6-9391-47F3-91E7-6E39F97483BE}" type="pres">
      <dgm:prSet presAssocID="{797F6DAD-C03B-4DB1-8F4D-48EBA82A20D0}" presName="hierChild3" presStyleCnt="0"/>
      <dgm:spPr/>
    </dgm:pt>
    <dgm:pt modelId="{DCEAF691-0B75-4A80-B5C8-CEAA178A6E8A}" type="pres">
      <dgm:prSet presAssocID="{808AC013-B159-4B3F-B182-E351F94F223C}" presName="Name19" presStyleLbl="parChTrans1D3" presStyleIdx="4" presStyleCnt="5"/>
      <dgm:spPr/>
    </dgm:pt>
    <dgm:pt modelId="{BEA74C31-A78B-4798-A5ED-500DB0B36CE5}" type="pres">
      <dgm:prSet presAssocID="{B46A3117-FFD3-4F63-99F2-D1C63180649C}" presName="Name21" presStyleCnt="0"/>
      <dgm:spPr/>
    </dgm:pt>
    <dgm:pt modelId="{3240782C-0223-4B9E-8CF7-BC22740F08DF}" type="pres">
      <dgm:prSet presAssocID="{B46A3117-FFD3-4F63-99F2-D1C63180649C}" presName="level2Shape" presStyleLbl="node3" presStyleIdx="1" presStyleCnt="2"/>
      <dgm:spPr/>
    </dgm:pt>
    <dgm:pt modelId="{1812231C-884E-4BC4-B0B4-A0708FB36E29}" type="pres">
      <dgm:prSet presAssocID="{B46A3117-FFD3-4F63-99F2-D1C63180649C}" presName="hierChild3" presStyleCnt="0"/>
      <dgm:spPr/>
    </dgm:pt>
    <dgm:pt modelId="{580AA000-6068-4FDB-B3CF-29085E4040B0}" type="pres">
      <dgm:prSet presAssocID="{1A27327A-74AD-4DC2-B0FF-AB8742D08AC7}" presName="bgShapesFlow" presStyleCnt="0"/>
      <dgm:spPr/>
    </dgm:pt>
  </dgm:ptLst>
  <dgm:cxnLst>
    <dgm:cxn modelId="{06E64C08-C725-4CD3-B7AB-2D62A82DC33B}" type="presOf" srcId="{642F13A7-3160-4705-A02A-FC08C17FEE0E}" destId="{61BDF3C1-CB91-48E6-9339-49C38D60DDD1}" srcOrd="0" destOrd="0" presId="urn:microsoft.com/office/officeart/2005/8/layout/hierarchy6"/>
    <dgm:cxn modelId="{4CF9B10D-474E-44E6-803D-517722A66DCF}" type="presOf" srcId="{19018FBA-F002-49F7-B3DE-5B7D4463BA48}" destId="{9BD06A49-829C-46BE-98CA-A66D52DE3D35}" srcOrd="0" destOrd="0" presId="urn:microsoft.com/office/officeart/2005/8/layout/hierarchy6"/>
    <dgm:cxn modelId="{36736810-3664-4C7D-A6C1-7C1CC37EF048}" type="presOf" srcId="{3B81CC9E-31F2-425F-B45F-F18BBFF03017}" destId="{23F69D75-62D3-4571-B5B8-C11A6DCAE1AE}" srcOrd="0" destOrd="0" presId="urn:microsoft.com/office/officeart/2005/8/layout/hierarchy6"/>
    <dgm:cxn modelId="{1C545713-B56B-4093-ABAD-AB91484C4AB2}" type="presOf" srcId="{A13FEC42-1B27-4448-B916-FC9E54E0C3B4}" destId="{32A8ED0B-44C0-4D0F-B2BA-48F29B47A37A}" srcOrd="0" destOrd="0" presId="urn:microsoft.com/office/officeart/2005/8/layout/hierarchy6"/>
    <dgm:cxn modelId="{4AC34419-8C10-42F6-A9EB-496DDDA68F3B}" srcId="{E24354EE-9462-423A-818A-6BC41949D48D}" destId="{B46A3117-FFD3-4F63-99F2-D1C63180649C}" srcOrd="1" destOrd="0" parTransId="{808AC013-B159-4B3F-B182-E351F94F223C}" sibTransId="{1910D7EE-27B2-43A3-8B42-DD542FEEBD69}"/>
    <dgm:cxn modelId="{62EAAE1D-DDBB-4398-A4D8-ECCDF00E523F}" type="presOf" srcId="{4054791C-A00E-41C8-93E9-433D0CF602A2}" destId="{D73B6760-71A0-4F3B-9222-5B61145FAA9C}" srcOrd="0" destOrd="0" presId="urn:microsoft.com/office/officeart/2005/8/layout/hierarchy6"/>
    <dgm:cxn modelId="{5A8FD71D-2ECC-4679-95B6-63510C05FE5F}" type="presOf" srcId="{808AC013-B159-4B3F-B182-E351F94F223C}" destId="{DCEAF691-0B75-4A80-B5C8-CEAA178A6E8A}" srcOrd="0" destOrd="0" presId="urn:microsoft.com/office/officeart/2005/8/layout/hierarchy6"/>
    <dgm:cxn modelId="{79B80B26-756C-478E-B46A-AA05CFBA7CBF}" srcId="{7DC5B871-29FD-40EF-A1FF-36CBE453A2D7}" destId="{4054791C-A00E-41C8-93E9-433D0CF602A2}" srcOrd="0" destOrd="0" parTransId="{5FD0E6F2-4E14-4CE6-93AD-8B5CAF92363A}" sibTransId="{A4C7DB39-DCB5-4DE8-9529-2854900838F2}"/>
    <dgm:cxn modelId="{C1A5C229-1B18-4541-A95B-174EED71F11B}" srcId="{7DC5B871-29FD-40EF-A1FF-36CBE453A2D7}" destId="{E24354EE-9462-423A-818A-6BC41949D48D}" srcOrd="2" destOrd="0" parTransId="{3B81CC9E-31F2-425F-B45F-F18BBFF03017}" sibTransId="{2FBB353B-A314-44D1-8C3C-E1FFD3B8D73E}"/>
    <dgm:cxn modelId="{51552831-975C-4CB1-BA47-88B46D991F33}" srcId="{E24354EE-9462-423A-818A-6BC41949D48D}" destId="{797F6DAD-C03B-4DB1-8F4D-48EBA82A20D0}" srcOrd="0" destOrd="0" parTransId="{E703E118-FA60-4C9F-9DCB-78D6942B2F5B}" sibTransId="{9B10D76E-F476-4FA2-A0AC-69375584D960}"/>
    <dgm:cxn modelId="{E6EF6A37-AD9A-4E00-B9E0-E4222D8B069A}" type="presOf" srcId="{C8855520-B1BD-4D36-9184-E252FE014833}" destId="{803FC376-1660-4651-B933-C76CD9F60D67}" srcOrd="0" destOrd="0" presId="urn:microsoft.com/office/officeart/2005/8/layout/hierarchy6"/>
    <dgm:cxn modelId="{15358B40-7E7F-47A6-A454-EE3B3483F4BA}" srcId="{CD3DC591-5B49-400E-A958-1A2B271D7397}" destId="{18CC7708-A14C-4CD7-9734-92616469D9D0}" srcOrd="0" destOrd="0" parTransId="{A13FEC42-1B27-4448-B916-FC9E54E0C3B4}" sibTransId="{AE0798D1-2215-46B2-92CC-3107E38D95ED}"/>
    <dgm:cxn modelId="{03935C5E-C874-4C6E-87CE-52C252001DE7}" srcId="{1A27327A-74AD-4DC2-B0FF-AB8742D08AC7}" destId="{7DC5B871-29FD-40EF-A1FF-36CBE453A2D7}" srcOrd="0" destOrd="0" parTransId="{E7ADA120-874D-4F6B-9A70-1B72C981B01D}" sibTransId="{D60BF05F-2375-4C39-9B61-558902A11DC5}"/>
    <dgm:cxn modelId="{9677A06E-1BA2-44E3-B8AC-3DABE63D5FC5}" type="presOf" srcId="{7DC5B871-29FD-40EF-A1FF-36CBE453A2D7}" destId="{357495FB-D4E4-4883-9E8F-D141E0C893F0}" srcOrd="0" destOrd="0" presId="urn:microsoft.com/office/officeart/2005/8/layout/hierarchy6"/>
    <dgm:cxn modelId="{426EFD71-6F17-4C0E-B388-1D0D29C39481}" type="presOf" srcId="{B46A3117-FFD3-4F63-99F2-D1C63180649C}" destId="{3240782C-0223-4B9E-8CF7-BC22740F08DF}" srcOrd="0" destOrd="0" presId="urn:microsoft.com/office/officeart/2005/8/layout/hierarchy6"/>
    <dgm:cxn modelId="{583EBC72-97E9-44EF-A085-684EC2FF085C}" type="presOf" srcId="{E24354EE-9462-423A-818A-6BC41949D48D}" destId="{1F772BF7-A439-4473-A2E1-EC35DA6AB80F}" srcOrd="0" destOrd="0" presId="urn:microsoft.com/office/officeart/2005/8/layout/hierarchy6"/>
    <dgm:cxn modelId="{29DE7C59-3E0E-4906-A47D-D1D3C452516E}" type="presOf" srcId="{CD3DC591-5B49-400E-A958-1A2B271D7397}" destId="{A21B2050-8BD1-4950-933A-25AA930EBCD0}" srcOrd="0" destOrd="0" presId="urn:microsoft.com/office/officeart/2005/8/layout/hierarchy6"/>
    <dgm:cxn modelId="{384ABAAC-A60E-4DC2-A9A8-4EAAACFF1F86}" type="presOf" srcId="{18CC7708-A14C-4CD7-9734-92616469D9D0}" destId="{8755D7AD-B969-4C9A-B2A0-151BA351856A}" srcOrd="0" destOrd="0" presId="urn:microsoft.com/office/officeart/2005/8/layout/hierarchy6"/>
    <dgm:cxn modelId="{74AEC5C4-5394-4722-9957-23288BB915F3}" type="presOf" srcId="{1A27327A-74AD-4DC2-B0FF-AB8742D08AC7}" destId="{6DEE3A73-A258-4EFA-A58C-DD38FAC1AC93}" srcOrd="0" destOrd="0" presId="urn:microsoft.com/office/officeart/2005/8/layout/hierarchy6"/>
    <dgm:cxn modelId="{9932B4CA-55B2-45D7-9ACB-504987DFF7DE}" srcId="{CD3DC591-5B49-400E-A958-1A2B271D7397}" destId="{FB2FEDB4-A4BC-4BC9-A8EB-FE2632B97589}" srcOrd="1" destOrd="0" parTransId="{642F13A7-3160-4705-A02A-FC08C17FEE0E}" sibTransId="{306230BA-DFBE-4565-80F7-31BC6DF5022B}"/>
    <dgm:cxn modelId="{80FAABDA-88CB-4AFC-ABBA-751BF17748F7}" type="presOf" srcId="{E703E118-FA60-4C9F-9DCB-78D6942B2F5B}" destId="{24BF2EE9-21BE-423E-A848-386383EB7C06}" srcOrd="0" destOrd="0" presId="urn:microsoft.com/office/officeart/2005/8/layout/hierarchy6"/>
    <dgm:cxn modelId="{833166DC-B327-4804-AA19-EE7E69742165}" type="presOf" srcId="{721DC572-9557-4749-951E-EAA78F68B540}" destId="{97C05526-3443-43E0-9788-345B97B8F864}" srcOrd="0" destOrd="0" presId="urn:microsoft.com/office/officeart/2005/8/layout/hierarchy6"/>
    <dgm:cxn modelId="{01D626E1-3772-4D1B-B0AB-8AAC10DEFD6D}" type="presOf" srcId="{FB2FEDB4-A4BC-4BC9-A8EB-FE2632B97589}" destId="{9273953F-6503-44D1-BD2C-8B5D8D3C5808}" srcOrd="0" destOrd="0" presId="urn:microsoft.com/office/officeart/2005/8/layout/hierarchy6"/>
    <dgm:cxn modelId="{90E74BE3-950F-4A59-BEB1-E3D30A9BADFB}" srcId="{7DC5B871-29FD-40EF-A1FF-36CBE453A2D7}" destId="{CD3DC591-5B49-400E-A958-1A2B271D7397}" srcOrd="1" destOrd="0" parTransId="{721DC572-9557-4749-951E-EAA78F68B540}" sibTransId="{37771F0C-AFD9-43E2-AE83-16F6BC5D6CA2}"/>
    <dgm:cxn modelId="{4E0DD5E9-2095-4158-BA57-E020B4C47E28}" type="presOf" srcId="{797F6DAD-C03B-4DB1-8F4D-48EBA82A20D0}" destId="{777C2A0F-418C-4250-871D-D5824D0DCF5E}" srcOrd="0" destOrd="0" presId="urn:microsoft.com/office/officeart/2005/8/layout/hierarchy6"/>
    <dgm:cxn modelId="{1A0B97EC-B734-4E7F-BA62-6DEC2D98AAFA}" type="presOf" srcId="{5FD0E6F2-4E14-4CE6-93AD-8B5CAF92363A}" destId="{1ADD71BF-BBE0-4AA5-9280-1C6C1F82178B}" srcOrd="0" destOrd="0" presId="urn:microsoft.com/office/officeart/2005/8/layout/hierarchy6"/>
    <dgm:cxn modelId="{3AC1F6F8-F457-4688-9FF0-C4CD52D18298}" srcId="{4054791C-A00E-41C8-93E9-433D0CF602A2}" destId="{19018FBA-F002-49F7-B3DE-5B7D4463BA48}" srcOrd="0" destOrd="0" parTransId="{C8855520-B1BD-4D36-9184-E252FE014833}" sibTransId="{1660754B-2E2A-400B-9359-EF35D341AE18}"/>
    <dgm:cxn modelId="{681F642C-6AB1-4F62-B572-0857F4676020}" type="presParOf" srcId="{6DEE3A73-A258-4EFA-A58C-DD38FAC1AC93}" destId="{033E85D8-9285-400D-9CDA-BDF29E89F2A3}" srcOrd="0" destOrd="0" presId="urn:microsoft.com/office/officeart/2005/8/layout/hierarchy6"/>
    <dgm:cxn modelId="{9774F484-9141-453B-8D63-D2E5D448AC9B}" type="presParOf" srcId="{033E85D8-9285-400D-9CDA-BDF29E89F2A3}" destId="{77EC39D2-693A-46C8-8696-1059B3B2058B}" srcOrd="0" destOrd="0" presId="urn:microsoft.com/office/officeart/2005/8/layout/hierarchy6"/>
    <dgm:cxn modelId="{70D76458-1615-4342-A6A8-03573B5B135C}" type="presParOf" srcId="{77EC39D2-693A-46C8-8696-1059B3B2058B}" destId="{ECE824BB-67F9-48BD-A74D-93A7488980AB}" srcOrd="0" destOrd="0" presId="urn:microsoft.com/office/officeart/2005/8/layout/hierarchy6"/>
    <dgm:cxn modelId="{CECD875A-6553-4E99-9BD1-C9BE53C0FD6A}" type="presParOf" srcId="{ECE824BB-67F9-48BD-A74D-93A7488980AB}" destId="{357495FB-D4E4-4883-9E8F-D141E0C893F0}" srcOrd="0" destOrd="0" presId="urn:microsoft.com/office/officeart/2005/8/layout/hierarchy6"/>
    <dgm:cxn modelId="{E33C1D0C-9402-40C8-8225-8D07C74354C3}" type="presParOf" srcId="{ECE824BB-67F9-48BD-A74D-93A7488980AB}" destId="{47802BF1-EF80-4592-899D-3E43693EF679}" srcOrd="1" destOrd="0" presId="urn:microsoft.com/office/officeart/2005/8/layout/hierarchy6"/>
    <dgm:cxn modelId="{B59635C1-FA48-4B08-8E67-E9D9FE07190C}" type="presParOf" srcId="{47802BF1-EF80-4592-899D-3E43693EF679}" destId="{1ADD71BF-BBE0-4AA5-9280-1C6C1F82178B}" srcOrd="0" destOrd="0" presId="urn:microsoft.com/office/officeart/2005/8/layout/hierarchy6"/>
    <dgm:cxn modelId="{A83995C3-704E-4A1B-ADCF-FD6C9EC167E4}" type="presParOf" srcId="{47802BF1-EF80-4592-899D-3E43693EF679}" destId="{C871363D-D4E4-4D69-AC81-1BBE025505D7}" srcOrd="1" destOrd="0" presId="urn:microsoft.com/office/officeart/2005/8/layout/hierarchy6"/>
    <dgm:cxn modelId="{081E7326-1D8D-438C-A643-CCAA6122B240}" type="presParOf" srcId="{C871363D-D4E4-4D69-AC81-1BBE025505D7}" destId="{D73B6760-71A0-4F3B-9222-5B61145FAA9C}" srcOrd="0" destOrd="0" presId="urn:microsoft.com/office/officeart/2005/8/layout/hierarchy6"/>
    <dgm:cxn modelId="{336652E6-DDB0-49D2-9F78-0251008AE02C}" type="presParOf" srcId="{C871363D-D4E4-4D69-AC81-1BBE025505D7}" destId="{95A08826-3CB3-431A-A1FC-FE75CAAEACE8}" srcOrd="1" destOrd="0" presId="urn:microsoft.com/office/officeart/2005/8/layout/hierarchy6"/>
    <dgm:cxn modelId="{035B67C5-2655-4985-BABE-ABBA380111EF}" type="presParOf" srcId="{95A08826-3CB3-431A-A1FC-FE75CAAEACE8}" destId="{803FC376-1660-4651-B933-C76CD9F60D67}" srcOrd="0" destOrd="0" presId="urn:microsoft.com/office/officeart/2005/8/layout/hierarchy6"/>
    <dgm:cxn modelId="{D9E6055C-DA42-4940-9AEE-B15B29A87A10}" type="presParOf" srcId="{95A08826-3CB3-431A-A1FC-FE75CAAEACE8}" destId="{06A5E691-D9C6-4709-9556-65C960D1485D}" srcOrd="1" destOrd="0" presId="urn:microsoft.com/office/officeart/2005/8/layout/hierarchy6"/>
    <dgm:cxn modelId="{F12678FE-49ED-4A30-9B22-F9BB35B22A1A}" type="presParOf" srcId="{06A5E691-D9C6-4709-9556-65C960D1485D}" destId="{9BD06A49-829C-46BE-98CA-A66D52DE3D35}" srcOrd="0" destOrd="0" presId="urn:microsoft.com/office/officeart/2005/8/layout/hierarchy6"/>
    <dgm:cxn modelId="{5F2026F3-BE07-467E-90D3-92A460590B76}" type="presParOf" srcId="{06A5E691-D9C6-4709-9556-65C960D1485D}" destId="{29436D11-F1BA-46DC-8D70-B0C2802D4C27}" srcOrd="1" destOrd="0" presId="urn:microsoft.com/office/officeart/2005/8/layout/hierarchy6"/>
    <dgm:cxn modelId="{5E632142-E85D-4C58-9061-10A6FC26D9D8}" type="presParOf" srcId="{47802BF1-EF80-4592-899D-3E43693EF679}" destId="{97C05526-3443-43E0-9788-345B97B8F864}" srcOrd="2" destOrd="0" presId="urn:microsoft.com/office/officeart/2005/8/layout/hierarchy6"/>
    <dgm:cxn modelId="{69574F11-BFDE-4DE0-9A54-CE725D8A4A6F}" type="presParOf" srcId="{47802BF1-EF80-4592-899D-3E43693EF679}" destId="{5406B746-C444-4D3C-BDED-261B9AF57FAE}" srcOrd="3" destOrd="0" presId="urn:microsoft.com/office/officeart/2005/8/layout/hierarchy6"/>
    <dgm:cxn modelId="{D2F19F02-F8B6-4502-A465-490BCA51B0E8}" type="presParOf" srcId="{5406B746-C444-4D3C-BDED-261B9AF57FAE}" destId="{A21B2050-8BD1-4950-933A-25AA930EBCD0}" srcOrd="0" destOrd="0" presId="urn:microsoft.com/office/officeart/2005/8/layout/hierarchy6"/>
    <dgm:cxn modelId="{CDB9D5B4-00FC-49E1-92B9-8007AF900E69}" type="presParOf" srcId="{5406B746-C444-4D3C-BDED-261B9AF57FAE}" destId="{FDCDC24E-7F74-44A5-9415-A6312B2D894F}" srcOrd="1" destOrd="0" presId="urn:microsoft.com/office/officeart/2005/8/layout/hierarchy6"/>
    <dgm:cxn modelId="{1657B647-2D5D-4B2B-B750-FD12C7354A6E}" type="presParOf" srcId="{FDCDC24E-7F74-44A5-9415-A6312B2D894F}" destId="{32A8ED0B-44C0-4D0F-B2BA-48F29B47A37A}" srcOrd="0" destOrd="0" presId="urn:microsoft.com/office/officeart/2005/8/layout/hierarchy6"/>
    <dgm:cxn modelId="{B37AF647-D3A0-4C02-9B2E-7D2085233810}" type="presParOf" srcId="{FDCDC24E-7F74-44A5-9415-A6312B2D894F}" destId="{5CCDE2C8-E444-4A9E-A514-663D93E5E0FF}" srcOrd="1" destOrd="0" presId="urn:microsoft.com/office/officeart/2005/8/layout/hierarchy6"/>
    <dgm:cxn modelId="{A02C0B11-2580-49D0-BC5F-5D30F44BB8A5}" type="presParOf" srcId="{5CCDE2C8-E444-4A9E-A514-663D93E5E0FF}" destId="{8755D7AD-B969-4C9A-B2A0-151BA351856A}" srcOrd="0" destOrd="0" presId="urn:microsoft.com/office/officeart/2005/8/layout/hierarchy6"/>
    <dgm:cxn modelId="{04967EDA-C543-4063-A479-8D7D7003BF13}" type="presParOf" srcId="{5CCDE2C8-E444-4A9E-A514-663D93E5E0FF}" destId="{E1B0ECE4-430B-4E63-9E99-B2F351438321}" srcOrd="1" destOrd="0" presId="urn:microsoft.com/office/officeart/2005/8/layout/hierarchy6"/>
    <dgm:cxn modelId="{9275995A-C40F-4BB2-A8CD-4D6EAD7D7C9E}" type="presParOf" srcId="{FDCDC24E-7F74-44A5-9415-A6312B2D894F}" destId="{61BDF3C1-CB91-48E6-9339-49C38D60DDD1}" srcOrd="2" destOrd="0" presId="urn:microsoft.com/office/officeart/2005/8/layout/hierarchy6"/>
    <dgm:cxn modelId="{F20FEBCE-8D3E-4414-B277-9248947EB1F3}" type="presParOf" srcId="{FDCDC24E-7F74-44A5-9415-A6312B2D894F}" destId="{8F7F9D90-2C53-47A2-8203-111CFEB8196E}" srcOrd="3" destOrd="0" presId="urn:microsoft.com/office/officeart/2005/8/layout/hierarchy6"/>
    <dgm:cxn modelId="{F98B6895-1C6F-46FA-8F65-4C72A142083B}" type="presParOf" srcId="{8F7F9D90-2C53-47A2-8203-111CFEB8196E}" destId="{9273953F-6503-44D1-BD2C-8B5D8D3C5808}" srcOrd="0" destOrd="0" presId="urn:microsoft.com/office/officeart/2005/8/layout/hierarchy6"/>
    <dgm:cxn modelId="{539022C0-E3E1-4DBD-8942-EB71913D01D0}" type="presParOf" srcId="{8F7F9D90-2C53-47A2-8203-111CFEB8196E}" destId="{BFA2405C-5223-4231-8776-856EC0E82FCB}" srcOrd="1" destOrd="0" presId="urn:microsoft.com/office/officeart/2005/8/layout/hierarchy6"/>
    <dgm:cxn modelId="{6635F3DE-ADA3-419B-B143-BF80A7CC45FD}" type="presParOf" srcId="{47802BF1-EF80-4592-899D-3E43693EF679}" destId="{23F69D75-62D3-4571-B5B8-C11A6DCAE1AE}" srcOrd="4" destOrd="0" presId="urn:microsoft.com/office/officeart/2005/8/layout/hierarchy6"/>
    <dgm:cxn modelId="{49269841-49B0-4C4C-BBDE-E20FE7B5D224}" type="presParOf" srcId="{47802BF1-EF80-4592-899D-3E43693EF679}" destId="{DA28EDBF-B71B-4F26-B500-31FFCA6E86D4}" srcOrd="5" destOrd="0" presId="urn:microsoft.com/office/officeart/2005/8/layout/hierarchy6"/>
    <dgm:cxn modelId="{4D5522F2-6273-46C4-9E02-CD6317020A52}" type="presParOf" srcId="{DA28EDBF-B71B-4F26-B500-31FFCA6E86D4}" destId="{1F772BF7-A439-4473-A2E1-EC35DA6AB80F}" srcOrd="0" destOrd="0" presId="urn:microsoft.com/office/officeart/2005/8/layout/hierarchy6"/>
    <dgm:cxn modelId="{DBBDE7CD-32A3-467A-AC1B-11CF84121F53}" type="presParOf" srcId="{DA28EDBF-B71B-4F26-B500-31FFCA6E86D4}" destId="{9A9F8021-A241-42E5-B2CE-AF5B8CEE20C1}" srcOrd="1" destOrd="0" presId="urn:microsoft.com/office/officeart/2005/8/layout/hierarchy6"/>
    <dgm:cxn modelId="{AB9C90B5-D918-4937-9FDA-99F7AC700707}" type="presParOf" srcId="{9A9F8021-A241-42E5-B2CE-AF5B8CEE20C1}" destId="{24BF2EE9-21BE-423E-A848-386383EB7C06}" srcOrd="0" destOrd="0" presId="urn:microsoft.com/office/officeart/2005/8/layout/hierarchy6"/>
    <dgm:cxn modelId="{9FB2B346-EEBA-4783-B4C7-EF604B72260A}" type="presParOf" srcId="{9A9F8021-A241-42E5-B2CE-AF5B8CEE20C1}" destId="{23AF083E-AABA-409F-95E9-74510835CBDE}" srcOrd="1" destOrd="0" presId="urn:microsoft.com/office/officeart/2005/8/layout/hierarchy6"/>
    <dgm:cxn modelId="{509DA7CA-1190-40A2-A2C4-6E6BD2ABD3F5}" type="presParOf" srcId="{23AF083E-AABA-409F-95E9-74510835CBDE}" destId="{777C2A0F-418C-4250-871D-D5824D0DCF5E}" srcOrd="0" destOrd="0" presId="urn:microsoft.com/office/officeart/2005/8/layout/hierarchy6"/>
    <dgm:cxn modelId="{64FB65E7-5DDB-4333-AC88-EFB6A256AD62}" type="presParOf" srcId="{23AF083E-AABA-409F-95E9-74510835CBDE}" destId="{4F1E75D6-9391-47F3-91E7-6E39F97483BE}" srcOrd="1" destOrd="0" presId="urn:microsoft.com/office/officeart/2005/8/layout/hierarchy6"/>
    <dgm:cxn modelId="{42274B22-6E7C-422B-84F5-920897C5378C}" type="presParOf" srcId="{9A9F8021-A241-42E5-B2CE-AF5B8CEE20C1}" destId="{DCEAF691-0B75-4A80-B5C8-CEAA178A6E8A}" srcOrd="2" destOrd="0" presId="urn:microsoft.com/office/officeart/2005/8/layout/hierarchy6"/>
    <dgm:cxn modelId="{8F8BAEB3-A0C6-43BC-BCE4-0F83CC69DA4D}" type="presParOf" srcId="{9A9F8021-A241-42E5-B2CE-AF5B8CEE20C1}" destId="{BEA74C31-A78B-4798-A5ED-500DB0B36CE5}" srcOrd="3" destOrd="0" presId="urn:microsoft.com/office/officeart/2005/8/layout/hierarchy6"/>
    <dgm:cxn modelId="{BD3B5828-F167-482F-9D5F-8A8F13F477DD}" type="presParOf" srcId="{BEA74C31-A78B-4798-A5ED-500DB0B36CE5}" destId="{3240782C-0223-4B9E-8CF7-BC22740F08DF}" srcOrd="0" destOrd="0" presId="urn:microsoft.com/office/officeart/2005/8/layout/hierarchy6"/>
    <dgm:cxn modelId="{719631A3-AE80-4A40-BD67-8B5FC920776B}" type="presParOf" srcId="{BEA74C31-A78B-4798-A5ED-500DB0B36CE5}" destId="{1812231C-884E-4BC4-B0B4-A0708FB36E29}" srcOrd="1" destOrd="0" presId="urn:microsoft.com/office/officeart/2005/8/layout/hierarchy6"/>
    <dgm:cxn modelId="{FB4C6FDD-94FB-4CB1-92C5-CDE026A3412D}" type="presParOf" srcId="{6DEE3A73-A258-4EFA-A58C-DD38FAC1AC93}" destId="{580AA000-6068-4FDB-B3CF-29085E4040B0}" srcOrd="1" destOrd="0" presId="urn:microsoft.com/office/officeart/2005/8/layout/hierarchy6"/>
  </dgm:cxnLst>
  <dgm:bg>
    <a:solidFill>
      <a:srgbClr val="FFFF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2186FF-DA03-DB4E-914A-3BD590EE5DD8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BE"/>
        </a:p>
      </dgm:t>
    </dgm:pt>
    <dgm:pt modelId="{76FA4C50-198D-BB46-A904-28DC7465C9B8}">
      <dgm:prSet phldrT="[Text]" custT="1"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pPr>
            <a:spcAft>
              <a:spcPts val="0"/>
            </a:spcAft>
            <a:buNone/>
          </a:pPr>
          <a:r>
            <a:rPr lang="en-US" sz="2800" b="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Phase 2: </a:t>
          </a:r>
          <a:br>
            <a:rPr lang="en-US" sz="2800" b="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</a:br>
          <a:r>
            <a:rPr lang="en-US" sz="1800" b="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Second milestone</a:t>
          </a:r>
        </a:p>
      </dgm:t>
    </dgm:pt>
    <dgm:pt modelId="{BBD545B0-206D-E449-8A8C-1585BD365733}" type="parTrans" cxnId="{36682108-198E-1841-ADEF-F31D1EF7F429}">
      <dgm:prSet/>
      <dgm:spPr/>
      <dgm:t>
        <a:bodyPr/>
        <a:lstStyle/>
        <a:p>
          <a:endParaRPr lang="en-GB" sz="1200">
            <a:latin typeface="Alata" pitchFamily="2" charset="0"/>
            <a:cs typeface="Alata" pitchFamily="2" charset="0"/>
          </a:endParaRPr>
        </a:p>
      </dgm:t>
    </dgm:pt>
    <dgm:pt modelId="{517D0B63-D44A-1C48-924D-97E8585F6A18}" type="sibTrans" cxnId="{36682108-198E-1841-ADEF-F31D1EF7F429}">
      <dgm:prSet/>
      <dgm:spPr/>
      <dgm:t>
        <a:bodyPr/>
        <a:lstStyle/>
        <a:p>
          <a:endParaRPr lang="en-GB" sz="1200">
            <a:latin typeface="Alata" pitchFamily="2" charset="0"/>
            <a:cs typeface="Alata" pitchFamily="2" charset="0"/>
          </a:endParaRPr>
        </a:p>
      </dgm:t>
    </dgm:pt>
    <dgm:pt modelId="{C5B6A8B2-11AD-A745-8089-016C07F300AD}">
      <dgm:prSet phldrT="[Text]" custT="1"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pPr>
            <a:spcAft>
              <a:spcPts val="0"/>
            </a:spcAft>
          </a:pPr>
          <a:r>
            <a:rPr lang="en-GB" sz="28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Phase 3:</a:t>
          </a:r>
          <a:br>
            <a:rPr lang="en-GB" sz="2800" b="0" i="0" u="none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</a:br>
          <a:r>
            <a:rPr lang="en-GB" sz="1800" b="0" i="0" u="none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Third milestone</a:t>
          </a:r>
        </a:p>
      </dgm:t>
    </dgm:pt>
    <dgm:pt modelId="{A0548693-1938-8641-B857-180A051C7121}" type="parTrans" cxnId="{74116278-6D9D-B840-9478-CB12BF6B88EF}">
      <dgm:prSet/>
      <dgm:spPr/>
      <dgm:t>
        <a:bodyPr/>
        <a:lstStyle/>
        <a:p>
          <a:endParaRPr lang="en-GB" sz="1200">
            <a:latin typeface="Alata" pitchFamily="2" charset="0"/>
            <a:cs typeface="Alata" pitchFamily="2" charset="0"/>
          </a:endParaRPr>
        </a:p>
      </dgm:t>
    </dgm:pt>
    <dgm:pt modelId="{7D07CFEE-00AB-3A4D-A88C-F719F5A3BAFD}" type="sibTrans" cxnId="{74116278-6D9D-B840-9478-CB12BF6B88EF}">
      <dgm:prSet/>
      <dgm:spPr/>
      <dgm:t>
        <a:bodyPr/>
        <a:lstStyle/>
        <a:p>
          <a:endParaRPr lang="en-GB" sz="1200">
            <a:latin typeface="Alata" pitchFamily="2" charset="0"/>
            <a:cs typeface="Alata" pitchFamily="2" charset="0"/>
          </a:endParaRPr>
        </a:p>
      </dgm:t>
    </dgm:pt>
    <dgm:pt modelId="{01DC8AE7-9B24-5D46-8F37-341AC5F6D432}">
      <dgm:prSet custT="1"/>
      <dgm:spPr>
        <a:solidFill>
          <a:srgbClr val="E6D5CA"/>
        </a:solidFill>
        <a:ln>
          <a:solidFill>
            <a:schemeClr val="tx1"/>
          </a:solidFill>
        </a:ln>
      </dgm:spPr>
      <dgm:t>
        <a:bodyPr lIns="0" rIns="0"/>
        <a:lstStyle/>
        <a:p>
          <a:pPr marL="0" lvl="0" algn="ctr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  <a:t>Phase 1:</a:t>
          </a:r>
          <a:br>
            <a:rPr lang="en-US" sz="2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</a:br>
          <a:r>
            <a:rPr lang="en-US" sz="1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  <a:t>First </a:t>
          </a:r>
          <a:br>
            <a:rPr lang="en-US" sz="1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</a:br>
          <a:r>
            <a:rPr lang="en-US" sz="1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  <a:t>milestone</a:t>
          </a:r>
        </a:p>
      </dgm:t>
    </dgm:pt>
    <dgm:pt modelId="{CD66935A-35B9-3D44-BE26-D765C9C139FA}" type="parTrans" cxnId="{BEE063EB-0BC7-B341-A8DA-A5AA5CA6995F}">
      <dgm:prSet/>
      <dgm:spPr/>
      <dgm:t>
        <a:bodyPr/>
        <a:lstStyle/>
        <a:p>
          <a:endParaRPr lang="en-GB" sz="1200">
            <a:latin typeface="Alata" pitchFamily="2" charset="0"/>
            <a:cs typeface="Alata" pitchFamily="2" charset="0"/>
          </a:endParaRPr>
        </a:p>
      </dgm:t>
    </dgm:pt>
    <dgm:pt modelId="{956CB1F0-9CF6-A648-8784-99C29D7788AF}" type="sibTrans" cxnId="{BEE063EB-0BC7-B341-A8DA-A5AA5CA6995F}">
      <dgm:prSet/>
      <dgm:spPr/>
      <dgm:t>
        <a:bodyPr/>
        <a:lstStyle/>
        <a:p>
          <a:endParaRPr lang="en-GB" sz="1200">
            <a:latin typeface="Alata" pitchFamily="2" charset="0"/>
            <a:cs typeface="Alata" pitchFamily="2" charset="0"/>
          </a:endParaRPr>
        </a:p>
      </dgm:t>
    </dgm:pt>
    <dgm:pt modelId="{7E9DF840-C6F8-604D-AE96-C16C0C1F9978}">
      <dgm:prSet custT="1"/>
      <dgm:spPr>
        <a:solidFill>
          <a:srgbClr val="E6D5CA"/>
        </a:solidFill>
        <a:ln>
          <a:solidFill>
            <a:schemeClr val="tx1"/>
          </a:solidFill>
        </a:ln>
      </dgm:spPr>
      <dgm:t>
        <a:bodyPr/>
        <a:lstStyle/>
        <a:p>
          <a:r>
            <a:rPr lang="en-GB" sz="28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Phase 4:</a:t>
          </a:r>
          <a:br>
            <a:rPr lang="en-GB" sz="1400" b="0" i="0" u="none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</a:br>
          <a:r>
            <a:rPr lang="en-GB" sz="1800" b="0" i="0" u="none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Fourth milestone</a:t>
          </a:r>
        </a:p>
      </dgm:t>
    </dgm:pt>
    <dgm:pt modelId="{60FCEF6E-2339-FE4C-8916-D65BE75B5993}" type="parTrans" cxnId="{C2C0DF7F-37E0-3440-98FB-B1ABDB3F78D5}">
      <dgm:prSet/>
      <dgm:spPr/>
      <dgm:t>
        <a:bodyPr/>
        <a:lstStyle/>
        <a:p>
          <a:endParaRPr lang="en-GB" sz="1200">
            <a:latin typeface="Alata" pitchFamily="2" charset="0"/>
            <a:cs typeface="Alata" pitchFamily="2" charset="0"/>
          </a:endParaRPr>
        </a:p>
      </dgm:t>
    </dgm:pt>
    <dgm:pt modelId="{125921BA-53E3-4848-9823-52DE705B49AB}" type="sibTrans" cxnId="{C2C0DF7F-37E0-3440-98FB-B1ABDB3F78D5}">
      <dgm:prSet/>
      <dgm:spPr/>
      <dgm:t>
        <a:bodyPr/>
        <a:lstStyle/>
        <a:p>
          <a:endParaRPr lang="en-GB" sz="1200">
            <a:latin typeface="Alata" pitchFamily="2" charset="0"/>
            <a:cs typeface="Alata" pitchFamily="2" charset="0"/>
          </a:endParaRPr>
        </a:p>
      </dgm:t>
    </dgm:pt>
    <dgm:pt modelId="{C827E8FB-6632-1B4A-9D72-84AD7FF37F9D}" type="pres">
      <dgm:prSet presAssocID="{732186FF-DA03-DB4E-914A-3BD590EE5DD8}" presName="Name0" presStyleCnt="0">
        <dgm:presLayoutVars>
          <dgm:dir/>
          <dgm:animLvl val="lvl"/>
          <dgm:resizeHandles val="exact"/>
        </dgm:presLayoutVars>
      </dgm:prSet>
      <dgm:spPr/>
    </dgm:pt>
    <dgm:pt modelId="{A47EA651-9819-C647-A93D-CD0C12EA2024}" type="pres">
      <dgm:prSet presAssocID="{01DC8AE7-9B24-5D46-8F37-341AC5F6D432}" presName="parTxOnly" presStyleLbl="node1" presStyleIdx="0" presStyleCnt="4" custScaleX="106207" custScaleY="126465" custLinFactX="-150" custLinFactNeighborX="-100000" custLinFactNeighborY="3011">
        <dgm:presLayoutVars>
          <dgm:chMax val="0"/>
          <dgm:chPref val="0"/>
          <dgm:bulletEnabled val="1"/>
        </dgm:presLayoutVars>
      </dgm:prSet>
      <dgm:spPr/>
    </dgm:pt>
    <dgm:pt modelId="{33FD1C0C-1084-A349-B348-A73BEB01B16F}" type="pres">
      <dgm:prSet presAssocID="{956CB1F0-9CF6-A648-8784-99C29D7788AF}" presName="parTxOnlySpace" presStyleCnt="0"/>
      <dgm:spPr/>
    </dgm:pt>
    <dgm:pt modelId="{6C4724AF-2A27-164B-A826-7A57945D8C62}" type="pres">
      <dgm:prSet presAssocID="{76FA4C50-198D-BB46-A904-28DC7465C9B8}" presName="parTxOnly" presStyleLbl="node1" presStyleIdx="1" presStyleCnt="4" custScaleX="104761" custScaleY="126465">
        <dgm:presLayoutVars>
          <dgm:chMax val="0"/>
          <dgm:chPref val="0"/>
          <dgm:bulletEnabled val="1"/>
        </dgm:presLayoutVars>
      </dgm:prSet>
      <dgm:spPr/>
    </dgm:pt>
    <dgm:pt modelId="{4EA561A1-3931-E346-A175-990A3295EBF8}" type="pres">
      <dgm:prSet presAssocID="{517D0B63-D44A-1C48-924D-97E8585F6A18}" presName="parTxOnlySpace" presStyleCnt="0"/>
      <dgm:spPr/>
    </dgm:pt>
    <dgm:pt modelId="{05B2FF63-0E62-304D-83A7-69FAF8B4872E}" type="pres">
      <dgm:prSet presAssocID="{C5B6A8B2-11AD-A745-8089-016C07F300AD}" presName="parTxOnly" presStyleLbl="node1" presStyleIdx="2" presStyleCnt="4" custScaleX="103525" custScaleY="126465">
        <dgm:presLayoutVars>
          <dgm:chMax val="0"/>
          <dgm:chPref val="0"/>
          <dgm:bulletEnabled val="1"/>
        </dgm:presLayoutVars>
      </dgm:prSet>
      <dgm:spPr/>
    </dgm:pt>
    <dgm:pt modelId="{E6A75367-88BE-1947-81E5-1BBE41934F28}" type="pres">
      <dgm:prSet presAssocID="{7D07CFEE-00AB-3A4D-A88C-F719F5A3BAFD}" presName="parTxOnlySpace" presStyleCnt="0"/>
      <dgm:spPr/>
    </dgm:pt>
    <dgm:pt modelId="{2D1D5B00-F7B6-E645-8846-ACC5FE407227}" type="pres">
      <dgm:prSet presAssocID="{7E9DF840-C6F8-604D-AE96-C16C0C1F9978}" presName="parTxOnly" presStyleLbl="node1" presStyleIdx="3" presStyleCnt="4" custScaleX="103567" custScaleY="126465">
        <dgm:presLayoutVars>
          <dgm:chMax val="0"/>
          <dgm:chPref val="0"/>
          <dgm:bulletEnabled val="1"/>
        </dgm:presLayoutVars>
      </dgm:prSet>
      <dgm:spPr/>
    </dgm:pt>
  </dgm:ptLst>
  <dgm:cxnLst>
    <dgm:cxn modelId="{36682108-198E-1841-ADEF-F31D1EF7F429}" srcId="{732186FF-DA03-DB4E-914A-3BD590EE5DD8}" destId="{76FA4C50-198D-BB46-A904-28DC7465C9B8}" srcOrd="1" destOrd="0" parTransId="{BBD545B0-206D-E449-8A8C-1585BD365733}" sibTransId="{517D0B63-D44A-1C48-924D-97E8585F6A18}"/>
    <dgm:cxn modelId="{6FEFE30B-BD1D-AB42-A870-776D86BC764F}" type="presOf" srcId="{76FA4C50-198D-BB46-A904-28DC7465C9B8}" destId="{6C4724AF-2A27-164B-A826-7A57945D8C62}" srcOrd="0" destOrd="0" presId="urn:microsoft.com/office/officeart/2005/8/layout/chevron1"/>
    <dgm:cxn modelId="{10181712-2227-8449-8E2F-A47EA82655AF}" type="presOf" srcId="{7E9DF840-C6F8-604D-AE96-C16C0C1F9978}" destId="{2D1D5B00-F7B6-E645-8846-ACC5FE407227}" srcOrd="0" destOrd="0" presId="urn:microsoft.com/office/officeart/2005/8/layout/chevron1"/>
    <dgm:cxn modelId="{0342C734-6DCD-5B4D-9590-496563AF9EE0}" type="presOf" srcId="{C5B6A8B2-11AD-A745-8089-016C07F300AD}" destId="{05B2FF63-0E62-304D-83A7-69FAF8B4872E}" srcOrd="0" destOrd="0" presId="urn:microsoft.com/office/officeart/2005/8/layout/chevron1"/>
    <dgm:cxn modelId="{B41F074E-D16D-7846-9298-A166025A84E8}" type="presOf" srcId="{732186FF-DA03-DB4E-914A-3BD590EE5DD8}" destId="{C827E8FB-6632-1B4A-9D72-84AD7FF37F9D}" srcOrd="0" destOrd="0" presId="urn:microsoft.com/office/officeart/2005/8/layout/chevron1"/>
    <dgm:cxn modelId="{74116278-6D9D-B840-9478-CB12BF6B88EF}" srcId="{732186FF-DA03-DB4E-914A-3BD590EE5DD8}" destId="{C5B6A8B2-11AD-A745-8089-016C07F300AD}" srcOrd="2" destOrd="0" parTransId="{A0548693-1938-8641-B857-180A051C7121}" sibTransId="{7D07CFEE-00AB-3A4D-A88C-F719F5A3BAFD}"/>
    <dgm:cxn modelId="{C2C0DF7F-37E0-3440-98FB-B1ABDB3F78D5}" srcId="{732186FF-DA03-DB4E-914A-3BD590EE5DD8}" destId="{7E9DF840-C6F8-604D-AE96-C16C0C1F9978}" srcOrd="3" destOrd="0" parTransId="{60FCEF6E-2339-FE4C-8916-D65BE75B5993}" sibTransId="{125921BA-53E3-4848-9823-52DE705B49AB}"/>
    <dgm:cxn modelId="{B539BDA5-893E-124A-9611-A9AA10D2C72F}" type="presOf" srcId="{01DC8AE7-9B24-5D46-8F37-341AC5F6D432}" destId="{A47EA651-9819-C647-A93D-CD0C12EA2024}" srcOrd="0" destOrd="0" presId="urn:microsoft.com/office/officeart/2005/8/layout/chevron1"/>
    <dgm:cxn modelId="{BEE063EB-0BC7-B341-A8DA-A5AA5CA6995F}" srcId="{732186FF-DA03-DB4E-914A-3BD590EE5DD8}" destId="{01DC8AE7-9B24-5D46-8F37-341AC5F6D432}" srcOrd="0" destOrd="0" parTransId="{CD66935A-35B9-3D44-BE26-D765C9C139FA}" sibTransId="{956CB1F0-9CF6-A648-8784-99C29D7788AF}"/>
    <dgm:cxn modelId="{49E47F7D-933E-C841-8C74-367B69A99EFA}" type="presParOf" srcId="{C827E8FB-6632-1B4A-9D72-84AD7FF37F9D}" destId="{A47EA651-9819-C647-A93D-CD0C12EA2024}" srcOrd="0" destOrd="0" presId="urn:microsoft.com/office/officeart/2005/8/layout/chevron1"/>
    <dgm:cxn modelId="{9BE05E34-6A13-0A4E-A820-92C44FA708F9}" type="presParOf" srcId="{C827E8FB-6632-1B4A-9D72-84AD7FF37F9D}" destId="{33FD1C0C-1084-A349-B348-A73BEB01B16F}" srcOrd="1" destOrd="0" presId="urn:microsoft.com/office/officeart/2005/8/layout/chevron1"/>
    <dgm:cxn modelId="{180C9C1B-D8ED-F748-ACF7-BE9B1C729F0B}" type="presParOf" srcId="{C827E8FB-6632-1B4A-9D72-84AD7FF37F9D}" destId="{6C4724AF-2A27-164B-A826-7A57945D8C62}" srcOrd="2" destOrd="0" presId="urn:microsoft.com/office/officeart/2005/8/layout/chevron1"/>
    <dgm:cxn modelId="{E0423421-42F2-AE4C-93A8-E2A37B4D4E8A}" type="presParOf" srcId="{C827E8FB-6632-1B4A-9D72-84AD7FF37F9D}" destId="{4EA561A1-3931-E346-A175-990A3295EBF8}" srcOrd="3" destOrd="0" presId="urn:microsoft.com/office/officeart/2005/8/layout/chevron1"/>
    <dgm:cxn modelId="{FA200262-AE71-EC4A-BF21-A510ABFDC247}" type="presParOf" srcId="{C827E8FB-6632-1B4A-9D72-84AD7FF37F9D}" destId="{05B2FF63-0E62-304D-83A7-69FAF8B4872E}" srcOrd="4" destOrd="0" presId="urn:microsoft.com/office/officeart/2005/8/layout/chevron1"/>
    <dgm:cxn modelId="{5C8FA540-53FC-524A-9422-EEE7FF1C0972}" type="presParOf" srcId="{C827E8FB-6632-1B4A-9D72-84AD7FF37F9D}" destId="{E6A75367-88BE-1947-81E5-1BBE41934F28}" srcOrd="5" destOrd="0" presId="urn:microsoft.com/office/officeart/2005/8/layout/chevron1"/>
    <dgm:cxn modelId="{A382081C-61DC-2042-8246-AF3E0F594AE9}" type="presParOf" srcId="{C827E8FB-6632-1B4A-9D72-84AD7FF37F9D}" destId="{2D1D5B00-F7B6-E645-8846-ACC5FE40722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495FB-D4E4-4883-9E8F-D141E0C893F0}">
      <dsp:nvSpPr>
        <dsp:cNvPr id="0" name=""/>
        <dsp:cNvSpPr/>
      </dsp:nvSpPr>
      <dsp:spPr>
        <a:xfrm>
          <a:off x="3396532" y="258905"/>
          <a:ext cx="2201551" cy="991289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Large / Vague </a:t>
          </a:r>
          <a:r>
            <a:rPr lang="nl-BE" sz="2000" kern="1200" err="1">
              <a:solidFill>
                <a:schemeClr val="tx1"/>
              </a:solidFill>
              <a:latin typeface="Alata" pitchFamily="2" charset="0"/>
              <a:cs typeface="Alata" pitchFamily="2" charset="0"/>
            </a:rPr>
            <a:t>Problem</a:t>
          </a:r>
          <a:endParaRPr lang="nl-BE" sz="2000" kern="1200">
            <a:solidFill>
              <a:schemeClr val="tx1"/>
            </a:solidFill>
            <a:latin typeface="Alata" pitchFamily="2" charset="0"/>
            <a:cs typeface="Alata" pitchFamily="2" charset="0"/>
          </a:endParaRPr>
        </a:p>
      </dsp:txBody>
      <dsp:txXfrm>
        <a:off x="3425566" y="287939"/>
        <a:ext cx="2143483" cy="933221"/>
      </dsp:txXfrm>
    </dsp:sp>
    <dsp:sp modelId="{1ADD71BF-BBE0-4AA5-9280-1C6C1F82178B}">
      <dsp:nvSpPr>
        <dsp:cNvPr id="0" name=""/>
        <dsp:cNvSpPr/>
      </dsp:nvSpPr>
      <dsp:spPr>
        <a:xfrm>
          <a:off x="781643" y="1250194"/>
          <a:ext cx="3715664" cy="416416"/>
        </a:xfrm>
        <a:custGeom>
          <a:avLst/>
          <a:gdLst/>
          <a:ahLst/>
          <a:cxnLst/>
          <a:rect l="0" t="0" r="0" b="0"/>
          <a:pathLst>
            <a:path>
              <a:moveTo>
                <a:pt x="3715664" y="0"/>
              </a:moveTo>
              <a:lnTo>
                <a:pt x="3715664" y="208208"/>
              </a:lnTo>
              <a:lnTo>
                <a:pt x="0" y="208208"/>
              </a:lnTo>
              <a:lnTo>
                <a:pt x="0" y="416416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</dsp:sp>
    <dsp:sp modelId="{D73B6760-71A0-4F3B-9222-5B61145FAA9C}">
      <dsp:nvSpPr>
        <dsp:cNvPr id="0" name=""/>
        <dsp:cNvSpPr/>
      </dsp:nvSpPr>
      <dsp:spPr>
        <a:xfrm>
          <a:off x="863" y="1666610"/>
          <a:ext cx="1561561" cy="1041040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Problem 1</a:t>
          </a:r>
        </a:p>
      </dsp:txBody>
      <dsp:txXfrm>
        <a:off x="31354" y="1697101"/>
        <a:ext cx="1500579" cy="980058"/>
      </dsp:txXfrm>
    </dsp:sp>
    <dsp:sp modelId="{803FC376-1660-4651-B933-C76CD9F60D67}">
      <dsp:nvSpPr>
        <dsp:cNvPr id="0" name=""/>
        <dsp:cNvSpPr/>
      </dsp:nvSpPr>
      <dsp:spPr>
        <a:xfrm>
          <a:off x="735923" y="2707651"/>
          <a:ext cx="91440" cy="4164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6416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</dsp:sp>
    <dsp:sp modelId="{9BD06A49-829C-46BE-98CA-A66D52DE3D35}">
      <dsp:nvSpPr>
        <dsp:cNvPr id="0" name=""/>
        <dsp:cNvSpPr/>
      </dsp:nvSpPr>
      <dsp:spPr>
        <a:xfrm>
          <a:off x="863" y="3124068"/>
          <a:ext cx="1561561" cy="1041040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</a:t>
          </a:r>
        </a:p>
      </dsp:txBody>
      <dsp:txXfrm>
        <a:off x="31354" y="3154559"/>
        <a:ext cx="1500579" cy="980058"/>
      </dsp:txXfrm>
    </dsp:sp>
    <dsp:sp modelId="{97C05526-3443-43E0-9788-345B97B8F864}">
      <dsp:nvSpPr>
        <dsp:cNvPr id="0" name=""/>
        <dsp:cNvSpPr/>
      </dsp:nvSpPr>
      <dsp:spPr>
        <a:xfrm>
          <a:off x="3989801" y="1250194"/>
          <a:ext cx="507507" cy="416416"/>
        </a:xfrm>
        <a:custGeom>
          <a:avLst/>
          <a:gdLst/>
          <a:ahLst/>
          <a:cxnLst/>
          <a:rect l="0" t="0" r="0" b="0"/>
          <a:pathLst>
            <a:path>
              <a:moveTo>
                <a:pt x="507507" y="0"/>
              </a:moveTo>
              <a:lnTo>
                <a:pt x="507507" y="208208"/>
              </a:lnTo>
              <a:lnTo>
                <a:pt x="0" y="208208"/>
              </a:lnTo>
              <a:lnTo>
                <a:pt x="0" y="416416"/>
              </a:lnTo>
            </a:path>
          </a:pathLst>
        </a:custGeom>
        <a:noFill/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A21B2050-8BD1-4950-933A-25AA930EBCD0}">
      <dsp:nvSpPr>
        <dsp:cNvPr id="0" name=""/>
        <dsp:cNvSpPr/>
      </dsp:nvSpPr>
      <dsp:spPr>
        <a:xfrm>
          <a:off x="3209020" y="1666610"/>
          <a:ext cx="1561561" cy="1041040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Problem 2</a:t>
          </a:r>
        </a:p>
      </dsp:txBody>
      <dsp:txXfrm>
        <a:off x="3239511" y="1697101"/>
        <a:ext cx="1500579" cy="980058"/>
      </dsp:txXfrm>
    </dsp:sp>
    <dsp:sp modelId="{32A8ED0B-44C0-4D0F-B2BA-48F29B47A37A}">
      <dsp:nvSpPr>
        <dsp:cNvPr id="0" name=""/>
        <dsp:cNvSpPr/>
      </dsp:nvSpPr>
      <dsp:spPr>
        <a:xfrm>
          <a:off x="2974786" y="2707651"/>
          <a:ext cx="1015014" cy="416416"/>
        </a:xfrm>
        <a:custGeom>
          <a:avLst/>
          <a:gdLst/>
          <a:ahLst/>
          <a:cxnLst/>
          <a:rect l="0" t="0" r="0" b="0"/>
          <a:pathLst>
            <a:path>
              <a:moveTo>
                <a:pt x="1015014" y="0"/>
              </a:moveTo>
              <a:lnTo>
                <a:pt x="1015014" y="208208"/>
              </a:lnTo>
              <a:lnTo>
                <a:pt x="0" y="208208"/>
              </a:lnTo>
              <a:lnTo>
                <a:pt x="0" y="416416"/>
              </a:lnTo>
            </a:path>
          </a:pathLst>
        </a:custGeom>
        <a:noFill/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8755D7AD-B969-4C9A-B2A0-151BA351856A}">
      <dsp:nvSpPr>
        <dsp:cNvPr id="0" name=""/>
        <dsp:cNvSpPr/>
      </dsp:nvSpPr>
      <dsp:spPr>
        <a:xfrm>
          <a:off x="2030892" y="3124068"/>
          <a:ext cx="1887787" cy="1041040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 </a:t>
          </a:r>
        </a:p>
      </dsp:txBody>
      <dsp:txXfrm>
        <a:off x="2061383" y="3154559"/>
        <a:ext cx="1826805" cy="980058"/>
      </dsp:txXfrm>
    </dsp:sp>
    <dsp:sp modelId="{61BDF3C1-CB91-48E6-9339-49C38D60DDD1}">
      <dsp:nvSpPr>
        <dsp:cNvPr id="0" name=""/>
        <dsp:cNvSpPr/>
      </dsp:nvSpPr>
      <dsp:spPr>
        <a:xfrm>
          <a:off x="3989801" y="2707651"/>
          <a:ext cx="1178127" cy="4164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208"/>
              </a:lnTo>
              <a:lnTo>
                <a:pt x="1178127" y="208208"/>
              </a:lnTo>
              <a:lnTo>
                <a:pt x="1178127" y="416416"/>
              </a:lnTo>
            </a:path>
          </a:pathLst>
        </a:custGeom>
        <a:noFill/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9273953F-6503-44D1-BD2C-8B5D8D3C5808}">
      <dsp:nvSpPr>
        <dsp:cNvPr id="0" name=""/>
        <dsp:cNvSpPr/>
      </dsp:nvSpPr>
      <dsp:spPr>
        <a:xfrm>
          <a:off x="4387148" y="3124068"/>
          <a:ext cx="1561561" cy="1041040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b="1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Prioritized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b="1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</a:t>
          </a:r>
        </a:p>
      </dsp:txBody>
      <dsp:txXfrm>
        <a:off x="4417639" y="3154559"/>
        <a:ext cx="1500579" cy="980058"/>
      </dsp:txXfrm>
    </dsp:sp>
    <dsp:sp modelId="{23F69D75-62D3-4571-B5B8-C11A6DCAE1AE}">
      <dsp:nvSpPr>
        <dsp:cNvPr id="0" name=""/>
        <dsp:cNvSpPr/>
      </dsp:nvSpPr>
      <dsp:spPr>
        <a:xfrm>
          <a:off x="4497308" y="1250194"/>
          <a:ext cx="3715664" cy="4164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208"/>
              </a:lnTo>
              <a:lnTo>
                <a:pt x="3715664" y="208208"/>
              </a:lnTo>
              <a:lnTo>
                <a:pt x="3715664" y="416416"/>
              </a:lnTo>
            </a:path>
          </a:pathLst>
        </a:custGeom>
        <a:noFill/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dsp:style>
    </dsp:sp>
    <dsp:sp modelId="{1F772BF7-A439-4473-A2E1-EC35DA6AB80F}">
      <dsp:nvSpPr>
        <dsp:cNvPr id="0" name=""/>
        <dsp:cNvSpPr/>
      </dsp:nvSpPr>
      <dsp:spPr>
        <a:xfrm>
          <a:off x="7432192" y="1666610"/>
          <a:ext cx="1561561" cy="1041040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Problem 3</a:t>
          </a:r>
        </a:p>
      </dsp:txBody>
      <dsp:txXfrm>
        <a:off x="7462683" y="1697101"/>
        <a:ext cx="1500579" cy="980058"/>
      </dsp:txXfrm>
    </dsp:sp>
    <dsp:sp modelId="{24BF2EE9-21BE-423E-A848-386383EB7C06}">
      <dsp:nvSpPr>
        <dsp:cNvPr id="0" name=""/>
        <dsp:cNvSpPr/>
      </dsp:nvSpPr>
      <dsp:spPr>
        <a:xfrm>
          <a:off x="7197958" y="2707651"/>
          <a:ext cx="1015014" cy="416416"/>
        </a:xfrm>
        <a:custGeom>
          <a:avLst/>
          <a:gdLst/>
          <a:ahLst/>
          <a:cxnLst/>
          <a:rect l="0" t="0" r="0" b="0"/>
          <a:pathLst>
            <a:path>
              <a:moveTo>
                <a:pt x="1015014" y="0"/>
              </a:moveTo>
              <a:lnTo>
                <a:pt x="1015014" y="208208"/>
              </a:lnTo>
              <a:lnTo>
                <a:pt x="0" y="208208"/>
              </a:lnTo>
              <a:lnTo>
                <a:pt x="0" y="416416"/>
              </a:lnTo>
            </a:path>
          </a:pathLst>
        </a:custGeom>
        <a:noFill/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777C2A0F-418C-4250-871D-D5824D0DCF5E}">
      <dsp:nvSpPr>
        <dsp:cNvPr id="0" name=""/>
        <dsp:cNvSpPr/>
      </dsp:nvSpPr>
      <dsp:spPr>
        <a:xfrm>
          <a:off x="6417177" y="3124068"/>
          <a:ext cx="1561561" cy="1041040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</a:t>
          </a:r>
        </a:p>
      </dsp:txBody>
      <dsp:txXfrm>
        <a:off x="6447668" y="3154559"/>
        <a:ext cx="1500579" cy="980058"/>
      </dsp:txXfrm>
    </dsp:sp>
    <dsp:sp modelId="{DCEAF691-0B75-4A80-B5C8-CEAA178A6E8A}">
      <dsp:nvSpPr>
        <dsp:cNvPr id="0" name=""/>
        <dsp:cNvSpPr/>
      </dsp:nvSpPr>
      <dsp:spPr>
        <a:xfrm>
          <a:off x="8212973" y="2707651"/>
          <a:ext cx="1015014" cy="4164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208"/>
              </a:lnTo>
              <a:lnTo>
                <a:pt x="1015014" y="208208"/>
              </a:lnTo>
              <a:lnTo>
                <a:pt x="1015014" y="416416"/>
              </a:lnTo>
            </a:path>
          </a:pathLst>
        </a:custGeom>
        <a:noFill/>
        <a:ln w="63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3240782C-0223-4B9E-8CF7-BC22740F08DF}">
      <dsp:nvSpPr>
        <dsp:cNvPr id="0" name=""/>
        <dsp:cNvSpPr/>
      </dsp:nvSpPr>
      <dsp:spPr>
        <a:xfrm>
          <a:off x="8447207" y="3124068"/>
          <a:ext cx="1561561" cy="1041040"/>
        </a:xfrm>
        <a:prstGeom prst="roundRect">
          <a:avLst>
            <a:gd name="adj" fmla="val 10000"/>
          </a:avLst>
        </a:prstGeom>
        <a:solidFill>
          <a:srgbClr val="E6D5CA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000" kern="1200">
              <a:solidFill>
                <a:schemeClr val="tx1"/>
              </a:solidFill>
              <a:latin typeface="Alata" pitchFamily="2" charset="0"/>
              <a:cs typeface="Alata" pitchFamily="2" charset="0"/>
            </a:rPr>
            <a:t>SubProblem</a:t>
          </a:r>
        </a:p>
      </dsp:txBody>
      <dsp:txXfrm>
        <a:off x="8477698" y="3154559"/>
        <a:ext cx="1500579" cy="9800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EA651-9819-C647-A93D-CD0C12EA2024}">
      <dsp:nvSpPr>
        <dsp:cNvPr id="0" name=""/>
        <dsp:cNvSpPr/>
      </dsp:nvSpPr>
      <dsp:spPr>
        <a:xfrm>
          <a:off x="0" y="135201"/>
          <a:ext cx="2347677" cy="1118190"/>
        </a:xfrm>
        <a:prstGeom prst="chevron">
          <a:avLst/>
        </a:prstGeom>
        <a:solidFill>
          <a:srgbClr val="E6D5C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338" rIns="0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  <a:t>Phase 1:</a:t>
          </a:r>
          <a:br>
            <a:rPr lang="en-US" sz="2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</a:br>
          <a:r>
            <a:rPr lang="en-US" sz="1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  <a:t>First </a:t>
          </a:r>
          <a:br>
            <a:rPr lang="en-US" sz="1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</a:br>
          <a:r>
            <a:rPr lang="en-US" sz="1800" b="0" kern="1200">
              <a:solidFill>
                <a:sysClr val="windowText" lastClr="000000"/>
              </a:solidFill>
              <a:latin typeface="Alata" pitchFamily="2" charset="0"/>
              <a:ea typeface="+mn-ea"/>
              <a:cs typeface="Alata" pitchFamily="2" charset="0"/>
            </a:rPr>
            <a:t>milestone</a:t>
          </a:r>
        </a:p>
      </dsp:txBody>
      <dsp:txXfrm>
        <a:off x="559095" y="135201"/>
        <a:ext cx="1229487" cy="1118190"/>
      </dsp:txXfrm>
    </dsp:sp>
    <dsp:sp modelId="{6C4724AF-2A27-164B-A826-7A57945D8C62}">
      <dsp:nvSpPr>
        <dsp:cNvPr id="0" name=""/>
        <dsp:cNvSpPr/>
      </dsp:nvSpPr>
      <dsp:spPr>
        <a:xfrm>
          <a:off x="2132762" y="108578"/>
          <a:ext cx="2315714" cy="1118190"/>
        </a:xfrm>
        <a:prstGeom prst="chevron">
          <a:avLst/>
        </a:prstGeom>
        <a:solidFill>
          <a:srgbClr val="E6D5C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b="0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Phase 2: </a:t>
          </a:r>
          <a:br>
            <a:rPr lang="en-US" sz="2800" b="0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</a:br>
          <a:r>
            <a:rPr lang="en-US" sz="1800" b="0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Second milestone</a:t>
          </a:r>
        </a:p>
      </dsp:txBody>
      <dsp:txXfrm>
        <a:off x="2691857" y="108578"/>
        <a:ext cx="1197524" cy="1118190"/>
      </dsp:txXfrm>
    </dsp:sp>
    <dsp:sp modelId="{05B2FF63-0E62-304D-83A7-69FAF8B4872E}">
      <dsp:nvSpPr>
        <dsp:cNvPr id="0" name=""/>
        <dsp:cNvSpPr/>
      </dsp:nvSpPr>
      <dsp:spPr>
        <a:xfrm>
          <a:off x="4227428" y="108578"/>
          <a:ext cx="2288392" cy="1118190"/>
        </a:xfrm>
        <a:prstGeom prst="chevron">
          <a:avLst/>
        </a:prstGeom>
        <a:solidFill>
          <a:srgbClr val="E6D5C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GB" sz="2800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Phase 3:</a:t>
          </a:r>
          <a:br>
            <a:rPr lang="en-GB" sz="2800" b="0" i="0" u="none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</a:br>
          <a:r>
            <a:rPr lang="en-GB" sz="1800" b="0" i="0" u="none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Third milestone</a:t>
          </a:r>
        </a:p>
      </dsp:txBody>
      <dsp:txXfrm>
        <a:off x="4786523" y="108578"/>
        <a:ext cx="1170202" cy="1118190"/>
      </dsp:txXfrm>
    </dsp:sp>
    <dsp:sp modelId="{2D1D5B00-F7B6-E645-8846-ACC5FE407227}">
      <dsp:nvSpPr>
        <dsp:cNvPr id="0" name=""/>
        <dsp:cNvSpPr/>
      </dsp:nvSpPr>
      <dsp:spPr>
        <a:xfrm>
          <a:off x="6294774" y="108578"/>
          <a:ext cx="2289321" cy="1118190"/>
        </a:xfrm>
        <a:prstGeom prst="chevron">
          <a:avLst/>
        </a:prstGeom>
        <a:solidFill>
          <a:srgbClr val="E6D5CA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Phase 4:</a:t>
          </a:r>
          <a:br>
            <a:rPr lang="en-GB" sz="1400" b="0" i="0" u="none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</a:br>
          <a:r>
            <a:rPr lang="en-GB" sz="1800" b="0" i="0" u="none" kern="1200">
              <a:solidFill>
                <a:sysClr val="windowText" lastClr="000000"/>
              </a:solidFill>
              <a:latin typeface="Alata" pitchFamily="2" charset="0"/>
              <a:cs typeface="Alata" pitchFamily="2" charset="0"/>
            </a:rPr>
            <a:t>Fourth milestone</a:t>
          </a:r>
        </a:p>
      </dsp:txBody>
      <dsp:txXfrm>
        <a:off x="6853869" y="108578"/>
        <a:ext cx="1171131" cy="1118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CACE4AA-6609-4AB3-B46E-C2EA85F77A93}" type="datetimeFigureOut">
              <a:rPr lang="fr-BE" smtClean="0"/>
              <a:t>24-02-26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4B5F325-9757-4124-9CFE-96D0DA2BCB0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6097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8DD75-A223-17D4-A113-B2F7AD9C0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396E0-2E9A-2249-C753-D197FBFAE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3354B-9EFE-CF83-25B4-349636E50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05EF4-89E9-E5C5-4D09-2A167A431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9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162CF-6278-4963-06E5-C86727FA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34DA7-2FA0-E0AB-693A-85B157D65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9F727-5A4B-D650-8671-1FC21615B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91FCE-C0EF-1B54-0F10-D974BCA93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806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60BF-34A5-83FD-2F6C-D7DC83556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F3224-4F9D-A7EE-DC28-312C7085A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418D8-9CB5-31C3-D8F3-9D48AF88B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3301B-3BAD-9BDA-5BFA-1D28BE09C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690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C129A-F613-C8A5-BC90-F25E3C15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5B2BF-1267-B08C-2367-33C213ED8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712F8-9744-CA88-3BCA-6224B544C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528D5-D5F5-CF29-497B-BFFB7EEED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261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57FB-FF87-A170-8A59-ED95E3CF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011DB-C1FE-3B61-CCE8-E6BEBCBA7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8F8C4-2D22-B568-3791-7BC92543D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E74BE-2B5F-25B3-E3E2-B318E6918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492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28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5F7F-99F2-D26A-48A5-3AA755FD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0D17C-BF05-3B1D-EA23-EA094B00D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00A3D-4076-22A0-2541-3A900EE1C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AD6A8-39FE-885C-98C7-CF23C6D61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271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2295-21AF-CDFE-396E-C3D733A4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6B8E0-74CF-6403-7FE4-28CA9B444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06419-14D2-EF06-0718-3B2A73E4F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7CF38-E559-CF29-9954-CEF1BC7B9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0229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E7BE6-87E4-065D-8076-5EF299796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1DDD7-B25D-7346-90EB-F3A17140D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0E5C2-97E1-1DBA-52E1-EAAF57969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5B892-8C52-D0D4-DA04-EABC5234E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7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C24F-A633-4907-E15B-460AC0821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99CE6-7D88-28F4-904A-37D025C6E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34EFD-B375-3E21-3AEF-7D811C2B1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71434-3EBE-A47D-8F8C-4AFF9BE57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118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2FAFF-9E5C-C33C-E088-B0553361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48133-3D18-1831-A3E3-F24D39539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4AD26-7719-8E26-2C8A-35AA60F3E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1E5DB-49A0-A412-CAA7-6D506129F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286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7515-BA65-1AB0-7C30-6C94E57D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2612B-958A-43C8-268F-97A192410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206E7-74D0-BB38-2101-65651C413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5A13D-37F9-0122-2047-E3D673E95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614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STORYTELLING OF THE VISION</a:t>
            </a:r>
            <a:r>
              <a:rPr lang="en-US" dirty="0"/>
              <a:t>: 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Picture a company at its best.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company where every department moves in the same direction.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priorities are clear, decisions are coherent, and teams understand how their work contributes to something bigger.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, in other words the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Ultimate Goal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simple terms (to emphasize):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long‑term ambition the organization is constantly striving for. It is about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the company exists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future it wants to create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the following examples to illustrate the vision: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Being the most trusted partner for customers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Leading the market in innovation or efficiency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Delivering excellence sustainably and consistently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value for clients, employees, and stakeholders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endParaRPr lang="en-US" sz="1200" b="1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fontAlgn="t">
              <a:buFont typeface="Arial" panose="020B0604020202020204" pitchFamily="34" charset="0"/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TRANSITIONING TO THE MISSION OF A COMPANY </a:t>
            </a:r>
          </a:p>
          <a:p>
            <a:pPr marL="0" indent="0" algn="l" defTabSz="914400" rtl="0" eaLnBrk="1" fontAlgn="t" latinLnBrk="0" hangingPunct="1">
              <a:buFont typeface="Arial" panose="020B0604020202020204" pitchFamily="34" charset="0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algn="l" defTabSz="914400" rtl="0" eaLnBrk="1" fontAlgn="t" latinLnBrk="0" hangingPunct="1">
              <a:buFont typeface="Arial" panose="020B0604020202020204" pitchFamily="34" charset="0"/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the realities that a company faces, that hinders it from going towards the Vision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Teams are overloaded.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Processes evolved faster than people.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Information flows in inconsistent ways.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Firefighting replaces improvement.</a:t>
            </a:r>
            <a:b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everyone is working hard… not everyone is working in the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direction.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where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enters the story.</a:t>
            </a:r>
          </a:p>
          <a:p>
            <a:endParaRPr lang="en-US" dirty="0"/>
          </a:p>
          <a:p>
            <a:r>
              <a:rPr lang="en-US" b="1" dirty="0"/>
              <a:t>STORYTELLING OF THE MISSION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concrete contribution your client needs right now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move one step closer to their Vision.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Vision asks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“Where do we want to go?”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Mission asks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must be improved now to help us get there?”</a:t>
            </a:r>
          </a:p>
          <a:p>
            <a:pPr fontAlgn="t"/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simple terms (to emphasize):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today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move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 the Vision.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the following examples to illustrate the mission: </a:t>
            </a: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the reporting cycle from 8 days to 4 days </a:t>
            </a: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 communication flow across departments </a:t>
            </a: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 data quality so decisions become faster and more reliable </a:t>
            </a: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Stabilize operations during a staffing gap.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we use “by” on the slide: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it’s the bridge between the two.</a:t>
            </a:r>
            <a:br>
              <a:rPr lang="en-GB" dirty="0"/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 = the destination / promise. Mission = the path / what we do.</a:t>
            </a:r>
            <a:br>
              <a:rPr lang="en-GB" dirty="0"/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read it as: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 achieve the Vision </a:t>
            </a:r>
            <a:r>
              <a:rPr lang="en-GB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delivering the Mission.”</a:t>
            </a:r>
            <a:br>
              <a:rPr lang="en-GB" dirty="0"/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Mission doesn’t sound like actions, then the “by” is wrong — it means the Mission is too abstract.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ARGUMENTS TO UNDERLINE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Vision sets direction: it aligns priorities and defines what “success” means.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Mission makes it actionable: it’s what we improve/do now to move toward the vision.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We’ll use “by” to link them: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 achieved by Mission.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600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STORYTELLING OF STEP 1: </a:t>
            </a:r>
          </a:p>
          <a:p>
            <a:endParaRPr lang="en-US" b="1"/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many companies, problems are perceived differently depending on where you stand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sees strategic pressure (market share, compliance, cost).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 managers see operational bottlenecks.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Employees feel daily pain points.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consultant arrives, they hear all these versions at once — and each version sounds urgent.</a:t>
            </a:r>
          </a:p>
          <a:p>
            <a:endParaRPr lang="en-US"/>
          </a:p>
          <a:p>
            <a:r>
              <a:rPr lang="en-US" b="1"/>
              <a:t>Risk</a:t>
            </a:r>
            <a:r>
              <a:rPr lang="en-US"/>
              <a:t>: Fixing what’s loudest and not what is important, 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start Step 1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Ask the room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”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a problem?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(Pick 3–4 attendees)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Acknowledge: “You see, definitions vary depending on perspective.”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For iSolv, we will use this definition today: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problem is gap between a current situation and an ideal situation.</a:t>
            </a: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forces the organization to pause and answer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fontAlgn="t"/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the company trying to achieve (Vision/Ultimate Goal)?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does the department need to deliver to contribute to it (Ideal Situation)?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are we today (Current Situation)?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the real gap/problem (Difference between the ideal situation and the current situation)? -&gt;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emphasize on </a:t>
            </a:r>
          </a:p>
          <a:p>
            <a:pPr fontAlgn="t"/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gap should allow/help us to state a clear and concise mission statement. 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 the gap as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mission statement using 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5W2H: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happening?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does it happen?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(site, process step, team, country…)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GB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it happen? (period, frequency, peak moment…)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Who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impacted?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Why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matters? (impact,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impact, customer impact, risk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GB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it happen? (how it manifests, typical scenario, triggers)</a:t>
            </a:r>
            <a:endParaRPr lang="en-GB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How big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it? (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much? -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volume, %, €, time)</a:t>
            </a:r>
          </a:p>
          <a:p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why it matters: 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It creates a single, shared definition of “what we are solving and why.” 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Helps to avoid the company from wasting time in treating problems individually 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ARGUMENTS TO UNDERLINE </a:t>
            </a:r>
            <a:b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“Ideal” and “Current” must be measurable, so everyone agrees on the gap. (</a:t>
            </a:r>
            <a:r>
              <a:rPr lang="en-GB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perational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704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 of the slide :</a:t>
            </a:r>
          </a:p>
          <a:p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Attendees practice on the Amazon case.</a:t>
            </a:r>
          </a:p>
          <a:p>
            <a:endParaRPr lang="en-GB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Questions: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your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situation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(measurable)?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What is the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situation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(measurable)?</a:t>
            </a:r>
          </a:p>
          <a:p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What is the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gap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(how much)? H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 big is it?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Where/when?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Can you give me your 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 statement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using 5W2H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7185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 OF THE SLIDE</a:t>
            </a:r>
            <a:br>
              <a:rPr lang="en-GB" dirty="0"/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proposal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Step 1 on the Amazon UK case. (It’s not the truth; it’s a proposal that meets the Step-1 success criteria.)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situation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what ‘good’ looks like in measurable terms (≤3% late deliveries, normal complaint level).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situation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what we observe today (18% late, ~420k complaints).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difference +15% late deliveries = ~360k excess late orders; +300k extra complaints.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“And from that, we draft a one-line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problem/mission statement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close this measurable gap by next peak season.”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5W2H — AMAZON UK STATEMENT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What is happening?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late deliveries / excess late orders / complaints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•Where does it happen?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UK 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Boxing Day peak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•When does it happen?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the next peak season (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Boxing Day peak period - high-volume days).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•Who is impacted?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i="0" dirty="0"/>
              <a:t>Operations, Logistics, Sales and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 customers (service level), Customer Service (customer experience and claim handling).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•Why it matters?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 customer trust.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damages customer trust and brand reputation, increases cost-to-serve, and creates operational instability (firefighting instead of controlled execution).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•How does it happen?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(describe symptoms, not root causes)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 commitments are missed and complaints rise sharply as operations shift into reactive mode under peak pressure (plan changes, coordination overload, late prioritization decisions).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•How big is it? (How much?)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 deliveries: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18% vs ≤3%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target (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+15 pp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~360,000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excess late orders (2.4M × 15%).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Complaints: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420,000 vs 120,000 (420 000/3,5)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normal →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+300,000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extra complaints.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200" i="0" dirty="0"/>
              <a:t>Late deliveries: 18% – 3% = </a:t>
            </a:r>
            <a:r>
              <a:rPr lang="en-US" sz="1200" b="1" i="0" dirty="0"/>
              <a:t>+15%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200" i="0" dirty="0"/>
              <a:t>Orders: 2.4M × 15% = </a:t>
            </a:r>
            <a:r>
              <a:rPr lang="en-US" sz="1200" b="1" i="0" dirty="0"/>
              <a:t>360,000 excess late orders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200" i="0" dirty="0"/>
              <a:t>Complaints: 420,000-120,000 = </a:t>
            </a:r>
            <a:r>
              <a:rPr lang="en-US" sz="1200" b="1" i="0" dirty="0"/>
              <a:t>+300,000 extra complaints</a:t>
            </a:r>
          </a:p>
          <a:p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b="1" dirty="0"/>
              <a:t>5W2H – Gap-Focused Problem Statement</a:t>
            </a:r>
          </a:p>
          <a:p>
            <a:r>
              <a:rPr lang="en-US" b="1" dirty="0"/>
              <a:t>What:</a:t>
            </a:r>
            <a:r>
              <a:rPr lang="en-US" dirty="0"/>
              <a:t> Late deliveries exceed target by +15% (18% vs ≤3%)</a:t>
            </a:r>
            <a:br>
              <a:rPr lang="en-US" dirty="0"/>
            </a:br>
            <a:r>
              <a:rPr lang="en-US" b="1" dirty="0"/>
              <a:t>Who:</a:t>
            </a:r>
            <a:r>
              <a:rPr lang="en-US" dirty="0"/>
              <a:t> Amazon UK customers and delivery teams</a:t>
            </a:r>
            <a:br>
              <a:rPr lang="en-US" dirty="0"/>
            </a:br>
            <a:r>
              <a:rPr lang="en-US" b="1" dirty="0"/>
              <a:t>Where:</a:t>
            </a:r>
            <a:r>
              <a:rPr lang="en-US" dirty="0"/>
              <a:t> Amazon UK delivery operations</a:t>
            </a:r>
            <a:br>
              <a:rPr lang="en-US" dirty="0"/>
            </a:br>
            <a:r>
              <a:rPr lang="en-US" b="1" dirty="0"/>
              <a:t>When:</a:t>
            </a:r>
            <a:r>
              <a:rPr lang="en-US" dirty="0"/>
              <a:t> Peak season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Prevents Amazon from meeting its vision of being Earth’s most reliable and customer-centric company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Misaligned priorities and unclear cross-team governance</a:t>
            </a:r>
            <a:br>
              <a:rPr lang="en-US" dirty="0"/>
            </a:br>
            <a:r>
              <a:rPr lang="en-US" b="1" dirty="0"/>
              <a:t>How much:</a:t>
            </a:r>
            <a:r>
              <a:rPr lang="en-US" dirty="0"/>
              <a:t> ~360,000 excess late orders and ~300,000 additional complaints</a:t>
            </a:r>
          </a:p>
          <a:p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ARGUMENTS TO UNDERLINE 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Everything here is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measurable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(%, volumes) — not opinions.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The gap is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quantified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 we can prioritize later.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This statement sets a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definition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problem before we break it down (Step 2).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Again: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proposal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can challenge it if disagree.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541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STORYTELLING OF STEP 2 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companies, the biggest danger is not misunderstanding problems —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understanding them 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 broadly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usually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visible result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 smaller dysfunctions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 at different levels, such as:</a:t>
            </a: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Processes</a:t>
            </a: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</a:t>
            </a: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Habits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prevents that.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we turn one big problem into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manageable sub-problems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how we choose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prioritized focus?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Breaking down the problem requires 2 steps: </a:t>
            </a: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 fontAlgn="t">
              <a:buAutoNum type="arabicParenR"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a 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full, structured picture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problem</a:t>
            </a:r>
          </a:p>
          <a:p>
            <a:pPr marL="0" indent="0" fontAlgn="t">
              <a:buFont typeface="Arial" panose="020B0604020202020204" pitchFamily="34" charset="0"/>
              <a:buNone/>
            </a:pP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fontAlgn="t">
              <a:buFont typeface="Arial" panose="020B0604020202020204" pitchFamily="34" charset="0"/>
              <a:buNone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simple terms (to emphasize):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allows the problem to be cut into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manageable pieces.</a:t>
            </a:r>
          </a:p>
          <a:p>
            <a:pPr marL="0" indent="0" fontAlgn="t">
              <a:buNone/>
            </a:pP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Pondération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a 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sharp, focused selection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what to solve first</a:t>
            </a:r>
          </a:p>
          <a:p>
            <a:pPr marL="0" indent="0" fontAlgn="t">
              <a:buNone/>
            </a:pP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fontAlgn="t">
              <a:buNone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simple terms (to emphasize): 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all sub-problems matter equally, and it is a business decision about where to allocate effort .</a:t>
            </a:r>
          </a:p>
          <a:p>
            <a:pPr marL="0" indent="0" fontAlgn="t">
              <a:buNone/>
            </a:pP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WHY SEGMENTATION IS IMPORTANT: 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business, when a problem is too large, it becomes abstract.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 talk in fuzzy terms: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 of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fuzzy terms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 algn="l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reporting is bad.”</a:t>
            </a:r>
          </a:p>
          <a:p>
            <a:pPr marL="171450" indent="-171450" algn="l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process is too slow.”</a:t>
            </a:r>
          </a:p>
          <a:p>
            <a:pPr marL="171450" indent="-171450" algn="l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team is overwhelmed.”</a:t>
            </a:r>
          </a:p>
          <a:p>
            <a:pPr marL="171450" indent="-171450" algn="l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system doesn’t work.”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 is crucial because (to emphasize):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removes ambiguity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prevents oversimplification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brings all stakeholders to a shared, factual understanding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reveals that some sub‑problems belong to other teams or functions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endParaRPr lang="en-US" sz="1200" b="0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fontAlgn="t">
              <a:buFont typeface="Arial" panose="020B0604020202020204" pitchFamily="34" charset="0"/>
              <a:buNone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simple terms (to emphasize):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allows the problem to be cut into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manageable pieces.</a:t>
            </a:r>
          </a:p>
          <a:p>
            <a:endParaRPr lang="en-US" b="1"/>
          </a:p>
          <a:p>
            <a:r>
              <a:rPr lang="en-US" b="1"/>
              <a:t>2) WHY PONDERATION IS IMPORTANT: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the problem is properly segmented, the company sees something important: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sub-problems are inconvenient…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others are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decisive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elements are: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Business‑critical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Costly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High‑impact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High‑risk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 of major inefficiencies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Closely linked to the strategic gap</a:t>
            </a:r>
          </a:p>
          <a:p>
            <a:endParaRPr lang="en-US"/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where </a:t>
            </a:r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pondération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matters.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organization must decide: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mission must focus first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will deliver the biggest impact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realistic given time, resources, and constraints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endParaRPr lang="en-US" sz="1200" b="0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Prioritization provides clarity on what to tackle first.</a:t>
            </a:r>
          </a:p>
          <a:p>
            <a:pPr marL="0" indent="0" fontAlgn="t">
              <a:buFont typeface="Arial" panose="020B0604020202020204" pitchFamily="34" charset="0"/>
              <a:buNone/>
            </a:pPr>
            <a:endParaRPr lang="en-US" sz="1200" b="0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 expected: a single or set of problem that will be tackled after segmentation and prioritization. 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212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to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 down the Step-1 gap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into sub-problems, then use </a:t>
            </a:r>
            <a:r>
              <a:rPr lang="en-GB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pondération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select one prioritized focus.</a:t>
            </a:r>
          </a:p>
          <a:p>
            <a:endParaRPr lang="en-GB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 to ask: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Which lens did you choose and why?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What are your 3–5 subproblems?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How did you weight them (criteria)?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Which one is P1 and what number/fact supports it?</a:t>
            </a:r>
          </a:p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2878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7EE3-21BE-49B4-D3CE-0D21824B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9A5D8-68F3-8A54-C737-ADD37E705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4E59A-DF95-3513-DE29-B5197544E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APPLICATION OF STEP 2: </a:t>
            </a:r>
          </a:p>
          <a:p>
            <a:endParaRPr lang="en-US"/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Step 2, our goal is to decompose a very large problem into smaller, manageable components.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Amazon UK, the high‑level problem was +15% late deliveries during Boxing Day.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keep it at that level, it’s impossible to act — it’s simply too big and too vague.”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**“So we break it down using three lenses: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demand and planning issues,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governance and prioritization issues,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operational execution symptoms.”**</a:t>
            </a:r>
          </a:p>
          <a:p>
            <a:pPr fontAlgn="t"/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left, we see the upstream causes like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forecast instability and excess orders.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create noise but they do not, by themselves, explain the multi‑day delays.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 was NOT saturated, so this is not the strongest driver.”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right, we see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firefighting.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Again, these are symptoms of something deeper.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Firefighting is a consequence of unstable decisions and unclear rules.”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middle branch is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structural blocker: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teams had no clear rules to prioritize orders and conflicting priorities between Sales, Logistics, and Operations.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that during peak execution, every team was pushing its own priorities — without a single decision owner and without frozen rules.”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“To prioritize, we use an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Impact/Effort/Risk logic: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evaluate each sub‑problem on: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late deliveries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Effort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required to solve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not addressing it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Excess orders (+35–45%) / Forecast constantly changing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Medium (creates fluctuations but capacity was 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saturated)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Effort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Very high—requires structural forecasting overhauls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Medium—fluctuations will continue but won’t alone create 15% late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Operational firefighting / No escalation owner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Medium—symptoms of upstream misalignment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Effort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High—requires major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behavioural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process changes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Medium—continues to cause local inefficiencies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⭐ 3️⃣ No clear prioritization rules + Conflicted priorities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High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This directly creates multi‑day delays, last‑minute decisions, and flow instability.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Effort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Medium/Low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Governance rules, ownership, and meeting structures are organizational levers (easier than systems or forecast changes).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High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If not fixed, Boxing Day 2026 will repeat exactly the same pattern.</a:t>
            </a:r>
          </a:p>
          <a:p>
            <a:pPr fontAlgn="t"/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Governance misalignment has the HIGHEST impact on multi‑day delays,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It is easier and faster to fix than forecasting or structural capacity changes,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And if we don’t solve it, we guarantee the next Boxing Day will fail again.”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is why our prioritized sub‑problem — P1 — is the conflict of priorities and lack of clear rules.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the root of the instability, the multi‑day lateness, and the customer dissatisfaction.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Fixing this one lever creates the most leverage for the mission.”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8EC78-3E3E-870C-EBF2-88108DFDB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928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STORYTELLING OF STEP 3 “Set the target”: 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about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decision‑making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converts the problem into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performance level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everyone recognizes and supports.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its core, the theory behind setting the target rests on three principles: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 1 – TARGET CREATES DIRECTION 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Problems describe what is wrong;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Targets describe where the organization must go.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a target, teams act, but do not know whether they are moving in the right direction, or fast enough, or far enough.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target acts as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 of convergence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aligns: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ambition (Step 1)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reality (Step 2)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expected performance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Targets turn analysis into a trajectory.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 2 – TARGET CREATES CLARITY 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 transforms that understanding into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target forces stakeholders to confront crucial business questions: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much improvement is acceptable?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fast?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trade‑offs are possible?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resources should be mobilized?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risk level is tolerable?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baseline are we starting from?</a:t>
            </a: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Targets remove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they force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clarity.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 3- TARGET CREATES MEASURABLE VALUE 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company invests time, money, and people in the improvement effort.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target exists to ensure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on that investment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well‑defined target provides: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performance benchmark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monitoring reference point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basis for accountability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way to evaluate success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justification for decisions taken later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mission without targets is like a budget without numbers: intentions exist, but value cannot be demonstrated.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9434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Questions:</a:t>
            </a:r>
            <a:endParaRPr lang="en-GB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What are your target?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What’s the baseline and the exact metric definition?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Is it feasible in the timeframe?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Does it depend on external parties?</a:t>
            </a:r>
          </a:p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306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Set the Target</a:t>
            </a:r>
          </a:p>
          <a:p>
            <a:pPr fontAlgn="t"/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**“In Step 3, our role is to transform the breakdown analysis into a clear definition of what ‘success’ must look like.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pre‑read showed us two things: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UK suffered a visible performance failure — 18% late deliveries versus a normal level under 3%.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failure was amplified by structural governance issues, not by capacity constraints.”**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“So when we set the targets, we deliberately separate two types of objectives: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A performance target (T1), which closes the quantified delivery gap,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And a governance/behavioral target (T2), which prevents the chaos described in the pre‑read.”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“For T1, we don’t simply restate the gap of +15 points.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target is not ‘reduce the gap by 15%’, because the purpose of a target is to define the 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desired state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express it as: ‘Late deliveries reduced from 18% to ≤3% by next Boxing Day.’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aligns directly with Amazon’s promise of fast and reliable delivery.”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“For T2, we address what the pre‑read highlighted as the structural issue: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conflicting priorities, no rules, and constant last‑minute changes.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why the second target is: ‘Zero last‑minute prioritization changes after the cutoff during the peak execution window.’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directly stabilizes decision‑making and prevents the firefighting pattern we saw last year.”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 then apply the SMART method to make both targets robust: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Specific: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define precisely what changes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Measurable: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of late deliveries, count of changes after cutoff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Achievable: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governance levers, not unrealistic system changes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Realistic: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focused on the prioritized sub‑problem, especially 2+ days delays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Time‑bound: deadline =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 Boxing Day or during the peak window”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“With these targets in place, the mission now has a clear direction and shared expectations.</a:t>
            </a:r>
            <a:b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alignment is essential before moving to Step 4 and Step 5.”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731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STORYTELLING OF STEP 4: </a:t>
            </a:r>
          </a:p>
          <a:p>
            <a:pPr fontAlgn="t"/>
            <a:endParaRPr lang="en-US" sz="1200" b="1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“If we don’t understand why the problem happens, improvements won’t last.”</a:t>
            </a: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(EXPLAIN AND GIVE SEVERAL EXAMPLES BELOW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Many companies fix issues by applying quick patches: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manual checks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 meetings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Temporary staff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Escalations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create activity — but not improvement.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 cause analysis forces the organization to investigate: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structurally broken in the process?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triggers the issues?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exactly does the problem occur?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internal habits or constraints reinforce it?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most importantly: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we solving the cause or just the consequence?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💼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it matters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sustainable improvement only happens when the organization stops fighting symptoms and starts attacking the mechanisms that generate them.</a:t>
            </a:r>
          </a:p>
          <a:p>
            <a:endParaRPr lang="fr-FR"/>
          </a:p>
          <a:p>
            <a:endParaRPr lang="fr-FR"/>
          </a:p>
          <a:p>
            <a:r>
              <a:rPr lang="en-GB"/>
              <a:t>&gt; </a:t>
            </a:r>
            <a:r>
              <a:rPr lang="en-GB" b="1"/>
              <a:t>INPUT</a:t>
            </a:r>
            <a:r>
              <a:rPr lang="en-GB"/>
              <a:t> = </a:t>
            </a:r>
            <a:r>
              <a:rPr lang="en-GB" b="1"/>
              <a:t>prioritized sub-problem (P1)</a:t>
            </a:r>
            <a:r>
              <a:rPr lang="en-GB"/>
              <a:t> from Step 2.</a:t>
            </a:r>
          </a:p>
          <a:p>
            <a:r>
              <a:rPr lang="en-GB"/>
              <a:t>&gt; </a:t>
            </a:r>
            <a:r>
              <a:rPr lang="en-GB" b="1"/>
              <a:t>OUTPUT</a:t>
            </a:r>
            <a:r>
              <a:rPr lang="en-GB"/>
              <a:t> = </a:t>
            </a:r>
            <a:r>
              <a:rPr lang="en-GB" b="1"/>
              <a:t>actionable root cause</a:t>
            </a:r>
            <a:r>
              <a:rPr lang="en-GB"/>
              <a:t> within our span of control.</a:t>
            </a:r>
            <a:endParaRPr lang="fr-FR"/>
          </a:p>
          <a:p>
            <a:endParaRPr lang="fr-FR"/>
          </a:p>
          <a:p>
            <a:endParaRPr lang="fr-FR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INTERACTION:</a:t>
            </a:r>
            <a:b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2–3 people: What is the goal of root cause analysis?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definition: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 means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 the cause we can control act on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a symptom.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 pain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metaphor to anchor: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Paracetamol = symptom relief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Plaster = root cause fix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the two criteria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emphasize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/ in our control :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“Work on the cause that is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 our span of control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symptoms :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“Make sure we don’t stop at a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symptom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the method toolset: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get there, we typically use: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Whys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tool)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sometimes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Fishbone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Alternative/complement)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combine both (when useful)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6327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Objective: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application moment: we practice Step 4 and check it against criteria.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Facilitator script (say it)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reminder: we’re not looking for a smart story; we’re looking for a cause we can act 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output is one actionable root cause, not five symptoms.</a:t>
            </a:r>
          </a:p>
          <a:p>
            <a:pPr marL="0" indent="0">
              <a:buFont typeface="+mj-lt"/>
              <a:buNone/>
            </a:pP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Exercise instructions (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minutes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the P1 problem statement in one sentence.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3–5 Whys with facts only.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Circle the first ‘Why’ that becomes actionable and in scope.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ready to justify leverage: why is this the best place to act?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Success criteria (tie to your 3 bullets)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lphaU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Whys: each why is a cause, not a complaint.</a:t>
            </a:r>
          </a:p>
          <a:p>
            <a:pPr marL="228600" indent="-228600">
              <a:buFont typeface="+mj-lt"/>
              <a:buAutoNum type="alphaU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Leverage: pick the cause that would remove the most recurrence.</a:t>
            </a:r>
          </a:p>
          <a:p>
            <a:pPr marL="228600" indent="-228600">
              <a:buFont typeface="+mj-lt"/>
              <a:buAutoNum type="alphaU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scope: if it needs enterprise approval, it’s not your root cause.</a:t>
            </a: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Debrief questions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“Which ‘Why’ is a symptom?”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“Which ‘Why’ is outside your control?”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evidence would you need to validate this root cause?”</a:t>
            </a:r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578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Objective: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show the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Whys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outcome, and we highlight the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root cause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we will act on.</a:t>
            </a:r>
          </a:p>
          <a:p>
            <a:endParaRPr lang="en-GB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reminder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goal is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treat symptoms, but to identify a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 cause we can control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of control (important)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4th Why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(“no single accountable owner”) is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 our control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because it requires a leadership decision.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root cause in our scope is the 3rd Why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“Peak-season rules are not formally defined and validated upfront.”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this is the leverage point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rules are defined and validated upfront, teams don’t need to re-arbitrate during execution, which reduces last-minute prioritization and firefighting.</a:t>
            </a:r>
          </a:p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3249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STORYTELLING FOR STEP 5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Step 4, the company finally knows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problem exists.</a:t>
            </a:r>
          </a:p>
          <a:p>
            <a:pPr fontAlgn="t"/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Thanks to the root cause analysis, the organization sees </a:t>
            </a: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 mechanism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behind the issue: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EXAMPLES BELOW (to emphasize on):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 process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 input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limitation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 flaw 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gap</a:t>
            </a:r>
          </a:p>
          <a:p>
            <a:pPr marL="0" indent="0" fontAlgn="t">
              <a:buFont typeface="Arial" panose="020B0604020202020204" pitchFamily="34" charset="0"/>
              <a:buNone/>
            </a:pP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fontAlgn="t">
              <a:buFont typeface="Arial" panose="020B0604020202020204" pitchFamily="34" charset="0"/>
              <a:buNone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emphasize on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this stage, the company will think or say “Now that we understand the real cause,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can we do about it?”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 1 — A root cause is only useful if it triggers a concrete action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Identifying “the cause” is intellectually interesting, but operationally useless until the company asks: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 is the moment where theory becomes transformation.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 2 — Solutions must be chosen consciously, not instinctively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if only 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solution is viable, the company must still confirm: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feasibility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effort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stakeholder impact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 fontAlgn="t">
              <a:buFont typeface="Arial" panose="020B0604020202020204" pitchFamily="34" charset="0"/>
              <a:buNone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(to emphasize):</a:t>
            </a:r>
          </a:p>
          <a:p>
            <a:pPr marL="0" indent="0" fontAlgn="t">
              <a:buFont typeface="Arial" panose="020B0604020202020204" pitchFamily="34" charset="0"/>
              <a:buNone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designing solutions, it important to analyze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constraints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the company and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 them when choosing the best options/solutions. </a:t>
            </a:r>
          </a:p>
          <a:p>
            <a:pPr marL="0" indent="0" fontAlgn="t">
              <a:buFont typeface="Arial" panose="020B0604020202020204" pitchFamily="34" charset="0"/>
              <a:buNone/>
            </a:pP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 is about designing countermeasures that address the root cause, then selecting one.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phases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 solutions: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“If we had no limits, what options could solve the root cause?”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Decide best option: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“Now we apply constraints and decision criteria to select.”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Constraints and who decides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Constraints come from the client/sponsor/management (budget, legal, tech, capacity).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consultant proposes options, but the sponsor validates constraints and choice.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vs soft constraints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constraints are non-negotiable (e.g., legal, budget cap, cannot change core system).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 constraints are preferences and trade-offs (e.g., comfort, minor workload, timing).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to interpret V / O / X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= valid option (respects hard constraints and fits the scope).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= unclear option (needs stakeholder validation or negotiation on soft constraints).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= rejected option (breaks a hard constraint, so we don’t implement it).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output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end of Step 5, the key output is a 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+ mandate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sponsor approves the selected countermeasure and gives authority to execute.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this mandate, Step 6 (implementation planning) cannot start.</a:t>
            </a:r>
          </a:p>
          <a:p>
            <a:pPr marL="0" indent="0" fontAlgn="t">
              <a:buFont typeface="Arial" panose="020B0604020202020204" pitchFamily="34" charset="0"/>
              <a:buNone/>
            </a:pP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9391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that we have an actionable root cause, we move to Step 5: countermeasures.”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Success criteria (A–D)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A: We propose at least 3 options for the same root cause.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B: We identify hard vs soft constraints set by the client/sponsor.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 We use a feasibility matrix to compare options and choose one.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D: We justify the choice with facts and clear trade-offs.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Exercise (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minutes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3 countermeasures for the root cause.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2 hard constraints + 2 soft constraints.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Fill a quick feasibility matrix (V / O / X).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 one option and prepare a 1-sentence justification.”</a:t>
            </a:r>
          </a:p>
          <a:p>
            <a:endParaRPr lang="en-GB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Debrief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“I’ll ask 2–3 people: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options did you generate?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were your hard constraints?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option did you pick and why?”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“As you answer, I’ll check A–D with you, then I’ll show our proposal.”</a:t>
            </a:r>
          </a:p>
          <a:p>
            <a:endParaRPr lang="en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4477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THOSE CONSTRAINTS: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bound : 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 before Boxing Day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Implied strongly by the case. Boxing Day is a fixed event, with limited time to prepare; the case stresses time pressure and the need for solutions that can be set up upstream.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core IT change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Mostly implied by the case + reinforced by logic. The case pushes governance/alignment over big structural rebuilds (and the trainer doc explicitly says governance doesn’t require new tools/systems).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≤ Budget limit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in the Amazon storytelling as a specific number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(budget is a standard hard constraint, set by sponsor/client).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even warns that budget can be tricky in a fast-training case.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Limits Sales flexibility 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 from the storytelling.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“Any solution would inevitably limit Sales flexibility.” Your rename to “Sales acceptability” is just the positive phrasing of the same trade-off.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Resists bypass under peak stress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 from the storytelling.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file literally says rules get bypassed without buy-in and that solutions enforce rules under peak stress.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 effort / training load</a:t>
            </a:r>
            <a:b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explicitly listed in the storytelling bullets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consistent with your Step 5 criteria (“pragmatic / immediately applicable”) and your Step 6 content includes training/supervisors. So it’s a reasonable soft constraint to compare options.</a:t>
            </a:r>
          </a:p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415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STORYTELLING OF STEP 6 </a:t>
            </a:r>
          </a:p>
          <a:p>
            <a:endParaRPr lang="en-US"/>
          </a:p>
          <a:p>
            <a:pPr fontAlgn="t"/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“Countermeasures have been decided , now it’s time to execute what has been decided </a:t>
            </a: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Companies often have excellent solutions but lack clarity on: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does what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what resources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what level of authority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progress will be communicated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obstacles will be escalated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RACI and Gantt provide structure, visibility, and predictability.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where the organization moves from intention to action.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💼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it matters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processes do not change by themselves — people change them.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step ensures the organization is equipped and aligned to actually implement what was designed.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A concrete plan of who does what and when 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948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RACI and Gantt provide structure, visibility, and predictability.</a:t>
            </a:r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311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STORYTELLING OF STEP 7: </a:t>
            </a:r>
          </a:p>
          <a:p>
            <a:pPr fontAlgn="t"/>
            <a:endParaRPr lang="en-US" sz="1200" b="1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“Improvement is only real if visible.”</a:t>
            </a: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Projects often launch strong and then fade away.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Daily priorities take over.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Teams revert to old habits.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puts discipline in the system: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Touchpoints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loops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detection of deviations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Adjustments when something doesn’t work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keeps management and operational teams aligned on progress.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💼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it matters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without monitoring, even the best implementation loses momentum.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step protects the change until it becomes business as usual.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568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Touchpoints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loops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detection of deviations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Adjustments when something doesn’t work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8225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STORYTELLING OF STEP 8</a:t>
            </a:r>
          </a:p>
          <a:p>
            <a:pPr fontAlgn="t"/>
            <a:endParaRPr lang="en-US" sz="1200" b="1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“Organizations grow by learning”</a:t>
            </a:r>
            <a:endParaRPr lang="en-US" sz="12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delivering results, companies often rush to the next project.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experience is lost, mistakes reappear, and teams repeat the same patterns.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Lessons learned formalize: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worked well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created obstacles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risks really mattered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should be done differently next time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improvements remain open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new opportunities emerged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step converts a project into a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 asset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entire organization.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💼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it matters</a:t>
            </a:r>
            <a:b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this is how companies build maturity, avoid repeating mistakes, and continuously improve their methods and performance.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3564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Briefly summarize each point, and emphasize that these criteria are key in capturing lessons and to </a:t>
            </a:r>
            <a:r>
              <a:rPr lang="en-US" b="1"/>
              <a:t>avoid repeating these mistakes in the future 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9921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B96EFB-7D28-4F64-BDD9-5374A0819114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2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3.pd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d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channel/UCcpKQQL9fiYG8htwFe7cdIw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hyperlink" Target="https://be.linkedin.com/company/intys-partners" TargetMode="External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2.png"/><Relationship Id="rId5" Type="http://schemas.openxmlformats.org/officeDocument/2006/relationships/hyperlink" Target="https://www.instagram.com/intyssers/" TargetMode="External"/><Relationship Id="rId10" Type="http://schemas.openxmlformats.org/officeDocument/2006/relationships/image" Target="../media/image15.svg"/><Relationship Id="rId4" Type="http://schemas.openxmlformats.org/officeDocument/2006/relationships/image" Target="../media/image11.svg"/><Relationship Id="rId9" Type="http://schemas.openxmlformats.org/officeDocument/2006/relationships/image" Target="../media/image14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channel/UCcpKQQL9fiYG8htwFe7cdIw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3.svg"/><Relationship Id="rId2" Type="http://schemas.openxmlformats.org/officeDocument/2006/relationships/hyperlink" Target="https://be.linkedin.com/company/intys-partners" TargetMode="External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2.png"/><Relationship Id="rId5" Type="http://schemas.openxmlformats.org/officeDocument/2006/relationships/hyperlink" Target="https://www.instagram.com/intyssers/" TargetMode="External"/><Relationship Id="rId10" Type="http://schemas.openxmlformats.org/officeDocument/2006/relationships/image" Target="../media/image15.svg"/><Relationship Id="rId4" Type="http://schemas.openxmlformats.org/officeDocument/2006/relationships/image" Target="../media/image11.svg"/><Relationship Id="rId9" Type="http://schemas.openxmlformats.org/officeDocument/2006/relationships/image" Target="../media/image14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laptop&#10;&#10;Description generated with high confidence">
            <a:extLst>
              <a:ext uri="{FF2B5EF4-FFF2-40B4-BE49-F238E27FC236}">
                <a16:creationId xmlns:a16="http://schemas.microsoft.com/office/drawing/2014/main" id="{4E8CF802-EADA-4F23-9038-CA936DBDAA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9" t="1250" r="-21319" b="16252"/>
          <a:stretch/>
        </p:blipFill>
        <p:spPr>
          <a:xfrm>
            <a:off x="72827" y="100799"/>
            <a:ext cx="14472664" cy="6656402"/>
          </a:xfrm>
          <a:prstGeom prst="rect">
            <a:avLst/>
          </a:prstGeom>
        </p:spPr>
      </p:pic>
      <p:sp>
        <p:nvSpPr>
          <p:cNvPr id="13" name="Chord 19">
            <a:extLst>
              <a:ext uri="{FF2B5EF4-FFF2-40B4-BE49-F238E27FC236}">
                <a16:creationId xmlns:a16="http://schemas.microsoft.com/office/drawing/2014/main" id="{DA144E5A-026E-45E2-98F7-A2B2C520A9D8}"/>
              </a:ext>
            </a:extLst>
          </p:cNvPr>
          <p:cNvSpPr/>
          <p:nvPr userDrawn="1"/>
        </p:nvSpPr>
        <p:spPr>
          <a:xfrm rot="5400000">
            <a:off x="5458688" y="124691"/>
            <a:ext cx="1274621" cy="12192003"/>
          </a:xfrm>
          <a:prstGeom prst="rect">
            <a:avLst/>
          </a:prstGeom>
          <a:solidFill>
            <a:schemeClr val="bg1">
              <a:alpha val="6588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B233B3-9D6B-4E0F-AAE1-F302C4E8E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173" y="2494274"/>
            <a:ext cx="9295652" cy="114338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DOCUMENT TITLE</a:t>
            </a:r>
          </a:p>
          <a:p>
            <a:pPr lvl="0"/>
            <a:r>
              <a:rPr lang="fr-FR"/>
              <a:t>ON SEVERAL LINES</a:t>
            </a:r>
            <a:endParaRPr lang="fr-BE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06E79B23-4854-487A-8EF1-E71CC54698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172" y="3960599"/>
            <a:ext cx="9295651" cy="47970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Subheading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C7B5E8-BC0B-407F-9892-6C98BFBB1A92}"/>
              </a:ext>
            </a:extLst>
          </p:cNvPr>
          <p:cNvSpPr/>
          <p:nvPr userDrawn="1"/>
        </p:nvSpPr>
        <p:spPr>
          <a:xfrm>
            <a:off x="0" y="2537621"/>
            <a:ext cx="526774" cy="19026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pic>
        <p:nvPicPr>
          <p:cNvPr id="15" name="Image 15" descr="logo CONSULTING_rvb.png">
            <a:extLst>
              <a:ext uri="{FF2B5EF4-FFF2-40B4-BE49-F238E27FC236}">
                <a16:creationId xmlns:a16="http://schemas.microsoft.com/office/drawing/2014/main" id="{8450BFCD-ADE8-4584-860F-98FA292E49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18618" y="5740633"/>
            <a:ext cx="1438831" cy="7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79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4703E-E92B-4A0C-95BB-31EA63B34488}"/>
              </a:ext>
            </a:extLst>
          </p:cNvPr>
          <p:cNvSpPr/>
          <p:nvPr userDrawn="1"/>
        </p:nvSpPr>
        <p:spPr>
          <a:xfrm>
            <a:off x="0" y="2537621"/>
            <a:ext cx="526774" cy="19026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39872C31-C9AD-4B73-8EC1-4407CBC1D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173" y="2494274"/>
            <a:ext cx="9295652" cy="114338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DOCUMENT TITLE</a:t>
            </a:r>
          </a:p>
          <a:p>
            <a:pPr lvl="0"/>
            <a:r>
              <a:rPr lang="fr-FR"/>
              <a:t>ON SEVERAL LINES</a:t>
            </a:r>
            <a:endParaRPr lang="fr-BE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02966435-D58D-44AD-AD27-C8F32CD31F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5172" y="3960599"/>
            <a:ext cx="9295651" cy="47970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Subheading</a:t>
            </a:r>
          </a:p>
        </p:txBody>
      </p:sp>
      <p:pic>
        <p:nvPicPr>
          <p:cNvPr id="12" name="Image 15" descr="logo CONSULTING_rvb.png">
            <a:extLst>
              <a:ext uri="{FF2B5EF4-FFF2-40B4-BE49-F238E27FC236}">
                <a16:creationId xmlns:a16="http://schemas.microsoft.com/office/drawing/2014/main" id="{23B61E29-8700-45CB-9AD0-E8A607968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8299" y="5651153"/>
            <a:ext cx="1572284" cy="8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5" descr="logo CONSULTING_rvb.png">
            <a:extLst>
              <a:ext uri="{FF2B5EF4-FFF2-40B4-BE49-F238E27FC236}">
                <a16:creationId xmlns:a16="http://schemas.microsoft.com/office/drawing/2014/main" id="{9E75471E-3815-4B78-BF8E-B6D7BC048A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0085" y="6144601"/>
            <a:ext cx="1260000" cy="6982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FB303A9-2881-4FF8-9E33-AB80EA5B6994}"/>
              </a:ext>
            </a:extLst>
          </p:cNvPr>
          <p:cNvSpPr/>
          <p:nvPr userDrawn="1"/>
        </p:nvSpPr>
        <p:spPr>
          <a:xfrm>
            <a:off x="0" y="353399"/>
            <a:ext cx="226800" cy="7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2A8B43-FC5C-47AB-9A5A-7F278BAE3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170" y="353399"/>
            <a:ext cx="11079163" cy="777639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br>
              <a:rPr lang="fr-FR"/>
            </a:br>
            <a:r>
              <a:rPr lang="fr-FR"/>
              <a:t>AGENDA</a:t>
            </a:r>
            <a:br>
              <a:rPr lang="fr-FR"/>
            </a:br>
            <a:endParaRPr lang="fr-BE"/>
          </a:p>
        </p:txBody>
      </p:sp>
      <p:sp>
        <p:nvSpPr>
          <p:cNvPr id="15" name="Espace réservé du texte 20">
            <a:extLst>
              <a:ext uri="{FF2B5EF4-FFF2-40B4-BE49-F238E27FC236}">
                <a16:creationId xmlns:a16="http://schemas.microsoft.com/office/drawing/2014/main" id="{589FA6A4-8F95-401D-B3E7-183344CF1C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0225" y="1652162"/>
            <a:ext cx="11079108" cy="4183063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fr-FR"/>
              <a:t>Section 1</a:t>
            </a:r>
          </a:p>
          <a:p>
            <a:pPr lvl="0"/>
            <a:r>
              <a:rPr lang="fr-FR"/>
              <a:t>Section 2 </a:t>
            </a:r>
          </a:p>
          <a:p>
            <a:pPr lvl="0"/>
            <a:r>
              <a:rPr lang="fr-FR"/>
              <a:t>Section 3</a:t>
            </a:r>
          </a:p>
          <a:p>
            <a:pPr lvl="0"/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0B5FBB99-A59C-4DD7-A960-3B1EDE3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9046" y="6481886"/>
            <a:ext cx="553679" cy="409575"/>
          </a:xfrm>
          <a:prstGeom prst="rect">
            <a:avLst/>
          </a:prstGeom>
        </p:spPr>
        <p:txBody>
          <a:bodyPr/>
          <a:lstStyle/>
          <a:p>
            <a:fld id="{DB8C4846-369E-4E02-8BDF-BA1EA833FF59}" type="slidenum">
              <a:rPr lang="fr-BE" smtClean="0"/>
              <a:t>‹N°›</a:t>
            </a:fld>
            <a:endParaRPr lang="fr-BE"/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67694933-3408-4763-9668-2EC16716E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4601"/>
            <a:ext cx="1344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BF353C"/>
                </a:solidFill>
              </a:defRPr>
            </a:lvl1pPr>
          </a:lstStyle>
          <a:p>
            <a:r>
              <a:rPr lang="fr-FR"/>
              <a:t>CONFIDENTIAL</a:t>
            </a:r>
            <a:endParaRPr lang="fr-BE"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2F221261-10B0-4F4B-AAD8-7B2E1D67C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46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Document Title - DD/MM/YY </a:t>
            </a:r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349238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A20469-04E5-4358-89FA-B922D633A777}"/>
              </a:ext>
            </a:extLst>
          </p:cNvPr>
          <p:cNvSpPr/>
          <p:nvPr userDrawn="1"/>
        </p:nvSpPr>
        <p:spPr>
          <a:xfrm>
            <a:off x="0" y="2477660"/>
            <a:ext cx="526774" cy="19026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A0030FC2-4B9C-46F2-AEE6-4BF13B3E9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5173" y="2477661"/>
            <a:ext cx="9295652" cy="190268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6A48E0B7-4742-49A7-95C8-B848FD20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9046" y="6481886"/>
            <a:ext cx="553679" cy="409575"/>
          </a:xfrm>
          <a:prstGeom prst="rect">
            <a:avLst/>
          </a:prstGeom>
        </p:spPr>
        <p:txBody>
          <a:bodyPr/>
          <a:lstStyle/>
          <a:p>
            <a:fld id="{DB8C4846-369E-4E02-8BDF-BA1EA833FF59}" type="slidenum">
              <a:rPr lang="fr-BE" smtClean="0"/>
              <a:t>‹N°›</a:t>
            </a:fld>
            <a:endParaRPr lang="fr-BE"/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A5D9F35F-3AED-4B98-AE85-78E1519F8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4601"/>
            <a:ext cx="1344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BF353C"/>
                </a:solidFill>
              </a:defRPr>
            </a:lvl1pPr>
          </a:lstStyle>
          <a:p>
            <a:r>
              <a:rPr lang="fr-FR"/>
              <a:t>CONFIDENTIAL</a:t>
            </a:r>
            <a:endParaRPr lang="fr-BE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39128057-A6EE-4B4A-B7F0-A4AD4A229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46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Document Title - DD/MM/YY </a:t>
            </a:r>
            <a:endParaRPr lang="en-IE" noProof="0"/>
          </a:p>
        </p:txBody>
      </p:sp>
      <p:pic>
        <p:nvPicPr>
          <p:cNvPr id="12" name="Image 15" descr="logo CONSULTING_rvb.png">
            <a:extLst>
              <a:ext uri="{FF2B5EF4-FFF2-40B4-BE49-F238E27FC236}">
                <a16:creationId xmlns:a16="http://schemas.microsoft.com/office/drawing/2014/main" id="{301DC766-C84C-44BB-A20F-1E613A4285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0085" y="6144601"/>
            <a:ext cx="1260000" cy="6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0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E30617E7-7218-49AD-89BE-FC54E6EBCA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170" y="353399"/>
            <a:ext cx="11079163" cy="777639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SLIDE TITLE</a:t>
            </a:r>
            <a:endParaRPr lang="fr-BE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A6C5C476-DD15-4B89-A796-293C1DC399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0225" y="1652162"/>
            <a:ext cx="11079108" cy="418306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352418-6ED1-49C9-AE56-B30A080E2E7E}"/>
              </a:ext>
            </a:extLst>
          </p:cNvPr>
          <p:cNvSpPr/>
          <p:nvPr userDrawn="1"/>
        </p:nvSpPr>
        <p:spPr>
          <a:xfrm>
            <a:off x="0" y="353399"/>
            <a:ext cx="226800" cy="7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D327C895-FEFA-47F3-B426-F86084B2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9046" y="6481886"/>
            <a:ext cx="553679" cy="409575"/>
          </a:xfrm>
          <a:prstGeom prst="rect">
            <a:avLst/>
          </a:prstGeom>
        </p:spPr>
        <p:txBody>
          <a:bodyPr/>
          <a:lstStyle/>
          <a:p>
            <a:fld id="{DB8C4846-369E-4E02-8BDF-BA1EA833FF59}" type="slidenum">
              <a:rPr lang="fr-BE" smtClean="0"/>
              <a:t>‹N°›</a:t>
            </a:fld>
            <a:endParaRPr lang="fr-BE"/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9A134920-E309-4FE2-9EB2-493E50027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4601"/>
            <a:ext cx="1344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BF353C"/>
                </a:solidFill>
              </a:defRPr>
            </a:lvl1pPr>
          </a:lstStyle>
          <a:p>
            <a:r>
              <a:rPr lang="fr-FR"/>
              <a:t>CONFIDENTIAL</a:t>
            </a:r>
            <a:endParaRPr lang="fr-BE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995DCE04-DEE9-4411-9552-07FFEAE8C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46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Document Title - DD/MM/YY </a:t>
            </a:r>
            <a:endParaRPr lang="en-IE" noProof="0"/>
          </a:p>
        </p:txBody>
      </p:sp>
      <p:pic>
        <p:nvPicPr>
          <p:cNvPr id="13" name="Image 15" descr="logo CONSULTING_rvb.png">
            <a:extLst>
              <a:ext uri="{FF2B5EF4-FFF2-40B4-BE49-F238E27FC236}">
                <a16:creationId xmlns:a16="http://schemas.microsoft.com/office/drawing/2014/main" id="{68B7E19C-A2B6-4A8C-9A14-E5F5808102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0085" y="6144601"/>
            <a:ext cx="1260000" cy="6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3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E30617E7-7218-49AD-89BE-FC54E6EBCA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170" y="353399"/>
            <a:ext cx="11079163" cy="777639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SLIDE TITLE</a:t>
            </a:r>
            <a:endParaRPr lang="fr-B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2CDE84-9FC0-4E5D-AC0C-DDC6C1954CBD}"/>
              </a:ext>
            </a:extLst>
          </p:cNvPr>
          <p:cNvSpPr/>
          <p:nvPr userDrawn="1"/>
        </p:nvSpPr>
        <p:spPr>
          <a:xfrm>
            <a:off x="7988301" y="1658249"/>
            <a:ext cx="3788832" cy="2063220"/>
          </a:xfrm>
          <a:prstGeom prst="rect">
            <a:avLst/>
          </a:prstGeom>
          <a:solidFill>
            <a:srgbClr val="DDD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E8D02E-7C52-43E2-B541-93F8CD48E049}"/>
              </a:ext>
            </a:extLst>
          </p:cNvPr>
          <p:cNvSpPr/>
          <p:nvPr userDrawn="1"/>
        </p:nvSpPr>
        <p:spPr>
          <a:xfrm>
            <a:off x="8181900" y="1919416"/>
            <a:ext cx="162000" cy="3865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4FF99DC-77EB-4B52-9F89-6B0E24424B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81710" y="2428564"/>
            <a:ext cx="3402013" cy="769938"/>
          </a:xfrm>
          <a:ln w="28575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Insert </a:t>
            </a:r>
            <a:r>
              <a:rPr lang="fr-FR" err="1"/>
              <a:t>text</a:t>
            </a:r>
            <a:endParaRPr lang="fr-BE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D42676B0-A75E-44EB-95E1-69239760D1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43900" y="1920187"/>
            <a:ext cx="3265488" cy="385762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tx2"/>
                </a:solidFill>
              </a:defRPr>
            </a:lvl2pPr>
            <a:lvl3pPr marL="914400" indent="0">
              <a:buNone/>
              <a:defRPr sz="1600" b="1">
                <a:solidFill>
                  <a:schemeClr val="tx2"/>
                </a:solidFill>
              </a:defRPr>
            </a:lvl3pPr>
            <a:lvl4pPr marL="1371600" indent="0">
              <a:buNone/>
              <a:defRPr sz="1600" b="1">
                <a:solidFill>
                  <a:schemeClr val="tx2"/>
                </a:solidFill>
              </a:defRPr>
            </a:lvl4pPr>
            <a:lvl5pPr marL="1828800" indent="0">
              <a:buNone/>
              <a:defRPr sz="16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fr-FR" err="1"/>
              <a:t>Subheading</a:t>
            </a:r>
            <a:endParaRPr lang="fr-BE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A6C5C476-DD15-4B89-A796-293C1DC399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0225" y="1652162"/>
            <a:ext cx="7289800" cy="418306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  <a:lvl2pPr>
              <a:defRPr sz="1800">
                <a:solidFill>
                  <a:schemeClr val="tx1"/>
                </a:solidFill>
                <a:latin typeface="+mn-lt"/>
              </a:defRPr>
            </a:lvl2pPr>
            <a:lvl3pPr>
              <a:defRPr sz="1600">
                <a:solidFill>
                  <a:schemeClr val="tx1"/>
                </a:solidFill>
                <a:latin typeface="+mn-lt"/>
              </a:defRPr>
            </a:lvl3pPr>
            <a:lvl4pPr>
              <a:defRPr sz="1400">
                <a:solidFill>
                  <a:schemeClr val="tx1"/>
                </a:solidFill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7DB051-C723-49A9-B03F-F17FB65B4DF1}"/>
              </a:ext>
            </a:extLst>
          </p:cNvPr>
          <p:cNvSpPr/>
          <p:nvPr userDrawn="1"/>
        </p:nvSpPr>
        <p:spPr>
          <a:xfrm>
            <a:off x="0" y="353399"/>
            <a:ext cx="226800" cy="7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A172A941-078F-4E5C-8874-F5AE2A33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9046" y="6481886"/>
            <a:ext cx="553679" cy="409575"/>
          </a:xfrm>
          <a:prstGeom prst="rect">
            <a:avLst/>
          </a:prstGeom>
        </p:spPr>
        <p:txBody>
          <a:bodyPr/>
          <a:lstStyle/>
          <a:p>
            <a:fld id="{DB8C4846-369E-4E02-8BDF-BA1EA833FF59}" type="slidenum">
              <a:rPr lang="fr-BE" smtClean="0"/>
              <a:t>‹N°›</a:t>
            </a:fld>
            <a:endParaRPr lang="fr-BE"/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54BD3A78-BE90-4CC6-A234-AC07506CB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4601"/>
            <a:ext cx="1344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BF353C"/>
                </a:solidFill>
              </a:defRPr>
            </a:lvl1pPr>
          </a:lstStyle>
          <a:p>
            <a:r>
              <a:rPr lang="fr-FR"/>
              <a:t>CONFIDENTIAL</a:t>
            </a:r>
            <a:endParaRPr lang="fr-BE"/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F0D14CE7-AF45-40A2-8716-E524A317C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46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Document Title - DD/MM/YY </a:t>
            </a:r>
            <a:endParaRPr lang="en-IE" noProof="0"/>
          </a:p>
        </p:txBody>
      </p:sp>
      <p:pic>
        <p:nvPicPr>
          <p:cNvPr id="18" name="Image 15" descr="logo CONSULTING_rvb.png">
            <a:extLst>
              <a:ext uri="{FF2B5EF4-FFF2-40B4-BE49-F238E27FC236}">
                <a16:creationId xmlns:a16="http://schemas.microsoft.com/office/drawing/2014/main" id="{A0C8B67D-DEAB-459E-BBCD-555B34C367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0085" y="6144601"/>
            <a:ext cx="1260000" cy="6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5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inser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E30617E7-7218-49AD-89BE-FC54E6EBCA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170" y="353399"/>
            <a:ext cx="11079163" cy="777639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SLIDE TITLE</a:t>
            </a:r>
            <a:endParaRPr lang="fr-B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D574FB-937B-4F3D-B9DD-7E19F4A649DA}"/>
              </a:ext>
            </a:extLst>
          </p:cNvPr>
          <p:cNvSpPr/>
          <p:nvPr userDrawn="1"/>
        </p:nvSpPr>
        <p:spPr>
          <a:xfrm>
            <a:off x="3351278" y="1968808"/>
            <a:ext cx="126000" cy="3865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B73714-9604-4EA4-9981-7D1D0446C7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3277" y="1954339"/>
            <a:ext cx="5371447" cy="38576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2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BE" err="1"/>
              <a:t>Subheading</a:t>
            </a:r>
            <a:endParaRPr lang="fr-BE"/>
          </a:p>
        </p:txBody>
      </p:sp>
      <p:sp>
        <p:nvSpPr>
          <p:cNvPr id="5" name="Espace réservé du tableau 4">
            <a:extLst>
              <a:ext uri="{FF2B5EF4-FFF2-40B4-BE49-F238E27FC236}">
                <a16:creationId xmlns:a16="http://schemas.microsoft.com/office/drawing/2014/main" id="{57A5762E-266A-445B-A9CC-6748F655E103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45804" y="3162631"/>
            <a:ext cx="11079163" cy="198465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BE"/>
              <a:t>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5AB01B-1D31-4B28-80BA-7EC5BB24CD22}"/>
              </a:ext>
            </a:extLst>
          </p:cNvPr>
          <p:cNvSpPr/>
          <p:nvPr userDrawn="1"/>
        </p:nvSpPr>
        <p:spPr>
          <a:xfrm>
            <a:off x="0" y="353399"/>
            <a:ext cx="226800" cy="7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BD7B0F4F-8D9B-414C-9950-43B0D4387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9046" y="6481886"/>
            <a:ext cx="553679" cy="409575"/>
          </a:xfrm>
          <a:prstGeom prst="rect">
            <a:avLst/>
          </a:prstGeom>
        </p:spPr>
        <p:txBody>
          <a:bodyPr/>
          <a:lstStyle/>
          <a:p>
            <a:fld id="{DB8C4846-369E-4E02-8BDF-BA1EA833FF59}" type="slidenum">
              <a:rPr lang="fr-BE" smtClean="0"/>
              <a:t>‹N°›</a:t>
            </a:fld>
            <a:endParaRPr lang="fr-BE"/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E2CFF24C-442B-4594-96BE-5A43FB817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4601"/>
            <a:ext cx="1344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BF353C"/>
                </a:solidFill>
              </a:defRPr>
            </a:lvl1pPr>
          </a:lstStyle>
          <a:p>
            <a:r>
              <a:rPr lang="fr-FR"/>
              <a:t>CONFIDENTIAL</a:t>
            </a:r>
            <a:endParaRPr lang="fr-BE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CC6957F6-5C72-4331-8F45-292682FDF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46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Document Title - DD/MM/YY </a:t>
            </a:r>
            <a:endParaRPr lang="en-IE" noProof="0"/>
          </a:p>
        </p:txBody>
      </p:sp>
      <p:pic>
        <p:nvPicPr>
          <p:cNvPr id="15" name="Image 15" descr="logo CONSULTING_rvb.png">
            <a:extLst>
              <a:ext uri="{FF2B5EF4-FFF2-40B4-BE49-F238E27FC236}">
                <a16:creationId xmlns:a16="http://schemas.microsoft.com/office/drawing/2014/main" id="{E5172188-251E-43E3-82EA-D60D7E6D1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0085" y="6144601"/>
            <a:ext cx="1260000" cy="6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8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cc.pdf">
            <a:extLst>
              <a:ext uri="{FF2B5EF4-FFF2-40B4-BE49-F238E27FC236}">
                <a16:creationId xmlns:a16="http://schemas.microsoft.com/office/drawing/2014/main" id="{8C16101E-273C-4DB1-A140-ED1AC5C16A3E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-592663" y="-387048"/>
            <a:ext cx="9990664" cy="7433733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423B38-D69E-47CD-AEAA-93893BD32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91799" y="1652162"/>
            <a:ext cx="4114800" cy="4183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05FFF517-71A0-4DDD-B2E1-3F62702F82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0170" y="353399"/>
            <a:ext cx="11079163" cy="777639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BE"/>
              <a:t>SLIDE TITLE</a:t>
            </a:r>
          </a:p>
        </p:txBody>
      </p:sp>
      <p:sp>
        <p:nvSpPr>
          <p:cNvPr id="15" name="Espace réservé du texte 20">
            <a:extLst>
              <a:ext uri="{FF2B5EF4-FFF2-40B4-BE49-F238E27FC236}">
                <a16:creationId xmlns:a16="http://schemas.microsoft.com/office/drawing/2014/main" id="{1B64B612-C031-4410-877D-492031C19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0225" y="1652162"/>
            <a:ext cx="3658317" cy="418306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  <a:lvl2pPr>
              <a:defRPr sz="1800">
                <a:solidFill>
                  <a:schemeClr val="bg1"/>
                </a:solidFill>
                <a:latin typeface="+mn-lt"/>
              </a:defRPr>
            </a:lvl2pPr>
            <a:lvl3pPr>
              <a:defRPr sz="16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3FE96F-1B2C-47FB-9AB7-BD89F07E95C5}"/>
              </a:ext>
            </a:extLst>
          </p:cNvPr>
          <p:cNvSpPr/>
          <p:nvPr userDrawn="1"/>
        </p:nvSpPr>
        <p:spPr>
          <a:xfrm>
            <a:off x="0" y="353399"/>
            <a:ext cx="226800" cy="7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B486E201-946A-4EFD-8E4C-1510625D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9046" y="6481886"/>
            <a:ext cx="553679" cy="409575"/>
          </a:xfrm>
          <a:prstGeom prst="rect">
            <a:avLst/>
          </a:prstGeom>
        </p:spPr>
        <p:txBody>
          <a:bodyPr/>
          <a:lstStyle/>
          <a:p>
            <a:fld id="{DB8C4846-369E-4E02-8BDF-BA1EA833FF59}" type="slidenum">
              <a:rPr lang="fr-BE" smtClean="0"/>
              <a:t>‹N°›</a:t>
            </a:fld>
            <a:endParaRPr lang="fr-BE"/>
          </a:p>
        </p:txBody>
      </p:sp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C5C23177-54E7-4009-AF3F-46D65B2E0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4601"/>
            <a:ext cx="1344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fr-FR"/>
              <a:t>CONFIDENTIAL</a:t>
            </a:r>
            <a:endParaRPr lang="fr-BE"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6DF870EA-D5AF-4CA0-8D8E-752C32ECF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46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Document Title - DD/MM/YY </a:t>
            </a:r>
            <a:endParaRPr lang="en-IE" noProof="0"/>
          </a:p>
        </p:txBody>
      </p:sp>
      <p:pic>
        <p:nvPicPr>
          <p:cNvPr id="16" name="Image 15" descr="logo CONSULTING_rvb.png">
            <a:extLst>
              <a:ext uri="{FF2B5EF4-FFF2-40B4-BE49-F238E27FC236}">
                <a16:creationId xmlns:a16="http://schemas.microsoft.com/office/drawing/2014/main" id="{C7E68DD0-D0FE-4E11-909C-F7539DED6E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10085" y="6144601"/>
            <a:ext cx="1260000" cy="69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7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73272D-6E36-4A91-876A-F7DECE03BAC0}"/>
              </a:ext>
            </a:extLst>
          </p:cNvPr>
          <p:cNvSpPr/>
          <p:nvPr userDrawn="1"/>
        </p:nvSpPr>
        <p:spPr>
          <a:xfrm>
            <a:off x="7321582" y="-11726"/>
            <a:ext cx="4870418" cy="68697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022FA-B04F-44C1-A07D-04DFC8728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DB8C4846-369E-4E02-8BDF-BA1EA833FF59}" type="slidenum">
              <a:rPr lang="fr-BE" smtClean="0"/>
              <a:pPr algn="ctr"/>
              <a:t>‹N°›</a:t>
            </a:fld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4CD2A-012A-4060-BFE4-195DFB66937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fr-FR"/>
              <a:t>CONFIDENTIAL</a:t>
            </a:r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1E805-8FA1-4DDA-9057-87EB05C557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E"/>
              <a:t>Document Title - DD/MM/YY </a:t>
            </a:r>
            <a:endParaRPr lang="en-IE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8DD8B1-B597-4A4A-BA9B-3030070AF8CF}"/>
              </a:ext>
            </a:extLst>
          </p:cNvPr>
          <p:cNvSpPr/>
          <p:nvPr userDrawn="1"/>
        </p:nvSpPr>
        <p:spPr bwMode="auto">
          <a:xfrm>
            <a:off x="6806720" y="4066792"/>
            <a:ext cx="1029723" cy="99652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x-none">
              <a:solidFill>
                <a:srgbClr val="D12B2F"/>
              </a:solidFill>
              <a:highlight>
                <a:srgbClr val="FFFF00"/>
              </a:highlight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B9E79A-2249-46A2-92F8-83AFA28C9DE1}"/>
              </a:ext>
            </a:extLst>
          </p:cNvPr>
          <p:cNvSpPr/>
          <p:nvPr userDrawn="1"/>
        </p:nvSpPr>
        <p:spPr bwMode="auto">
          <a:xfrm>
            <a:off x="6793909" y="2902678"/>
            <a:ext cx="1055345" cy="99652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x-none">
              <a:solidFill>
                <a:srgbClr val="D12B2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2D399AC-97BB-40BF-B59C-9A3FB39C7781}"/>
              </a:ext>
            </a:extLst>
          </p:cNvPr>
          <p:cNvSpPr/>
          <p:nvPr userDrawn="1"/>
        </p:nvSpPr>
        <p:spPr bwMode="auto">
          <a:xfrm>
            <a:off x="6793909" y="1770600"/>
            <a:ext cx="1055345" cy="100572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x-none" b="1"/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C8E60E31-E9BE-4F32-98E6-61604D3A49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170" y="353399"/>
            <a:ext cx="6263739" cy="777639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SLIDE TITLE</a:t>
            </a:r>
            <a:endParaRPr lang="fr-B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6D4751-16F6-484B-A03B-F31F136E322D}"/>
              </a:ext>
            </a:extLst>
          </p:cNvPr>
          <p:cNvSpPr/>
          <p:nvPr userDrawn="1"/>
        </p:nvSpPr>
        <p:spPr>
          <a:xfrm>
            <a:off x="0" y="353399"/>
            <a:ext cx="226800" cy="7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C141C44-00B8-4BD3-8F96-B925B955AC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170" y="1770600"/>
            <a:ext cx="5543550" cy="42068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28" name="Content Placeholder 26">
            <a:extLst>
              <a:ext uri="{FF2B5EF4-FFF2-40B4-BE49-F238E27FC236}">
                <a16:creationId xmlns:a16="http://schemas.microsoft.com/office/drawing/2014/main" id="{7436E4D6-EA58-4051-88F2-CB970572B6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77382" y="1770600"/>
            <a:ext cx="3823466" cy="42068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pic>
        <p:nvPicPr>
          <p:cNvPr id="16" name="Image 7" descr="logo CONSULTING_blanc_cmjn.pdf">
            <a:extLst>
              <a:ext uri="{FF2B5EF4-FFF2-40B4-BE49-F238E27FC236}">
                <a16:creationId xmlns:a16="http://schemas.microsoft.com/office/drawing/2014/main" id="{2AAE5085-D59B-4529-9B12-A2F209F0E8CA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a="http://schemas.microsoft.com/office/mac/drawingml/2008/main" xmlns:mv="urn:schemas-microsoft-com:mac:vml" xmlns:lc="http://schemas.openxmlformats.org/drawingml/2006/lockedCanvas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0257212" y="6099710"/>
            <a:ext cx="1312873" cy="76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3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252F0D-7808-4F39-8237-87704A659BF7}"/>
              </a:ext>
            </a:extLst>
          </p:cNvPr>
          <p:cNvSpPr/>
          <p:nvPr userDrawn="1"/>
        </p:nvSpPr>
        <p:spPr>
          <a:xfrm>
            <a:off x="5374891" y="2010933"/>
            <a:ext cx="4898572" cy="31481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9961FCF-F106-4C14-9107-B5AE878292F4}"/>
              </a:ext>
            </a:extLst>
          </p:cNvPr>
          <p:cNvSpPr txBox="1">
            <a:spLocks/>
          </p:cNvSpPr>
          <p:nvPr userDrawn="1"/>
        </p:nvSpPr>
        <p:spPr>
          <a:xfrm>
            <a:off x="413036" y="590492"/>
            <a:ext cx="11414897" cy="4519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defTabSz="457200">
              <a:spcBef>
                <a:spcPct val="0"/>
              </a:spcBef>
              <a:defRPr/>
            </a:pPr>
            <a:r>
              <a:rPr lang="en-IE" sz="2800" b="1" cap="all" noProof="0">
                <a:solidFill>
                  <a:schemeClr val="tx1"/>
                </a:solidFill>
                <a:latin typeface="Ebrima"/>
                <a:ea typeface="헤드라인A"/>
                <a:cs typeface="Ebrima"/>
              </a:rPr>
              <a:t>Thank you for your attention</a:t>
            </a:r>
            <a:endParaRPr lang="en-IE" b="1" cap="all" noProof="0">
              <a:solidFill>
                <a:schemeClr val="tx1"/>
              </a:solidFill>
              <a:latin typeface="Ebrima"/>
              <a:ea typeface="헤드라인A"/>
              <a:cs typeface="Ebrima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8E6E535-870D-4285-BEEB-5E0F0EE7A32F}"/>
              </a:ext>
            </a:extLst>
          </p:cNvPr>
          <p:cNvSpPr txBox="1"/>
          <p:nvPr userDrawn="1"/>
        </p:nvSpPr>
        <p:spPr>
          <a:xfrm>
            <a:off x="5595838" y="4262644"/>
            <a:ext cx="2466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tx2"/>
                </a:solidFill>
                <a:latin typeface="Verdana"/>
                <a:cs typeface="Verdana"/>
              </a:rPr>
              <a:t>Avenue de Tervuren 270</a:t>
            </a:r>
          </a:p>
          <a:p>
            <a:r>
              <a:rPr lang="fr-FR" sz="1200">
                <a:solidFill>
                  <a:schemeClr val="tx2"/>
                </a:solidFill>
                <a:latin typeface="Verdana"/>
                <a:cs typeface="Verdana"/>
              </a:rPr>
              <a:t>B – 1150 Bruxelles</a:t>
            </a:r>
          </a:p>
          <a:p>
            <a:r>
              <a:rPr lang="fr-FR" sz="1200">
                <a:solidFill>
                  <a:schemeClr val="tx2"/>
                </a:solidFill>
                <a:latin typeface="Verdana"/>
                <a:cs typeface="Verdana"/>
              </a:rPr>
              <a:t>Belgique</a:t>
            </a:r>
          </a:p>
          <a:p>
            <a:r>
              <a:rPr lang="fr-FR" sz="1200" err="1">
                <a:solidFill>
                  <a:schemeClr val="tx2"/>
                </a:solidFill>
                <a:latin typeface="Verdana"/>
                <a:cs typeface="Verdana"/>
              </a:rPr>
              <a:t>www.intys.eu</a:t>
            </a:r>
            <a:endParaRPr lang="fr-FR" sz="800">
              <a:solidFill>
                <a:schemeClr val="tx2"/>
              </a:solidFill>
              <a:latin typeface="Verdana"/>
              <a:cs typeface="Verdana"/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0A3A0E8D-B736-45FE-BD0F-BA4CCE40B163}"/>
              </a:ext>
            </a:extLst>
          </p:cNvPr>
          <p:cNvSpPr txBox="1">
            <a:spLocks/>
          </p:cNvSpPr>
          <p:nvPr userDrawn="1"/>
        </p:nvSpPr>
        <p:spPr>
          <a:xfrm>
            <a:off x="765325" y="3393260"/>
            <a:ext cx="4213076" cy="3932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brima"/>
                <a:ea typeface="헤드라인A"/>
                <a:cs typeface="Ebrima"/>
              </a:rPr>
              <a:t>If you have any questions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88CE12-1B2E-4249-9A17-9F5C69D3A1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3482" y="3710492"/>
            <a:ext cx="4240015" cy="283632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fr-BE"/>
              <a:t>M : </a:t>
            </a:r>
            <a:r>
              <a:rPr lang="fr-FR" sz="1200">
                <a:solidFill>
                  <a:srgbClr val="45423B"/>
                </a:solidFill>
                <a:latin typeface="Verdana"/>
                <a:cs typeface="Verdana"/>
              </a:rPr>
              <a:t>+32 460 XX </a:t>
            </a:r>
            <a:r>
              <a:rPr lang="fr-FR" sz="1200" err="1">
                <a:solidFill>
                  <a:srgbClr val="45423B"/>
                </a:solidFill>
                <a:latin typeface="Verdana"/>
                <a:cs typeface="Verdana"/>
              </a:rPr>
              <a:t>XX</a:t>
            </a:r>
            <a:r>
              <a:rPr lang="fr-FR" sz="1200">
                <a:solidFill>
                  <a:srgbClr val="45423B"/>
                </a:solidFill>
                <a:latin typeface="Verdana"/>
                <a:cs typeface="Verdana"/>
              </a:rPr>
              <a:t> </a:t>
            </a:r>
            <a:r>
              <a:rPr lang="fr-FR" sz="1200" err="1">
                <a:solidFill>
                  <a:srgbClr val="45423B"/>
                </a:solidFill>
                <a:latin typeface="Verdana"/>
                <a:cs typeface="Verdana"/>
              </a:rPr>
              <a:t>XX</a:t>
            </a:r>
            <a:endParaRPr lang="fr-BE"/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07F9ADEA-C24D-4B4F-9C50-F78D01BB7C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3482" y="3501667"/>
            <a:ext cx="4240015" cy="283632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fr-BE"/>
              <a:t>T : </a:t>
            </a:r>
            <a:r>
              <a:rPr lang="fr-FR" sz="1200">
                <a:solidFill>
                  <a:srgbClr val="45423B"/>
                </a:solidFill>
                <a:latin typeface="Verdana"/>
                <a:cs typeface="Verdana"/>
              </a:rPr>
              <a:t>+32 2 XXX XX </a:t>
            </a:r>
            <a:r>
              <a:rPr lang="fr-FR" sz="1200" err="1">
                <a:solidFill>
                  <a:srgbClr val="45423B"/>
                </a:solidFill>
                <a:latin typeface="Verdana"/>
                <a:cs typeface="Verdana"/>
              </a:rPr>
              <a:t>XX</a:t>
            </a:r>
            <a:endParaRPr lang="fr-BE"/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A44FA18E-D09E-4E06-96EC-01B6C5C5DB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3482" y="3919317"/>
            <a:ext cx="4240015" cy="283632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fr-BE"/>
              <a:t>email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364FCF-7ACF-426D-B087-A785207CEE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74106" y="2840101"/>
            <a:ext cx="2492836" cy="325652"/>
          </a:xfrm>
        </p:spPr>
        <p:txBody>
          <a:bodyPr>
            <a:noAutofit/>
          </a:bodyPr>
          <a:lstStyle>
            <a:lvl1pPr marL="0" indent="0" algn="r">
              <a:buNone/>
              <a:defRPr sz="1800" b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fr-BE"/>
              <a:t>John Doe</a:t>
            </a:r>
            <a:br>
              <a:rPr lang="fr-BE"/>
            </a:br>
            <a:endParaRPr lang="fr-BE"/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213266A1-1D04-4CA0-BD75-E7E800599A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74106" y="3140253"/>
            <a:ext cx="2492836" cy="210038"/>
          </a:xfrm>
        </p:spPr>
        <p:txBody>
          <a:bodyPr>
            <a:noAutofit/>
          </a:bodyPr>
          <a:lstStyle>
            <a:lvl1pPr marL="0" indent="0" algn="r">
              <a:buNone/>
              <a:defRPr sz="1100" b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IE" noProof="0"/>
              <a:t>Business Developer</a:t>
            </a:r>
            <a:br>
              <a:rPr lang="en-IE" noProof="0"/>
            </a:br>
            <a:endParaRPr lang="en-IE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493AB-BA3E-4AF9-AC6C-CD00664B2526}"/>
              </a:ext>
            </a:extLst>
          </p:cNvPr>
          <p:cNvSpPr/>
          <p:nvPr userDrawn="1"/>
        </p:nvSpPr>
        <p:spPr>
          <a:xfrm>
            <a:off x="0" y="353399"/>
            <a:ext cx="226800" cy="7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0BCCF036-8C96-44ED-99E6-6F4EFDD502C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99046" y="6481886"/>
            <a:ext cx="553679" cy="409575"/>
          </a:xfrm>
          <a:prstGeom prst="rect">
            <a:avLst/>
          </a:prstGeom>
        </p:spPr>
        <p:txBody>
          <a:bodyPr/>
          <a:lstStyle/>
          <a:p>
            <a:fld id="{DB8C4846-369E-4E02-8BDF-BA1EA833FF59}" type="slidenum">
              <a:rPr lang="fr-BE" smtClean="0"/>
              <a:t>‹N°›</a:t>
            </a:fld>
            <a:endParaRPr lang="fr-BE"/>
          </a:p>
        </p:txBody>
      </p:sp>
      <p:sp>
        <p:nvSpPr>
          <p:cNvPr id="20" name="Espace réservé de la date 3">
            <a:extLst>
              <a:ext uri="{FF2B5EF4-FFF2-40B4-BE49-F238E27FC236}">
                <a16:creationId xmlns:a16="http://schemas.microsoft.com/office/drawing/2014/main" id="{E1D1AFBC-2833-4A81-AD02-B6BB438B4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4601"/>
            <a:ext cx="1344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BF353C"/>
                </a:solidFill>
              </a:defRPr>
            </a:lvl1pPr>
          </a:lstStyle>
          <a:p>
            <a:r>
              <a:rPr lang="fr-FR"/>
              <a:t>CONFIDENTIAL</a:t>
            </a:r>
            <a:endParaRPr lang="fr-BE"/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1DE4B5A8-A8D2-4967-8B92-077DB9D1B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46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Document Title - DD/MM/YY </a:t>
            </a:r>
            <a:endParaRPr lang="en-IE" noProof="0"/>
          </a:p>
        </p:txBody>
      </p:sp>
      <p:pic>
        <p:nvPicPr>
          <p:cNvPr id="21" name="Image 15" descr="logo CONSULTING_rvb.png">
            <a:extLst>
              <a:ext uri="{FF2B5EF4-FFF2-40B4-BE49-F238E27FC236}">
                <a16:creationId xmlns:a16="http://schemas.microsoft.com/office/drawing/2014/main" id="{93A85B5D-C0CA-4763-A5E3-23187A6D6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0085" y="6144601"/>
            <a:ext cx="1260000" cy="698250"/>
          </a:xfrm>
          <a:prstGeom prst="rect">
            <a:avLst/>
          </a:prstGeom>
        </p:spPr>
      </p:pic>
      <p:pic>
        <p:nvPicPr>
          <p:cNvPr id="25" name="Image 15" descr="logo CONSULTING_rvb.png">
            <a:extLst>
              <a:ext uri="{FF2B5EF4-FFF2-40B4-BE49-F238E27FC236}">
                <a16:creationId xmlns:a16="http://schemas.microsoft.com/office/drawing/2014/main" id="{79547ACF-AFBF-4A2B-A38F-887EB2B8F5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59337" y="2181366"/>
            <a:ext cx="1730323" cy="95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5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ention en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ptop&#10;&#10;Description generated with high confidence">
            <a:extLst>
              <a:ext uri="{FF2B5EF4-FFF2-40B4-BE49-F238E27FC236}">
                <a16:creationId xmlns:a16="http://schemas.microsoft.com/office/drawing/2014/main" id="{62D4F646-D617-46A0-8C6E-3B859FE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9" t="1250" r="-21319" b="16252"/>
          <a:stretch/>
        </p:blipFill>
        <p:spPr>
          <a:xfrm>
            <a:off x="72827" y="100799"/>
            <a:ext cx="14472664" cy="665640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915811D-0578-4724-B899-F0111ED011FB}"/>
              </a:ext>
            </a:extLst>
          </p:cNvPr>
          <p:cNvSpPr txBox="1"/>
          <p:nvPr/>
        </p:nvSpPr>
        <p:spPr>
          <a:xfrm>
            <a:off x="550334" y="2785515"/>
            <a:ext cx="11091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0" spc="320">
                <a:solidFill>
                  <a:schemeClr val="bg1"/>
                </a:solidFill>
                <a:latin typeface="Rajdhani Medium"/>
                <a:cs typeface="Rajdhani Medium"/>
              </a:rPr>
              <a:t>DRIVING PROGRESS</a:t>
            </a:r>
          </a:p>
          <a:p>
            <a:pPr algn="ctr"/>
            <a:endParaRPr lang="fr-FR" sz="5000" spc="320">
              <a:solidFill>
                <a:schemeClr val="bg1"/>
              </a:solidFill>
              <a:latin typeface="Rajdhani Medium"/>
              <a:cs typeface="Rajdhani Medium"/>
            </a:endParaRPr>
          </a:p>
        </p:txBody>
      </p:sp>
      <p:pic>
        <p:nvPicPr>
          <p:cNvPr id="9" name="Image 8" descr="Picto DATA blanc_cmjn.pdf">
            <a:extLst>
              <a:ext uri="{FF2B5EF4-FFF2-40B4-BE49-F238E27FC236}">
                <a16:creationId xmlns:a16="http://schemas.microsoft.com/office/drawing/2014/main" id="{626F26EC-BF27-49C2-B72B-573C7365993D}"/>
              </a:ext>
            </a:extLst>
          </p:cNvPr>
          <p:cNvPicPr>
            <a:picLocks noChangeAspect="1"/>
          </p:cNvPicPr>
          <p:nvPr/>
        </p:nvPicPr>
        <mc:AlternateContent xmlns:mc="http://schemas.openxmlformats.org/markup-compatibility/2006">
          <mc:Choice xmlns="" xmlns:ma="http://schemas.microsoft.com/office/mac/drawingml/2008/main" xmlns:mv="urn:schemas-microsoft-com:mac:vml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1075792" y="5846460"/>
            <a:ext cx="709808" cy="68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16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AFDD235C-CEF6-DB95-02AC-1D84F7E0D4B4}"/>
              </a:ext>
            </a:extLst>
          </p:cNvPr>
          <p:cNvGrpSpPr/>
          <p:nvPr userDrawn="1"/>
        </p:nvGrpSpPr>
        <p:grpSpPr>
          <a:xfrm>
            <a:off x="4156364" y="0"/>
            <a:ext cx="8035637" cy="7876864"/>
            <a:chOff x="0" y="0"/>
            <a:chExt cx="16071273" cy="15753728"/>
          </a:xfrm>
        </p:grpSpPr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832269FB-05AD-876C-5DB7-E9AB1D531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240" b="13240"/>
            <a:stretch>
              <a:fillRect/>
            </a:stretch>
          </p:blipFill>
          <p:spPr>
            <a:xfrm>
              <a:off x="0" y="0"/>
              <a:ext cx="16071273" cy="15753728"/>
            </a:xfrm>
            <a:prstGeom prst="rect">
              <a:avLst/>
            </a:prstGeom>
          </p:spPr>
        </p:pic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E3BC1E54-28B6-87D9-8595-FD92EDFB19D2}"/>
              </a:ext>
            </a:extLst>
          </p:cNvPr>
          <p:cNvGrpSpPr/>
          <p:nvPr userDrawn="1"/>
        </p:nvGrpSpPr>
        <p:grpSpPr>
          <a:xfrm>
            <a:off x="3127663" y="2400300"/>
            <a:ext cx="2057400" cy="2057400"/>
            <a:chOff x="0" y="0"/>
            <a:chExt cx="812800" cy="81280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67D016D-49AF-5137-82B5-AAAA1F3BEB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8A10EAA2-BBED-2839-893F-DBF32F2EE1DE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 sz="1200"/>
            </a:p>
          </p:txBody>
        </p:sp>
      </p:grpSp>
      <p:sp>
        <p:nvSpPr>
          <p:cNvPr id="18" name="TextBox 10">
            <a:extLst>
              <a:ext uri="{FF2B5EF4-FFF2-40B4-BE49-F238E27FC236}">
                <a16:creationId xmlns:a16="http://schemas.microsoft.com/office/drawing/2014/main" id="{30DC1663-24F9-60CC-9E64-E3F4C08C7A47}"/>
              </a:ext>
            </a:extLst>
          </p:cNvPr>
          <p:cNvSpPr txBox="1"/>
          <p:nvPr userDrawn="1"/>
        </p:nvSpPr>
        <p:spPr>
          <a:xfrm>
            <a:off x="3802743" y="1864363"/>
            <a:ext cx="1934888" cy="2406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0"/>
              </a:lnSpc>
            </a:pPr>
            <a:r>
              <a:rPr lang="en-US" sz="13333" err="1">
                <a:solidFill>
                  <a:srgbClr val="000000"/>
                </a:solidFill>
                <a:latin typeface="Alata"/>
              </a:rPr>
              <a:t>i</a:t>
            </a:r>
            <a:r>
              <a:rPr lang="en-US" sz="13333">
                <a:solidFill>
                  <a:srgbClr val="000000"/>
                </a:solidFill>
                <a:latin typeface="Alata"/>
              </a:rPr>
              <a:t>.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0D6ABD48-1575-FBB8-F0DD-7F60006FE97E}"/>
              </a:ext>
            </a:extLst>
          </p:cNvPr>
          <p:cNvSpPr txBox="1"/>
          <p:nvPr userDrawn="1"/>
        </p:nvSpPr>
        <p:spPr>
          <a:xfrm>
            <a:off x="11197828" y="6318371"/>
            <a:ext cx="616744" cy="349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err="1">
                <a:solidFill>
                  <a:srgbClr val="FFFFFF"/>
                </a:solidFill>
                <a:latin typeface="Alata"/>
              </a:rPr>
              <a:t>intys</a:t>
            </a:r>
            <a:r>
              <a:rPr lang="en-US" sz="2000">
                <a:solidFill>
                  <a:srgbClr val="FFFFFF"/>
                </a:solidFill>
                <a:latin typeface="Alata"/>
              </a:rPr>
              <a:t>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2431FC-03B6-A474-B69D-84E936961E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22800" y="174537"/>
            <a:ext cx="4521200" cy="186478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lang="en-BE" sz="4666" kern="1200" dirty="0">
                <a:solidFill>
                  <a:srgbClr val="000000"/>
                </a:solidFill>
                <a:latin typeface="Alata"/>
                <a:ea typeface="+mn-ea"/>
                <a:cs typeface="+mn-cs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presentation</a:t>
            </a:r>
            <a:r>
              <a:rPr lang="fr-BE"/>
              <a:t>.</a:t>
            </a:r>
            <a:endParaRPr lang="en-B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74B39BE-5171-A2E9-A1E0-E58FD09AFA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9286" y="6070600"/>
            <a:ext cx="453035" cy="6985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lata" panose="020B0604020202020204" charset="0"/>
              </a:defRPr>
            </a:lvl1pPr>
          </a:lstStyle>
          <a:p>
            <a:pPr lvl="0"/>
            <a:r>
              <a:rPr lang="fr-BE"/>
              <a:t>2023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76367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961CE-94C6-4194-8CBF-D5211F87B05C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Case 2024-2025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56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00"/>
            <a:ext cx="10363200" cy="1362075"/>
          </a:xfrm>
        </p:spPr>
        <p:txBody>
          <a:bodyPr anchor="t"/>
          <a:lstStyle>
            <a:lvl1pPr algn="l">
              <a:defRPr sz="479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15"/>
            <a:ext cx="10363200" cy="1500187"/>
          </a:xfrm>
        </p:spPr>
        <p:txBody>
          <a:bodyPr anchor="b"/>
          <a:lstStyle>
            <a:lvl1pPr marL="0" indent="0">
              <a:buNone/>
              <a:defRPr sz="2664"/>
            </a:lvl1pPr>
            <a:lvl2pPr marL="609021" indent="0">
              <a:buNone/>
              <a:defRPr sz="2398"/>
            </a:lvl2pPr>
            <a:lvl3pPr marL="1218042" indent="0">
              <a:buNone/>
              <a:defRPr sz="2131"/>
            </a:lvl3pPr>
            <a:lvl4pPr marL="1827063" indent="0">
              <a:buNone/>
              <a:defRPr sz="1865"/>
            </a:lvl4pPr>
            <a:lvl5pPr marL="2436083" indent="0">
              <a:buNone/>
              <a:defRPr sz="1865"/>
            </a:lvl5pPr>
            <a:lvl6pPr marL="3045105" indent="0">
              <a:buNone/>
              <a:defRPr sz="1865"/>
            </a:lvl6pPr>
            <a:lvl7pPr marL="3654125" indent="0">
              <a:buNone/>
              <a:defRPr sz="1865"/>
            </a:lvl7pPr>
            <a:lvl8pPr marL="4263146" indent="0">
              <a:buNone/>
              <a:defRPr sz="1865"/>
            </a:lvl8pPr>
            <a:lvl9pPr marL="4872168" indent="0">
              <a:buNone/>
              <a:defRPr sz="18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BF76A-9CE3-48FA-885B-47B0CA949E08}" type="slidenum">
              <a:rPr lang="en-US" altLang="en-US" smtClean="0"/>
              <a:pPr/>
              <a:t>‹N°›</a:t>
            </a:fld>
            <a:r>
              <a:rPr lang="en-US" altLang="en-US"/>
              <a:t> Last Mile Program - Europe</a:t>
            </a:r>
          </a:p>
        </p:txBody>
      </p:sp>
    </p:spTree>
    <p:extLst>
      <p:ext uri="{BB962C8B-B14F-4D97-AF65-F5344CB8AC3E}">
        <p14:creationId xmlns:p14="http://schemas.microsoft.com/office/powerpoint/2010/main" val="3351119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BCC325-F1CC-46C5-ADAC-98F838B98B78}" type="slidenum">
              <a:rPr lang="en-US" altLang="en-US" smtClean="0"/>
              <a:pPr/>
              <a:t>‹N°›</a:t>
            </a:fld>
            <a:r>
              <a:rPr lang="en-US" altLang="en-US"/>
              <a:t> Last Mile Program - Europe</a:t>
            </a:r>
          </a:p>
        </p:txBody>
      </p:sp>
    </p:spTree>
    <p:extLst>
      <p:ext uri="{BB962C8B-B14F-4D97-AF65-F5344CB8AC3E}">
        <p14:creationId xmlns:p14="http://schemas.microsoft.com/office/powerpoint/2010/main" val="3444035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16x9_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"/>
            <a:ext cx="12192000" cy="6602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3" y="2133600"/>
            <a:ext cx="10363200" cy="1470025"/>
          </a:xfrm>
        </p:spPr>
        <p:txBody>
          <a:bodyPr/>
          <a:lstStyle>
            <a:lvl1pPr algn="ctr">
              <a:defRPr sz="5328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2" y="3886204"/>
            <a:ext cx="8534401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FE261F7-637A-48AD-9DBF-3884140C3F9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13154" y="6242152"/>
            <a:ext cx="3352800" cy="32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32" b="1">
                <a:latin typeface="Arial Narrow" panose="020B0606020202030204" pitchFamily="34" charset="0"/>
              </a:defRPr>
            </a:lvl1pPr>
          </a:lstStyle>
          <a:p>
            <a:fld id="{395488A8-E775-4AB2-8196-30DF5F6E0DB3}" type="slidenum">
              <a:rPr lang="en-US" altLang="en-US" smtClean="0"/>
              <a:pPr/>
              <a:t>‹N°›</a:t>
            </a:fld>
            <a:r>
              <a:rPr lang="en-US" altLang="en-US"/>
              <a:t>      Last Mile Program - Europe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2AA35F92-334C-4381-BFB2-BC8B766A9D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73908" y="6242152"/>
            <a:ext cx="2844801" cy="32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sz="1332">
                <a:latin typeface="Arial Narrow" charset="0"/>
                <a:ea typeface="ＭＳ Ｐゴシック" charset="0"/>
              </a:rPr>
              <a:t>Caterpillar 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3276275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AFDD235C-CEF6-DB95-02AC-1D84F7E0D4B4}"/>
              </a:ext>
            </a:extLst>
          </p:cNvPr>
          <p:cNvGrpSpPr/>
          <p:nvPr userDrawn="1"/>
        </p:nvGrpSpPr>
        <p:grpSpPr>
          <a:xfrm>
            <a:off x="4156364" y="0"/>
            <a:ext cx="8035637" cy="7876864"/>
            <a:chOff x="0" y="0"/>
            <a:chExt cx="16071273" cy="15753728"/>
          </a:xfrm>
        </p:grpSpPr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832269FB-05AD-876C-5DB7-E9AB1D531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240" b="13240"/>
            <a:stretch>
              <a:fillRect/>
            </a:stretch>
          </p:blipFill>
          <p:spPr>
            <a:xfrm>
              <a:off x="0" y="0"/>
              <a:ext cx="16071273" cy="15753728"/>
            </a:xfrm>
            <a:prstGeom prst="rect">
              <a:avLst/>
            </a:prstGeom>
          </p:spPr>
        </p:pic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E3BC1E54-28B6-87D9-8595-FD92EDFB19D2}"/>
              </a:ext>
            </a:extLst>
          </p:cNvPr>
          <p:cNvGrpSpPr/>
          <p:nvPr userDrawn="1"/>
        </p:nvGrpSpPr>
        <p:grpSpPr>
          <a:xfrm>
            <a:off x="3127663" y="2400300"/>
            <a:ext cx="2057400" cy="2057400"/>
            <a:chOff x="0" y="0"/>
            <a:chExt cx="812800" cy="81280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67D016D-49AF-5137-82B5-AAAA1F3BEB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BE" sz="1200"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8A10EAA2-BBED-2839-893F-DBF32F2EE1DE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 sz="1200"/>
            </a:p>
          </p:txBody>
        </p:sp>
      </p:grpSp>
      <p:sp>
        <p:nvSpPr>
          <p:cNvPr id="18" name="TextBox 10">
            <a:extLst>
              <a:ext uri="{FF2B5EF4-FFF2-40B4-BE49-F238E27FC236}">
                <a16:creationId xmlns:a16="http://schemas.microsoft.com/office/drawing/2014/main" id="{30DC1663-24F9-60CC-9E64-E3F4C08C7A47}"/>
              </a:ext>
            </a:extLst>
          </p:cNvPr>
          <p:cNvSpPr txBox="1"/>
          <p:nvPr userDrawn="1"/>
        </p:nvSpPr>
        <p:spPr>
          <a:xfrm>
            <a:off x="3802743" y="1864363"/>
            <a:ext cx="1934888" cy="231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0"/>
              </a:lnSpc>
            </a:pPr>
            <a:r>
              <a:rPr lang="en-US" sz="13333" err="1">
                <a:solidFill>
                  <a:srgbClr val="000000"/>
                </a:solidFill>
                <a:latin typeface="Alata"/>
              </a:rPr>
              <a:t>i</a:t>
            </a:r>
            <a:r>
              <a:rPr lang="en-US" sz="13333">
                <a:solidFill>
                  <a:srgbClr val="000000"/>
                </a:solidFill>
                <a:latin typeface="Alata"/>
              </a:rPr>
              <a:t>.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0D6ABD48-1575-FBB8-F0DD-7F60006FE97E}"/>
              </a:ext>
            </a:extLst>
          </p:cNvPr>
          <p:cNvSpPr txBox="1"/>
          <p:nvPr userDrawn="1"/>
        </p:nvSpPr>
        <p:spPr>
          <a:xfrm>
            <a:off x="11197828" y="6318371"/>
            <a:ext cx="616744" cy="3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err="1">
                <a:solidFill>
                  <a:srgbClr val="FFFFFF"/>
                </a:solidFill>
                <a:latin typeface="Alata"/>
              </a:rPr>
              <a:t>intys</a:t>
            </a:r>
            <a:r>
              <a:rPr lang="en-US" sz="2000">
                <a:solidFill>
                  <a:srgbClr val="FFFFFF"/>
                </a:solidFill>
                <a:latin typeface="Alata"/>
              </a:rPr>
              <a:t>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2431FC-03B6-A474-B69D-84E936961E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22800" y="174537"/>
            <a:ext cx="4521200" cy="186478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lang="en-BE" sz="4666" kern="1200" dirty="0">
                <a:solidFill>
                  <a:srgbClr val="000000"/>
                </a:solidFill>
                <a:latin typeface="Alata"/>
                <a:ea typeface="+mn-ea"/>
                <a:cs typeface="+mn-cs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presentation</a:t>
            </a:r>
            <a:r>
              <a:rPr lang="fr-BE"/>
              <a:t>.</a:t>
            </a:r>
            <a:endParaRPr lang="en-B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74B39BE-5171-A2E9-A1E0-E58FD09AFA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9286" y="6070600"/>
            <a:ext cx="453035" cy="6985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lata" panose="020B0604020202020204" charset="0"/>
              </a:defRPr>
            </a:lvl1pPr>
          </a:lstStyle>
          <a:p>
            <a:pPr lvl="0"/>
            <a:r>
              <a:rPr lang="fr-BE"/>
              <a:t>2023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7588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rgbClr val="E6D5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E2CCB9CF-391A-D889-BEDD-B97DF338AEF7}"/>
              </a:ext>
            </a:extLst>
          </p:cNvPr>
          <p:cNvGrpSpPr/>
          <p:nvPr userDrawn="1"/>
        </p:nvGrpSpPr>
        <p:grpSpPr>
          <a:xfrm>
            <a:off x="-366605" y="0"/>
            <a:ext cx="6872499" cy="7177907"/>
            <a:chOff x="0" y="0"/>
            <a:chExt cx="13744999" cy="14355813"/>
          </a:xfrm>
        </p:grpSpPr>
        <p:pic>
          <p:nvPicPr>
            <p:cNvPr id="3" name="Picture 5">
              <a:extLst>
                <a:ext uri="{FF2B5EF4-FFF2-40B4-BE49-F238E27FC236}">
                  <a16:creationId xmlns:a16="http://schemas.microsoft.com/office/drawing/2014/main" id="{A69CB8C1-FEAE-A95A-5A91-1A755A084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833" b="10833"/>
            <a:stretch>
              <a:fillRect/>
            </a:stretch>
          </p:blipFill>
          <p:spPr>
            <a:xfrm>
              <a:off x="0" y="0"/>
              <a:ext cx="13744999" cy="14355813"/>
            </a:xfrm>
            <a:prstGeom prst="rect">
              <a:avLst/>
            </a:prstGeom>
          </p:spPr>
        </p:pic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E3BC1E54-28B6-87D9-8595-FD92EDFB19D2}"/>
              </a:ext>
            </a:extLst>
          </p:cNvPr>
          <p:cNvGrpSpPr/>
          <p:nvPr userDrawn="1"/>
        </p:nvGrpSpPr>
        <p:grpSpPr>
          <a:xfrm>
            <a:off x="3127663" y="2400300"/>
            <a:ext cx="2057400" cy="2057400"/>
            <a:chOff x="0" y="0"/>
            <a:chExt cx="812800" cy="81280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67D016D-49AF-5137-82B5-AAAA1F3BEB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8A10EAA2-BBED-2839-893F-DBF32F2EE1DE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 sz="1200"/>
            </a:p>
          </p:txBody>
        </p:sp>
      </p:grpSp>
      <p:sp>
        <p:nvSpPr>
          <p:cNvPr id="18" name="TextBox 10">
            <a:extLst>
              <a:ext uri="{FF2B5EF4-FFF2-40B4-BE49-F238E27FC236}">
                <a16:creationId xmlns:a16="http://schemas.microsoft.com/office/drawing/2014/main" id="{30DC1663-24F9-60CC-9E64-E3F4C08C7A47}"/>
              </a:ext>
            </a:extLst>
          </p:cNvPr>
          <p:cNvSpPr txBox="1"/>
          <p:nvPr userDrawn="1"/>
        </p:nvSpPr>
        <p:spPr>
          <a:xfrm>
            <a:off x="3802743" y="1864363"/>
            <a:ext cx="1934888" cy="231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0"/>
              </a:lnSpc>
            </a:pPr>
            <a:r>
              <a:rPr lang="en-US" sz="13333" err="1">
                <a:solidFill>
                  <a:srgbClr val="000000"/>
                </a:solidFill>
                <a:latin typeface="Alata"/>
              </a:rPr>
              <a:t>i</a:t>
            </a:r>
            <a:r>
              <a:rPr lang="en-US" sz="13333">
                <a:solidFill>
                  <a:srgbClr val="000000"/>
                </a:solidFill>
                <a:latin typeface="Alata"/>
              </a:rPr>
              <a:t>.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B087DC73-470B-788D-FB99-F6E39FC2BCA9}"/>
              </a:ext>
            </a:extLst>
          </p:cNvPr>
          <p:cNvGrpSpPr/>
          <p:nvPr userDrawn="1"/>
        </p:nvGrpSpPr>
        <p:grpSpPr>
          <a:xfrm>
            <a:off x="6345941" y="1746414"/>
            <a:ext cx="5846059" cy="3892379"/>
            <a:chOff x="0" y="0"/>
            <a:chExt cx="13462068" cy="896321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FA40188F-07E5-CE28-6B0F-B0140E935CE8}"/>
                </a:ext>
              </a:extLst>
            </p:cNvPr>
            <p:cNvSpPr/>
            <p:nvPr/>
          </p:nvSpPr>
          <p:spPr>
            <a:xfrm>
              <a:off x="0" y="0"/>
              <a:ext cx="13462068" cy="8963212"/>
            </a:xfrm>
            <a:custGeom>
              <a:avLst/>
              <a:gdLst/>
              <a:ahLst/>
              <a:cxnLst/>
              <a:rect l="l" t="t" r="r" b="b"/>
              <a:pathLst>
                <a:path w="13462068" h="8963212">
                  <a:moveTo>
                    <a:pt x="0" y="0"/>
                  </a:moveTo>
                  <a:lnTo>
                    <a:pt x="13462068" y="0"/>
                  </a:lnTo>
                  <a:lnTo>
                    <a:pt x="13462068" y="8963212"/>
                  </a:lnTo>
                  <a:lnTo>
                    <a:pt x="0" y="8963212"/>
                  </a:lnTo>
                  <a:close/>
                </a:path>
              </a:pathLst>
            </a:custGeom>
            <a:solidFill>
              <a:srgbClr val="1F1512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002874-2741-0C27-B2DB-70B96731A646}"/>
              </a:ext>
            </a:extLst>
          </p:cNvPr>
          <p:cNvGrpSpPr/>
          <p:nvPr userDrawn="1"/>
        </p:nvGrpSpPr>
        <p:grpSpPr>
          <a:xfrm>
            <a:off x="5314597" y="5430340"/>
            <a:ext cx="5228700" cy="1563697"/>
            <a:chOff x="0" y="0"/>
            <a:chExt cx="13525475" cy="4044935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B9FD6A4-CA08-4B09-30F7-8258C2893800}"/>
                </a:ext>
              </a:extLst>
            </p:cNvPr>
            <p:cNvSpPr/>
            <p:nvPr/>
          </p:nvSpPr>
          <p:spPr>
            <a:xfrm>
              <a:off x="0" y="0"/>
              <a:ext cx="13525475" cy="4044935"/>
            </a:xfrm>
            <a:custGeom>
              <a:avLst/>
              <a:gdLst/>
              <a:ahLst/>
              <a:cxnLst/>
              <a:rect l="l" t="t" r="r" b="b"/>
              <a:pathLst>
                <a:path w="13525475" h="4044935">
                  <a:moveTo>
                    <a:pt x="0" y="0"/>
                  </a:moveTo>
                  <a:lnTo>
                    <a:pt x="13525475" y="0"/>
                  </a:lnTo>
                  <a:lnTo>
                    <a:pt x="13525475" y="4044935"/>
                  </a:lnTo>
                  <a:lnTo>
                    <a:pt x="0" y="4044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2E4F27A-62DC-2394-E17C-DCE3E94B9112}"/>
              </a:ext>
            </a:extLst>
          </p:cNvPr>
          <p:cNvSpPr txBox="1"/>
          <p:nvPr userDrawn="1"/>
        </p:nvSpPr>
        <p:spPr>
          <a:xfrm>
            <a:off x="5182088" y="5178005"/>
            <a:ext cx="5056293" cy="150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663"/>
              </a:lnSpc>
            </a:pPr>
            <a:r>
              <a:rPr lang="en-US" sz="9666" err="1">
                <a:solidFill>
                  <a:srgbClr val="000000"/>
                </a:solidFill>
                <a:latin typeface="Alata"/>
              </a:rPr>
              <a:t>intys</a:t>
            </a:r>
            <a:r>
              <a:rPr lang="en-US" sz="9666">
                <a:solidFill>
                  <a:srgbClr val="000000"/>
                </a:solidFill>
                <a:latin typeface="Alata"/>
              </a:rPr>
              <a:t>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2431FC-03B6-A474-B69D-84E936961E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7239" y="2276800"/>
            <a:ext cx="4521200" cy="186478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lang="en-BE" sz="4666" kern="1200" dirty="0">
                <a:solidFill>
                  <a:schemeClr val="tx1"/>
                </a:solidFill>
                <a:latin typeface="Alata"/>
                <a:ea typeface="+mn-ea"/>
                <a:cs typeface="+mn-cs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presentation</a:t>
            </a:r>
            <a:r>
              <a:rPr lang="fr-BE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84850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E3BC1E54-28B6-87D9-8595-FD92EDFB19D2}"/>
              </a:ext>
            </a:extLst>
          </p:cNvPr>
          <p:cNvGrpSpPr/>
          <p:nvPr userDrawn="1"/>
        </p:nvGrpSpPr>
        <p:grpSpPr>
          <a:xfrm>
            <a:off x="3127663" y="2400300"/>
            <a:ext cx="2057400" cy="2057400"/>
            <a:chOff x="0" y="0"/>
            <a:chExt cx="812800" cy="812800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67D016D-49AF-5137-82B5-AAAA1F3BEB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8A10EAA2-BBED-2839-893F-DBF32F2EE1DE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 sz="12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002874-2741-0C27-B2DB-70B96731A646}"/>
              </a:ext>
            </a:extLst>
          </p:cNvPr>
          <p:cNvGrpSpPr/>
          <p:nvPr userDrawn="1"/>
        </p:nvGrpSpPr>
        <p:grpSpPr>
          <a:xfrm>
            <a:off x="5314597" y="5430340"/>
            <a:ext cx="5228700" cy="1563697"/>
            <a:chOff x="0" y="0"/>
            <a:chExt cx="13525475" cy="4044935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B9FD6A4-CA08-4B09-30F7-8258C2893800}"/>
                </a:ext>
              </a:extLst>
            </p:cNvPr>
            <p:cNvSpPr/>
            <p:nvPr/>
          </p:nvSpPr>
          <p:spPr>
            <a:xfrm>
              <a:off x="0" y="0"/>
              <a:ext cx="13525475" cy="4044935"/>
            </a:xfrm>
            <a:custGeom>
              <a:avLst/>
              <a:gdLst/>
              <a:ahLst/>
              <a:cxnLst/>
              <a:rect l="l" t="t" r="r" b="b"/>
              <a:pathLst>
                <a:path w="13525475" h="4044935">
                  <a:moveTo>
                    <a:pt x="0" y="0"/>
                  </a:moveTo>
                  <a:lnTo>
                    <a:pt x="13525475" y="0"/>
                  </a:lnTo>
                  <a:lnTo>
                    <a:pt x="13525475" y="4044935"/>
                  </a:lnTo>
                  <a:lnTo>
                    <a:pt x="0" y="4044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197281EB-920B-FF78-74CE-740790A322AA}"/>
              </a:ext>
            </a:extLst>
          </p:cNvPr>
          <p:cNvGrpSpPr/>
          <p:nvPr userDrawn="1"/>
        </p:nvGrpSpPr>
        <p:grpSpPr>
          <a:xfrm>
            <a:off x="4156364" y="0"/>
            <a:ext cx="8035637" cy="7876864"/>
            <a:chOff x="0" y="0"/>
            <a:chExt cx="16071273" cy="15753728"/>
          </a:xfrm>
        </p:grpSpPr>
        <p:pic>
          <p:nvPicPr>
            <p:cNvPr id="16" name="Picture 3">
              <a:extLst>
                <a:ext uri="{FF2B5EF4-FFF2-40B4-BE49-F238E27FC236}">
                  <a16:creationId xmlns:a16="http://schemas.microsoft.com/office/drawing/2014/main" id="{A6E0194C-C5B0-EE82-BF71-DF4EDFA56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240" b="13240"/>
            <a:stretch>
              <a:fillRect/>
            </a:stretch>
          </p:blipFill>
          <p:spPr>
            <a:xfrm>
              <a:off x="0" y="0"/>
              <a:ext cx="16071273" cy="15753728"/>
            </a:xfrm>
            <a:prstGeom prst="rect">
              <a:avLst/>
            </a:prstGeom>
          </p:spPr>
        </p:pic>
      </p:grpSp>
      <p:grpSp>
        <p:nvGrpSpPr>
          <p:cNvPr id="17" name="Group 4">
            <a:extLst>
              <a:ext uri="{FF2B5EF4-FFF2-40B4-BE49-F238E27FC236}">
                <a16:creationId xmlns:a16="http://schemas.microsoft.com/office/drawing/2014/main" id="{B72DEFEE-0C92-22CB-9990-58935092C531}"/>
              </a:ext>
            </a:extLst>
          </p:cNvPr>
          <p:cNvGrpSpPr/>
          <p:nvPr userDrawn="1"/>
        </p:nvGrpSpPr>
        <p:grpSpPr>
          <a:xfrm>
            <a:off x="3229263" y="2501900"/>
            <a:ext cx="2057400" cy="2057400"/>
            <a:chOff x="0" y="0"/>
            <a:chExt cx="812800" cy="812800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6AAA95B9-6C91-9DD0-75FD-96589D18F40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fr-BE" sz="1200"/>
            </a:p>
          </p:txBody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9458DCD7-2AB4-0F7C-9A70-9B3EDA8E878C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 sz="1200"/>
            </a:p>
          </p:txBody>
        </p:sp>
      </p:grpSp>
      <p:sp>
        <p:nvSpPr>
          <p:cNvPr id="22" name="TextBox 10">
            <a:extLst>
              <a:ext uri="{FF2B5EF4-FFF2-40B4-BE49-F238E27FC236}">
                <a16:creationId xmlns:a16="http://schemas.microsoft.com/office/drawing/2014/main" id="{9881813F-B5B5-26BB-A517-F2FFA2282275}"/>
              </a:ext>
            </a:extLst>
          </p:cNvPr>
          <p:cNvSpPr txBox="1"/>
          <p:nvPr userDrawn="1"/>
        </p:nvSpPr>
        <p:spPr>
          <a:xfrm>
            <a:off x="3802743" y="1864363"/>
            <a:ext cx="1934888" cy="231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0"/>
              </a:lnSpc>
            </a:pPr>
            <a:r>
              <a:rPr lang="en-US" sz="13333" err="1">
                <a:solidFill>
                  <a:srgbClr val="FFFFFF"/>
                </a:solidFill>
                <a:latin typeface="Alata"/>
              </a:rPr>
              <a:t>i</a:t>
            </a:r>
            <a:r>
              <a:rPr lang="en-US" sz="13333">
                <a:solidFill>
                  <a:srgbClr val="FFFFFF"/>
                </a:solidFill>
                <a:latin typeface="Alata"/>
              </a:rPr>
              <a:t>.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539F788D-D75C-3BE2-9431-BB3AD5B052DB}"/>
              </a:ext>
            </a:extLst>
          </p:cNvPr>
          <p:cNvSpPr txBox="1"/>
          <p:nvPr userDrawn="1"/>
        </p:nvSpPr>
        <p:spPr>
          <a:xfrm>
            <a:off x="11197828" y="6318371"/>
            <a:ext cx="616744" cy="3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err="1">
                <a:solidFill>
                  <a:srgbClr val="FFFFFF"/>
                </a:solidFill>
                <a:latin typeface="Alata"/>
              </a:rPr>
              <a:t>intys</a:t>
            </a:r>
            <a:r>
              <a:rPr lang="en-US" sz="2000">
                <a:solidFill>
                  <a:srgbClr val="FFFFFF"/>
                </a:solidFill>
                <a:latin typeface="Alata"/>
              </a:rPr>
              <a:t>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2431FC-03B6-A474-B69D-84E936961E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22800" y="340057"/>
            <a:ext cx="4521200" cy="186478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lang="en-BE" sz="4666" kern="1200" dirty="0">
                <a:solidFill>
                  <a:schemeClr val="tx1"/>
                </a:solidFill>
                <a:latin typeface="Alata"/>
                <a:ea typeface="+mn-ea"/>
                <a:cs typeface="+mn-cs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presentation</a:t>
            </a:r>
            <a:r>
              <a:rPr lang="fr-BE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11933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BB9B6481-FE6E-196B-176C-3CE19B112C73}"/>
              </a:ext>
            </a:extLst>
          </p:cNvPr>
          <p:cNvSpPr/>
          <p:nvPr userDrawn="1"/>
        </p:nvSpPr>
        <p:spPr>
          <a:xfrm>
            <a:off x="1917843" y="0"/>
            <a:ext cx="10274157" cy="6849438"/>
          </a:xfrm>
          <a:custGeom>
            <a:avLst/>
            <a:gdLst/>
            <a:ahLst/>
            <a:cxnLst/>
            <a:rect l="l" t="t" r="r" b="b"/>
            <a:pathLst>
              <a:path w="15411236" h="10274157">
                <a:moveTo>
                  <a:pt x="0" y="0"/>
                </a:moveTo>
                <a:lnTo>
                  <a:pt x="15411236" y="0"/>
                </a:lnTo>
                <a:lnTo>
                  <a:pt x="15411236" y="10274157"/>
                </a:lnTo>
                <a:lnTo>
                  <a:pt x="0" y="10274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429" b="-42429"/>
            </a:stretch>
          </a:blipFill>
        </p:spPr>
        <p:txBody>
          <a:bodyPr/>
          <a:lstStyle/>
          <a:p>
            <a:endParaRPr lang="fr-BE" sz="120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061B89D-39FF-489E-C54D-787312968A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4400" y="5257800"/>
            <a:ext cx="3556000" cy="12255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tx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interlayer</a:t>
            </a:r>
            <a:r>
              <a:rPr lang="fr-BE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633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BB9B6481-FE6E-196B-176C-3CE19B112C73}"/>
              </a:ext>
            </a:extLst>
          </p:cNvPr>
          <p:cNvSpPr/>
          <p:nvPr userDrawn="1"/>
        </p:nvSpPr>
        <p:spPr>
          <a:xfrm>
            <a:off x="1917843" y="0"/>
            <a:ext cx="10274157" cy="6849438"/>
          </a:xfrm>
          <a:custGeom>
            <a:avLst/>
            <a:gdLst/>
            <a:ahLst/>
            <a:cxnLst/>
            <a:rect l="l" t="t" r="r" b="b"/>
            <a:pathLst>
              <a:path w="15411236" h="10274157">
                <a:moveTo>
                  <a:pt x="0" y="0"/>
                </a:moveTo>
                <a:lnTo>
                  <a:pt x="15411236" y="0"/>
                </a:lnTo>
                <a:lnTo>
                  <a:pt x="15411236" y="10274157"/>
                </a:lnTo>
                <a:lnTo>
                  <a:pt x="0" y="10274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429" b="-42429"/>
            </a:stretch>
          </a:blipFill>
        </p:spPr>
        <p:txBody>
          <a:bodyPr/>
          <a:lstStyle/>
          <a:p>
            <a:endParaRPr lang="fr-BE" sz="120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061B89D-39FF-489E-C54D-787312968A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4400" y="5257800"/>
            <a:ext cx="3556000" cy="12255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bg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interlayer</a:t>
            </a:r>
            <a:r>
              <a:rPr lang="fr-BE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062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453261E8-1C09-D02B-8989-B41A8BDD70A5}"/>
              </a:ext>
            </a:extLst>
          </p:cNvPr>
          <p:cNvGrpSpPr/>
          <p:nvPr userDrawn="1"/>
        </p:nvGrpSpPr>
        <p:grpSpPr>
          <a:xfrm>
            <a:off x="0" y="4946164"/>
            <a:ext cx="12724548" cy="2057400"/>
            <a:chOff x="0" y="0"/>
            <a:chExt cx="5026982" cy="8128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7206C27D-1726-17C1-5FAB-BADC02EA3246}"/>
                </a:ext>
              </a:extLst>
            </p:cNvPr>
            <p:cNvSpPr/>
            <p:nvPr/>
          </p:nvSpPr>
          <p:spPr>
            <a:xfrm>
              <a:off x="0" y="0"/>
              <a:ext cx="5026982" cy="812800"/>
            </a:xfrm>
            <a:custGeom>
              <a:avLst/>
              <a:gdLst/>
              <a:ahLst/>
              <a:cxnLst/>
              <a:rect l="l" t="t" r="r" b="b"/>
              <a:pathLst>
                <a:path w="5026982" h="812800">
                  <a:moveTo>
                    <a:pt x="0" y="0"/>
                  </a:moveTo>
                  <a:lnTo>
                    <a:pt x="5026982" y="0"/>
                  </a:lnTo>
                  <a:lnTo>
                    <a:pt x="502698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fr-BE" sz="1200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7733AC81-8427-36BA-E3EB-EAA363CFCB18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 sz="1200"/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BD8F19C1-D6B1-AD19-4502-5A9D695DE4C7}"/>
              </a:ext>
            </a:extLst>
          </p:cNvPr>
          <p:cNvGrpSpPr/>
          <p:nvPr userDrawn="1"/>
        </p:nvGrpSpPr>
        <p:grpSpPr>
          <a:xfrm>
            <a:off x="7522506" y="4397976"/>
            <a:ext cx="1075585" cy="1075585"/>
            <a:chOff x="0" y="0"/>
            <a:chExt cx="6350000" cy="6350000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414A33A-12F5-32E0-9DE2-EF92DC6B4AA9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E9D76992-8A10-7A03-B3CB-51B5F1E13EE1}"/>
              </a:ext>
            </a:extLst>
          </p:cNvPr>
          <p:cNvGrpSpPr/>
          <p:nvPr userDrawn="1"/>
        </p:nvGrpSpPr>
        <p:grpSpPr>
          <a:xfrm>
            <a:off x="6217370" y="4403174"/>
            <a:ext cx="1075585" cy="1075585"/>
            <a:chOff x="0" y="0"/>
            <a:chExt cx="6350000" cy="6350000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DDFB589-4A6A-8769-423F-DDEE75DC5CB3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4" name="Group 5">
            <a:extLst>
              <a:ext uri="{FF2B5EF4-FFF2-40B4-BE49-F238E27FC236}">
                <a16:creationId xmlns:a16="http://schemas.microsoft.com/office/drawing/2014/main" id="{D26BC8AC-611B-3DA8-9D08-661B141EE780}"/>
              </a:ext>
            </a:extLst>
          </p:cNvPr>
          <p:cNvGrpSpPr/>
          <p:nvPr userDrawn="1"/>
        </p:nvGrpSpPr>
        <p:grpSpPr>
          <a:xfrm>
            <a:off x="4912236" y="4408372"/>
            <a:ext cx="1075585" cy="1075585"/>
            <a:chOff x="0" y="0"/>
            <a:chExt cx="6350000" cy="6350000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4329F81-75E5-A2DF-13FD-71976C6B767F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6CE817A0-EDDB-CD7A-25F3-A933E3FEC6BA}"/>
              </a:ext>
            </a:extLst>
          </p:cNvPr>
          <p:cNvGrpSpPr/>
          <p:nvPr userDrawn="1"/>
        </p:nvGrpSpPr>
        <p:grpSpPr>
          <a:xfrm>
            <a:off x="3612298" y="4408371"/>
            <a:ext cx="1070388" cy="1070388"/>
            <a:chOff x="0" y="0"/>
            <a:chExt cx="6350000" cy="6350000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EB6DC19A-E58F-076B-F413-AFEBDA5A2E21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4ACB27BD-1D6D-AA84-AD60-11A22CE92361}"/>
              </a:ext>
            </a:extLst>
          </p:cNvPr>
          <p:cNvGrpSpPr/>
          <p:nvPr userDrawn="1"/>
        </p:nvGrpSpPr>
        <p:grpSpPr>
          <a:xfrm>
            <a:off x="3821566" y="4620238"/>
            <a:ext cx="651852" cy="651852"/>
            <a:chOff x="0" y="0"/>
            <a:chExt cx="812800" cy="812800"/>
          </a:xfrm>
        </p:grpSpPr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6D09E5F4-3091-7160-ACA4-16591664C808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fr-BE" sz="1200"/>
            </a:p>
          </p:txBody>
        </p:sp>
        <p:sp>
          <p:nvSpPr>
            <p:cNvPr id="21" name="TextBox 18">
              <a:extLst>
                <a:ext uri="{FF2B5EF4-FFF2-40B4-BE49-F238E27FC236}">
                  <a16:creationId xmlns:a16="http://schemas.microsoft.com/office/drawing/2014/main" id="{F7039B7A-1143-8A7E-BA87-AF4DC585F62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 sz="1200"/>
            </a:p>
          </p:txBody>
        </p:sp>
      </p:grpSp>
      <p:sp>
        <p:nvSpPr>
          <p:cNvPr id="25" name="Freeform 13">
            <a:hlinkClick r:id="rId2" tooltip="https://be.linkedin.com/company/intys-partners"/>
            <a:extLst>
              <a:ext uri="{FF2B5EF4-FFF2-40B4-BE49-F238E27FC236}">
                <a16:creationId xmlns:a16="http://schemas.microsoft.com/office/drawing/2014/main" id="{E98FF9AC-7719-A66C-30F3-F29D9F2C9947}"/>
              </a:ext>
            </a:extLst>
          </p:cNvPr>
          <p:cNvSpPr/>
          <p:nvPr userDrawn="1"/>
        </p:nvSpPr>
        <p:spPr>
          <a:xfrm>
            <a:off x="5098001" y="4600903"/>
            <a:ext cx="704055" cy="669733"/>
          </a:xfrm>
          <a:custGeom>
            <a:avLst/>
            <a:gdLst/>
            <a:ahLst/>
            <a:cxnLst/>
            <a:rect l="l" t="t" r="r" b="b"/>
            <a:pathLst>
              <a:path w="1056083" h="1004599">
                <a:moveTo>
                  <a:pt x="0" y="0"/>
                </a:moveTo>
                <a:lnTo>
                  <a:pt x="1056082" y="0"/>
                </a:lnTo>
                <a:lnTo>
                  <a:pt x="1056082" y="1004599"/>
                </a:lnTo>
                <a:lnTo>
                  <a:pt x="0" y="1004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 sz="1200"/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0966274F-8E11-F78C-B0DA-4F7FE508B1C9}"/>
              </a:ext>
            </a:extLst>
          </p:cNvPr>
          <p:cNvSpPr txBox="1"/>
          <p:nvPr userDrawn="1"/>
        </p:nvSpPr>
        <p:spPr>
          <a:xfrm>
            <a:off x="3847633" y="4613114"/>
            <a:ext cx="651852" cy="54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6"/>
              </a:lnSpc>
            </a:pPr>
            <a:r>
              <a:rPr lang="en-US" sz="3333" err="1">
                <a:solidFill>
                  <a:srgbClr val="FFFFFF"/>
                </a:solidFill>
                <a:latin typeface="Alata"/>
              </a:rPr>
              <a:t>i</a:t>
            </a:r>
            <a:r>
              <a:rPr lang="en-US" sz="3333">
                <a:solidFill>
                  <a:srgbClr val="FFFFFF"/>
                </a:solidFill>
                <a:latin typeface="Alata"/>
              </a:rPr>
              <a:t>.</a:t>
            </a:r>
          </a:p>
        </p:txBody>
      </p:sp>
      <p:sp>
        <p:nvSpPr>
          <p:cNvPr id="27" name="Freeform 15">
            <a:hlinkClick r:id="rId5" tooltip="https://www.instagram.com/intyssers/"/>
            <a:extLst>
              <a:ext uri="{FF2B5EF4-FFF2-40B4-BE49-F238E27FC236}">
                <a16:creationId xmlns:a16="http://schemas.microsoft.com/office/drawing/2014/main" id="{FC55EED6-7FF7-A0A6-A54A-854F80D31F45}"/>
              </a:ext>
            </a:extLst>
          </p:cNvPr>
          <p:cNvSpPr/>
          <p:nvPr userDrawn="1"/>
        </p:nvSpPr>
        <p:spPr>
          <a:xfrm>
            <a:off x="6420297" y="4600903"/>
            <a:ext cx="669733" cy="669733"/>
          </a:xfrm>
          <a:custGeom>
            <a:avLst/>
            <a:gdLst/>
            <a:ahLst/>
            <a:cxnLst/>
            <a:rect l="l" t="t" r="r" b="b"/>
            <a:pathLst>
              <a:path w="1004599" h="1004599">
                <a:moveTo>
                  <a:pt x="0" y="0"/>
                </a:moveTo>
                <a:lnTo>
                  <a:pt x="1004599" y="0"/>
                </a:lnTo>
                <a:lnTo>
                  <a:pt x="1004599" y="1004599"/>
                </a:lnTo>
                <a:lnTo>
                  <a:pt x="0" y="1004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 sz="1200"/>
          </a:p>
        </p:txBody>
      </p:sp>
      <p:sp>
        <p:nvSpPr>
          <p:cNvPr id="28" name="Freeform 14">
            <a:hlinkClick r:id="rId8" tooltip="https://www.youtube.com/channel/UCcpKQQL9fiYG8htwFe7cdIw"/>
            <a:extLst>
              <a:ext uri="{FF2B5EF4-FFF2-40B4-BE49-F238E27FC236}">
                <a16:creationId xmlns:a16="http://schemas.microsoft.com/office/drawing/2014/main" id="{4E71DEEA-F32D-BF80-58E4-B2E869FE4BB3}"/>
              </a:ext>
            </a:extLst>
          </p:cNvPr>
          <p:cNvSpPr/>
          <p:nvPr userDrawn="1"/>
        </p:nvSpPr>
        <p:spPr>
          <a:xfrm>
            <a:off x="7719219" y="4588477"/>
            <a:ext cx="682159" cy="682159"/>
          </a:xfrm>
          <a:custGeom>
            <a:avLst/>
            <a:gdLst/>
            <a:ahLst/>
            <a:cxnLst/>
            <a:rect l="l" t="t" r="r" b="b"/>
            <a:pathLst>
              <a:path w="1023239" h="1023239">
                <a:moveTo>
                  <a:pt x="0" y="0"/>
                </a:moveTo>
                <a:lnTo>
                  <a:pt x="1023239" y="0"/>
                </a:lnTo>
                <a:lnTo>
                  <a:pt x="1023239" y="1023239"/>
                </a:lnTo>
                <a:lnTo>
                  <a:pt x="0" y="10232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 sz="1200"/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F056A069-BD5B-1390-64EC-1C65E632F293}"/>
              </a:ext>
            </a:extLst>
          </p:cNvPr>
          <p:cNvSpPr txBox="1"/>
          <p:nvPr userDrawn="1"/>
        </p:nvSpPr>
        <p:spPr>
          <a:xfrm>
            <a:off x="7719218" y="5490148"/>
            <a:ext cx="3864115" cy="70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7"/>
              </a:lnSpc>
            </a:pPr>
            <a:r>
              <a:rPr lang="en-US" sz="1333" err="1">
                <a:solidFill>
                  <a:srgbClr val="FFFFFF"/>
                </a:solidFill>
                <a:latin typeface="Alata"/>
              </a:rPr>
              <a:t>intys</a:t>
            </a:r>
            <a:r>
              <a:rPr lang="en-US" sz="1333">
                <a:solidFill>
                  <a:srgbClr val="FFFFFF"/>
                </a:solidFill>
                <a:latin typeface="Alata"/>
              </a:rPr>
              <a:t>.</a:t>
            </a:r>
          </a:p>
          <a:p>
            <a:pPr algn="r">
              <a:lnSpc>
                <a:spcPts val="1867"/>
              </a:lnSpc>
            </a:pPr>
            <a:r>
              <a:rPr lang="en-US" sz="1333">
                <a:solidFill>
                  <a:srgbClr val="FFFFFF"/>
                </a:solidFill>
                <a:latin typeface="Alata"/>
              </a:rPr>
              <a:t>Avenue de </a:t>
            </a:r>
            <a:r>
              <a:rPr lang="en-US" sz="1333" err="1">
                <a:solidFill>
                  <a:srgbClr val="FFFFFF"/>
                </a:solidFill>
                <a:latin typeface="Alata"/>
              </a:rPr>
              <a:t>Tervueren</a:t>
            </a:r>
            <a:r>
              <a:rPr lang="en-US" sz="1333">
                <a:solidFill>
                  <a:srgbClr val="FFFFFF"/>
                </a:solidFill>
                <a:latin typeface="Alata"/>
              </a:rPr>
              <a:t> 270</a:t>
            </a:r>
          </a:p>
          <a:p>
            <a:pPr algn="r">
              <a:lnSpc>
                <a:spcPts val="1867"/>
              </a:lnSpc>
            </a:pPr>
            <a:r>
              <a:rPr lang="en-US" sz="1333">
                <a:solidFill>
                  <a:srgbClr val="FFFFFF"/>
                </a:solidFill>
                <a:latin typeface="Alata"/>
              </a:rPr>
              <a:t> 1150 Brussels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6788B4E0-48BD-7985-C4F2-1B5F69D83219}"/>
              </a:ext>
            </a:extLst>
          </p:cNvPr>
          <p:cNvSpPr txBox="1"/>
          <p:nvPr userDrawn="1"/>
        </p:nvSpPr>
        <p:spPr>
          <a:xfrm>
            <a:off x="3934395" y="2768600"/>
            <a:ext cx="5246309" cy="63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</a:pPr>
            <a:r>
              <a:rPr lang="en-US" sz="3667">
                <a:solidFill>
                  <a:srgbClr val="000000"/>
                </a:solidFill>
                <a:latin typeface="Alata"/>
              </a:rPr>
              <a:t>engage for impact.</a:t>
            </a:r>
          </a:p>
        </p:txBody>
      </p:sp>
    </p:spTree>
    <p:extLst>
      <p:ext uri="{BB962C8B-B14F-4D97-AF65-F5344CB8AC3E}">
        <p14:creationId xmlns:p14="http://schemas.microsoft.com/office/powerpoint/2010/main" val="12278519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3">
            <a:extLst>
              <a:ext uri="{FF2B5EF4-FFF2-40B4-BE49-F238E27FC236}">
                <a16:creationId xmlns:a16="http://schemas.microsoft.com/office/drawing/2014/main" id="{7206C27D-1726-17C1-5FAB-BADC02EA3246}"/>
              </a:ext>
            </a:extLst>
          </p:cNvPr>
          <p:cNvSpPr/>
          <p:nvPr/>
        </p:nvSpPr>
        <p:spPr>
          <a:xfrm>
            <a:off x="0" y="4828988"/>
            <a:ext cx="12724548" cy="2174576"/>
          </a:xfrm>
          <a:custGeom>
            <a:avLst/>
            <a:gdLst/>
            <a:ahLst/>
            <a:cxnLst/>
            <a:rect l="l" t="t" r="r" b="b"/>
            <a:pathLst>
              <a:path w="5026982" h="812800">
                <a:moveTo>
                  <a:pt x="0" y="0"/>
                </a:moveTo>
                <a:lnTo>
                  <a:pt x="5026982" y="0"/>
                </a:lnTo>
                <a:lnTo>
                  <a:pt x="5026982" y="812800"/>
                </a:lnTo>
                <a:lnTo>
                  <a:pt x="0" y="812800"/>
                </a:lnTo>
                <a:close/>
              </a:path>
            </a:pathLst>
          </a:custGeom>
          <a:solidFill>
            <a:srgbClr val="E6D5CA"/>
          </a:solidFill>
        </p:spPr>
        <p:txBody>
          <a:bodyPr/>
          <a:lstStyle/>
          <a:p>
            <a:endParaRPr lang="en-BE" sz="1200"/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BD8F19C1-D6B1-AD19-4502-5A9D695DE4C7}"/>
              </a:ext>
            </a:extLst>
          </p:cNvPr>
          <p:cNvGrpSpPr/>
          <p:nvPr userDrawn="1"/>
        </p:nvGrpSpPr>
        <p:grpSpPr>
          <a:xfrm>
            <a:off x="7522506" y="4397976"/>
            <a:ext cx="1075585" cy="1075585"/>
            <a:chOff x="0" y="0"/>
            <a:chExt cx="6350000" cy="6350000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414A33A-12F5-32E0-9DE2-EF92DC6B4AA9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E9D76992-8A10-7A03-B3CB-51B5F1E13EE1}"/>
              </a:ext>
            </a:extLst>
          </p:cNvPr>
          <p:cNvGrpSpPr/>
          <p:nvPr userDrawn="1"/>
        </p:nvGrpSpPr>
        <p:grpSpPr>
          <a:xfrm>
            <a:off x="6217370" y="4403174"/>
            <a:ext cx="1075585" cy="1075585"/>
            <a:chOff x="0" y="0"/>
            <a:chExt cx="6350000" cy="6350000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DDFB589-4A6A-8769-423F-DDEE75DC5CB3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4" name="Group 5">
            <a:extLst>
              <a:ext uri="{FF2B5EF4-FFF2-40B4-BE49-F238E27FC236}">
                <a16:creationId xmlns:a16="http://schemas.microsoft.com/office/drawing/2014/main" id="{D26BC8AC-611B-3DA8-9D08-661B141EE780}"/>
              </a:ext>
            </a:extLst>
          </p:cNvPr>
          <p:cNvGrpSpPr/>
          <p:nvPr userDrawn="1"/>
        </p:nvGrpSpPr>
        <p:grpSpPr>
          <a:xfrm>
            <a:off x="4912236" y="4408372"/>
            <a:ext cx="1075585" cy="1075585"/>
            <a:chOff x="0" y="0"/>
            <a:chExt cx="6350000" cy="6350000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4329F81-75E5-A2DF-13FD-71976C6B767F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6" name="Group 7">
            <a:extLst>
              <a:ext uri="{FF2B5EF4-FFF2-40B4-BE49-F238E27FC236}">
                <a16:creationId xmlns:a16="http://schemas.microsoft.com/office/drawing/2014/main" id="{6CE817A0-EDDB-CD7A-25F3-A933E3FEC6BA}"/>
              </a:ext>
            </a:extLst>
          </p:cNvPr>
          <p:cNvGrpSpPr/>
          <p:nvPr userDrawn="1"/>
        </p:nvGrpSpPr>
        <p:grpSpPr>
          <a:xfrm>
            <a:off x="3612298" y="4408371"/>
            <a:ext cx="1070388" cy="1070388"/>
            <a:chOff x="0" y="0"/>
            <a:chExt cx="6350000" cy="6350000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EB6DC19A-E58F-076B-F413-AFEBDA5A2E21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BE" sz="1200"/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4ACB27BD-1D6D-AA84-AD60-11A22CE92361}"/>
              </a:ext>
            </a:extLst>
          </p:cNvPr>
          <p:cNvGrpSpPr/>
          <p:nvPr userDrawn="1"/>
        </p:nvGrpSpPr>
        <p:grpSpPr>
          <a:xfrm>
            <a:off x="3821566" y="4620238"/>
            <a:ext cx="651852" cy="651852"/>
            <a:chOff x="0" y="0"/>
            <a:chExt cx="812800" cy="812800"/>
          </a:xfrm>
        </p:grpSpPr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6D09E5F4-3091-7160-ACA4-16591664C808}"/>
                </a:ext>
              </a:extLst>
            </p:cNvPr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fr-BE" sz="1200"/>
            </a:p>
          </p:txBody>
        </p:sp>
        <p:sp>
          <p:nvSpPr>
            <p:cNvPr id="21" name="TextBox 18">
              <a:extLst>
                <a:ext uri="{FF2B5EF4-FFF2-40B4-BE49-F238E27FC236}">
                  <a16:creationId xmlns:a16="http://schemas.microsoft.com/office/drawing/2014/main" id="{F7039B7A-1143-8A7E-BA87-AF4DC585F62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 sz="1200"/>
            </a:p>
          </p:txBody>
        </p:sp>
      </p:grpSp>
      <p:sp>
        <p:nvSpPr>
          <p:cNvPr id="25" name="Freeform 13">
            <a:hlinkClick r:id="rId2" tooltip="https://be.linkedin.com/company/intys-partners"/>
            <a:extLst>
              <a:ext uri="{FF2B5EF4-FFF2-40B4-BE49-F238E27FC236}">
                <a16:creationId xmlns:a16="http://schemas.microsoft.com/office/drawing/2014/main" id="{E98FF9AC-7719-A66C-30F3-F29D9F2C9947}"/>
              </a:ext>
            </a:extLst>
          </p:cNvPr>
          <p:cNvSpPr/>
          <p:nvPr userDrawn="1"/>
        </p:nvSpPr>
        <p:spPr>
          <a:xfrm>
            <a:off x="5098001" y="4600903"/>
            <a:ext cx="704055" cy="669733"/>
          </a:xfrm>
          <a:custGeom>
            <a:avLst/>
            <a:gdLst/>
            <a:ahLst/>
            <a:cxnLst/>
            <a:rect l="l" t="t" r="r" b="b"/>
            <a:pathLst>
              <a:path w="1056083" h="1004599">
                <a:moveTo>
                  <a:pt x="0" y="0"/>
                </a:moveTo>
                <a:lnTo>
                  <a:pt x="1056082" y="0"/>
                </a:lnTo>
                <a:lnTo>
                  <a:pt x="1056082" y="1004599"/>
                </a:lnTo>
                <a:lnTo>
                  <a:pt x="0" y="1004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 sz="1200"/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0966274F-8E11-F78C-B0DA-4F7FE508B1C9}"/>
              </a:ext>
            </a:extLst>
          </p:cNvPr>
          <p:cNvSpPr txBox="1"/>
          <p:nvPr userDrawn="1"/>
        </p:nvSpPr>
        <p:spPr>
          <a:xfrm>
            <a:off x="3847633" y="4613114"/>
            <a:ext cx="651852" cy="54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6"/>
              </a:lnSpc>
            </a:pPr>
            <a:r>
              <a:rPr lang="en-US" sz="3333" err="1">
                <a:solidFill>
                  <a:srgbClr val="FFFFFF"/>
                </a:solidFill>
                <a:latin typeface="Alata"/>
              </a:rPr>
              <a:t>i</a:t>
            </a:r>
            <a:r>
              <a:rPr lang="en-US" sz="3333">
                <a:solidFill>
                  <a:srgbClr val="FFFFFF"/>
                </a:solidFill>
                <a:latin typeface="Alata"/>
              </a:rPr>
              <a:t>.</a:t>
            </a:r>
          </a:p>
        </p:txBody>
      </p:sp>
      <p:sp>
        <p:nvSpPr>
          <p:cNvPr id="27" name="Freeform 15">
            <a:hlinkClick r:id="rId5" tooltip="https://www.instagram.com/intyssers/"/>
            <a:extLst>
              <a:ext uri="{FF2B5EF4-FFF2-40B4-BE49-F238E27FC236}">
                <a16:creationId xmlns:a16="http://schemas.microsoft.com/office/drawing/2014/main" id="{FC55EED6-7FF7-A0A6-A54A-854F80D31F45}"/>
              </a:ext>
            </a:extLst>
          </p:cNvPr>
          <p:cNvSpPr/>
          <p:nvPr userDrawn="1"/>
        </p:nvSpPr>
        <p:spPr>
          <a:xfrm>
            <a:off x="6420297" y="4600903"/>
            <a:ext cx="669733" cy="669733"/>
          </a:xfrm>
          <a:custGeom>
            <a:avLst/>
            <a:gdLst/>
            <a:ahLst/>
            <a:cxnLst/>
            <a:rect l="l" t="t" r="r" b="b"/>
            <a:pathLst>
              <a:path w="1004599" h="1004599">
                <a:moveTo>
                  <a:pt x="0" y="0"/>
                </a:moveTo>
                <a:lnTo>
                  <a:pt x="1004599" y="0"/>
                </a:lnTo>
                <a:lnTo>
                  <a:pt x="1004599" y="1004599"/>
                </a:lnTo>
                <a:lnTo>
                  <a:pt x="0" y="1004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 sz="1200"/>
          </a:p>
        </p:txBody>
      </p:sp>
      <p:sp>
        <p:nvSpPr>
          <p:cNvPr id="28" name="Freeform 14">
            <a:hlinkClick r:id="rId8" tooltip="https://www.youtube.com/channel/UCcpKQQL9fiYG8htwFe7cdIw"/>
            <a:extLst>
              <a:ext uri="{FF2B5EF4-FFF2-40B4-BE49-F238E27FC236}">
                <a16:creationId xmlns:a16="http://schemas.microsoft.com/office/drawing/2014/main" id="{4E71DEEA-F32D-BF80-58E4-B2E869FE4BB3}"/>
              </a:ext>
            </a:extLst>
          </p:cNvPr>
          <p:cNvSpPr/>
          <p:nvPr userDrawn="1"/>
        </p:nvSpPr>
        <p:spPr>
          <a:xfrm>
            <a:off x="7719219" y="4588477"/>
            <a:ext cx="682159" cy="682159"/>
          </a:xfrm>
          <a:custGeom>
            <a:avLst/>
            <a:gdLst/>
            <a:ahLst/>
            <a:cxnLst/>
            <a:rect l="l" t="t" r="r" b="b"/>
            <a:pathLst>
              <a:path w="1023239" h="1023239">
                <a:moveTo>
                  <a:pt x="0" y="0"/>
                </a:moveTo>
                <a:lnTo>
                  <a:pt x="1023239" y="0"/>
                </a:lnTo>
                <a:lnTo>
                  <a:pt x="1023239" y="1023239"/>
                </a:lnTo>
                <a:lnTo>
                  <a:pt x="0" y="10232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 sz="1200"/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F056A069-BD5B-1390-64EC-1C65E632F293}"/>
              </a:ext>
            </a:extLst>
          </p:cNvPr>
          <p:cNvSpPr txBox="1"/>
          <p:nvPr userDrawn="1"/>
        </p:nvSpPr>
        <p:spPr>
          <a:xfrm>
            <a:off x="7719218" y="5490148"/>
            <a:ext cx="3864115" cy="70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67"/>
              </a:lnSpc>
            </a:pPr>
            <a:r>
              <a:rPr lang="en-US" sz="1333" err="1">
                <a:solidFill>
                  <a:schemeClr val="tx1"/>
                </a:solidFill>
                <a:latin typeface="Alata"/>
              </a:rPr>
              <a:t>intys</a:t>
            </a:r>
            <a:r>
              <a:rPr lang="en-US" sz="1333">
                <a:solidFill>
                  <a:schemeClr val="tx1"/>
                </a:solidFill>
                <a:latin typeface="Alata"/>
              </a:rPr>
              <a:t>.</a:t>
            </a:r>
          </a:p>
          <a:p>
            <a:pPr algn="r">
              <a:lnSpc>
                <a:spcPts val="1867"/>
              </a:lnSpc>
            </a:pPr>
            <a:r>
              <a:rPr lang="en-US" sz="1333">
                <a:solidFill>
                  <a:schemeClr val="tx1"/>
                </a:solidFill>
                <a:latin typeface="Alata"/>
              </a:rPr>
              <a:t>Avenue de </a:t>
            </a:r>
            <a:r>
              <a:rPr lang="en-US" sz="1333" err="1">
                <a:solidFill>
                  <a:schemeClr val="tx1"/>
                </a:solidFill>
                <a:latin typeface="Alata"/>
              </a:rPr>
              <a:t>Tervueren</a:t>
            </a:r>
            <a:r>
              <a:rPr lang="en-US" sz="1333">
                <a:solidFill>
                  <a:schemeClr val="tx1"/>
                </a:solidFill>
                <a:latin typeface="Alata"/>
              </a:rPr>
              <a:t> 270</a:t>
            </a:r>
          </a:p>
          <a:p>
            <a:pPr algn="r">
              <a:lnSpc>
                <a:spcPts val="1867"/>
              </a:lnSpc>
            </a:pPr>
            <a:r>
              <a:rPr lang="en-US" sz="1333">
                <a:solidFill>
                  <a:schemeClr val="tx1"/>
                </a:solidFill>
                <a:latin typeface="Alata"/>
              </a:rPr>
              <a:t> 1150 Brussels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6788B4E0-48BD-7985-C4F2-1B5F69D83219}"/>
              </a:ext>
            </a:extLst>
          </p:cNvPr>
          <p:cNvSpPr txBox="1"/>
          <p:nvPr userDrawn="1"/>
        </p:nvSpPr>
        <p:spPr>
          <a:xfrm>
            <a:off x="3934395" y="2768600"/>
            <a:ext cx="5246309" cy="63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</a:pPr>
            <a:r>
              <a:rPr lang="en-US" sz="3667">
                <a:solidFill>
                  <a:srgbClr val="000000"/>
                </a:solidFill>
                <a:latin typeface="Alata"/>
              </a:rPr>
              <a:t>engage for impact.</a:t>
            </a:r>
          </a:p>
        </p:txBody>
      </p:sp>
    </p:spTree>
    <p:extLst>
      <p:ext uri="{BB962C8B-B14F-4D97-AF65-F5344CB8AC3E}">
        <p14:creationId xmlns:p14="http://schemas.microsoft.com/office/powerpoint/2010/main" val="25048870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tract 1">
    <p:bg>
      <p:bgPr>
        <a:solidFill>
          <a:srgbClr val="E6D5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40DBB8BA-3523-40AE-203F-E2D1F444424C}"/>
              </a:ext>
            </a:extLst>
          </p:cNvPr>
          <p:cNvSpPr/>
          <p:nvPr userDrawn="1"/>
        </p:nvSpPr>
        <p:spPr>
          <a:xfrm>
            <a:off x="0" y="0"/>
            <a:ext cx="7255129" cy="6890123"/>
          </a:xfrm>
          <a:custGeom>
            <a:avLst/>
            <a:gdLst/>
            <a:ahLst/>
            <a:cxnLst/>
            <a:rect l="l" t="t" r="r" b="b"/>
            <a:pathLst>
              <a:path w="10882694" h="10335185">
                <a:moveTo>
                  <a:pt x="0" y="0"/>
                </a:moveTo>
                <a:lnTo>
                  <a:pt x="10882694" y="0"/>
                </a:lnTo>
                <a:lnTo>
                  <a:pt x="10882694" y="10335185"/>
                </a:lnTo>
                <a:lnTo>
                  <a:pt x="0" y="10335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086"/>
            </a:stretch>
          </a:blipFill>
        </p:spPr>
        <p:txBody>
          <a:bodyPr/>
          <a:lstStyle/>
          <a:p>
            <a:endParaRPr lang="en-BE" sz="120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B814CE51-BEDC-02C2-4528-C154960E342B}"/>
              </a:ext>
            </a:extLst>
          </p:cNvPr>
          <p:cNvSpPr/>
          <p:nvPr userDrawn="1"/>
        </p:nvSpPr>
        <p:spPr>
          <a:xfrm>
            <a:off x="3891578" y="834296"/>
            <a:ext cx="6821129" cy="52215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BE" sz="12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5059E4-B74D-74C4-8444-2AFA8FF61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001" y="297286"/>
            <a:ext cx="2438400" cy="12255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bg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interlayer</a:t>
            </a:r>
            <a:r>
              <a:rPr lang="fr-BE"/>
              <a:t>.</a:t>
            </a:r>
            <a:endParaRPr lang="en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4DEA5C-0DAC-C4ED-9D25-EDFF26A95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21200" y="1522836"/>
            <a:ext cx="5181600" cy="2261764"/>
          </a:xfrm>
        </p:spPr>
        <p:txBody>
          <a:bodyPr>
            <a:normAutofit/>
          </a:bodyPr>
          <a:lstStyle>
            <a:lvl1pPr marL="0" indent="0">
              <a:buNone/>
              <a:defRPr sz="1333">
                <a:latin typeface="Alata" panose="020B0604020202020204" charset="0"/>
              </a:defRPr>
            </a:lvl1pPr>
          </a:lstStyle>
          <a:p>
            <a:pPr lvl="0"/>
            <a:r>
              <a:rPr lang="fr-BE" sz="1333" err="1">
                <a:latin typeface="Alata" panose="020B0604020202020204" charset="0"/>
              </a:rPr>
              <a:t>your</a:t>
            </a:r>
            <a:r>
              <a:rPr lang="fr-BE" sz="1333">
                <a:latin typeface="Alata" panose="020B0604020202020204" charset="0"/>
              </a:rPr>
              <a:t> </a:t>
            </a:r>
            <a:r>
              <a:rPr lang="fr-BE" sz="1333" err="1">
                <a:latin typeface="Alata" panose="020B0604020202020204" charset="0"/>
              </a:rPr>
              <a:t>text</a:t>
            </a:r>
            <a:endParaRPr lang="fr-BE" sz="1333">
              <a:latin typeface="Alata" panose="020B0604020202020204" charset="0"/>
            </a:endParaRPr>
          </a:p>
          <a:p>
            <a:pPr lvl="0"/>
            <a:endParaRPr lang="fr-BE" sz="1333">
              <a:latin typeface="Alata" panose="020B0604020202020204" charset="0"/>
            </a:endParaRP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333">
                <a:solidFill>
                  <a:srgbClr val="000000"/>
                </a:solidFill>
                <a:latin typeface="Alata"/>
              </a:rPr>
              <a:t>Lorem ipsum dolor sit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amet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consectetur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adipiscing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sed do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eiusmod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tempor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incididunt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labore et dolore magna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Ut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ad minim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veniam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quis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nostrud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exercitation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ullamco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nisi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aliquip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commodo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consequat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Duis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aute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irure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reprehenderit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voluptate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esse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cillum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dolore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eu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fugiat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nulla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pariatur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Excepteur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sint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occaecat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cupidatat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proident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sunt in culpa qui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officia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deserunt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mollit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id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</a:t>
            </a:r>
          </a:p>
          <a:p>
            <a:pPr lvl="0"/>
            <a:endParaRPr lang="en-BE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B62A0EF-ACB9-05B7-C9B4-FE76A6F8E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999FF-0F40-44FC-9B73-2C43F4CF90D2}" type="slidenum">
              <a:rPr lang="en-BE" smtClean="0"/>
              <a:t>‹N°›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853871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trac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EAD02336-D7A2-E22B-D29D-140F9C6DB168}"/>
              </a:ext>
            </a:extLst>
          </p:cNvPr>
          <p:cNvSpPr/>
          <p:nvPr userDrawn="1"/>
        </p:nvSpPr>
        <p:spPr>
          <a:xfrm>
            <a:off x="0" y="0"/>
            <a:ext cx="7255129" cy="6866109"/>
          </a:xfrm>
          <a:custGeom>
            <a:avLst/>
            <a:gdLst/>
            <a:ahLst/>
            <a:cxnLst/>
            <a:rect l="l" t="t" r="r" b="b"/>
            <a:pathLst>
              <a:path w="10882694" h="10299163">
                <a:moveTo>
                  <a:pt x="0" y="0"/>
                </a:moveTo>
                <a:lnTo>
                  <a:pt x="10882694" y="0"/>
                </a:lnTo>
                <a:lnTo>
                  <a:pt x="10882694" y="10299163"/>
                </a:lnTo>
                <a:lnTo>
                  <a:pt x="0" y="10299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19" r="-21525"/>
            </a:stretch>
          </a:blipFill>
        </p:spPr>
        <p:txBody>
          <a:bodyPr/>
          <a:lstStyle/>
          <a:p>
            <a:endParaRPr lang="en-BE" sz="120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B814CE51-BEDC-02C2-4528-C154960E342B}"/>
              </a:ext>
            </a:extLst>
          </p:cNvPr>
          <p:cNvSpPr/>
          <p:nvPr userDrawn="1"/>
        </p:nvSpPr>
        <p:spPr>
          <a:xfrm>
            <a:off x="3891578" y="834296"/>
            <a:ext cx="6821129" cy="52215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BE" sz="12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5059E4-B74D-74C4-8444-2AFA8FF61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001" y="297286"/>
            <a:ext cx="2438400" cy="12255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bg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interlayer</a:t>
            </a:r>
            <a:r>
              <a:rPr lang="fr-BE"/>
              <a:t>.</a:t>
            </a:r>
            <a:endParaRPr lang="en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4DEA5C-0DAC-C4ED-9D25-EDFF26A959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21200" y="1522836"/>
            <a:ext cx="5181600" cy="2261764"/>
          </a:xfr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bg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sz="1333" err="1">
                <a:latin typeface="Alata" panose="020B0604020202020204" charset="0"/>
              </a:rPr>
              <a:t>your</a:t>
            </a:r>
            <a:r>
              <a:rPr lang="fr-BE" sz="1333">
                <a:latin typeface="Alata" panose="020B0604020202020204" charset="0"/>
              </a:rPr>
              <a:t> </a:t>
            </a:r>
            <a:r>
              <a:rPr lang="fr-BE" sz="1333" err="1">
                <a:latin typeface="Alata" panose="020B0604020202020204" charset="0"/>
              </a:rPr>
              <a:t>text</a:t>
            </a:r>
            <a:endParaRPr lang="fr-BE" sz="1333">
              <a:latin typeface="Alata" panose="020B0604020202020204" charset="0"/>
            </a:endParaRPr>
          </a:p>
          <a:p>
            <a:pPr lvl="0"/>
            <a:endParaRPr lang="fr-BE" sz="1333">
              <a:latin typeface="Alata" panose="020B0604020202020204" charset="0"/>
            </a:endParaRP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333">
                <a:solidFill>
                  <a:srgbClr val="000000"/>
                </a:solidFill>
                <a:latin typeface="Alata"/>
              </a:rPr>
              <a:t>Lorem ipsum dolor sit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amet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consectetur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adipiscing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sed do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eiusmod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tempor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incididunt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labore et dolore magna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Ut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ad minim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veniam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quis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nostrud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exercitation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ullamco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nisi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aliquip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commodo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consequat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Duis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aute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irure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reprehenderit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voluptate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esse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cillum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dolore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eu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fugiat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nulla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pariatur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Excepteur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sint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occaecat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cupidatat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proident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sunt in culpa qui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officia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deserunt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mollit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id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</a:t>
            </a:r>
          </a:p>
          <a:p>
            <a:pPr lvl="0"/>
            <a:endParaRPr lang="en-B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1834CC-1FEA-23E3-079E-AAA4DB74B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999FF-0F40-44FC-9B73-2C43F4CF90D2}" type="slidenum">
              <a:rPr lang="en-BE" smtClean="0"/>
              <a:t>‹N°›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11055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BB9B6481-FE6E-196B-176C-3CE19B112C73}"/>
              </a:ext>
            </a:extLst>
          </p:cNvPr>
          <p:cNvSpPr/>
          <p:nvPr userDrawn="1"/>
        </p:nvSpPr>
        <p:spPr>
          <a:xfrm>
            <a:off x="1917843" y="0"/>
            <a:ext cx="10274157" cy="6849438"/>
          </a:xfrm>
          <a:custGeom>
            <a:avLst/>
            <a:gdLst/>
            <a:ahLst/>
            <a:cxnLst/>
            <a:rect l="l" t="t" r="r" b="b"/>
            <a:pathLst>
              <a:path w="15411236" h="10274157">
                <a:moveTo>
                  <a:pt x="0" y="0"/>
                </a:moveTo>
                <a:lnTo>
                  <a:pt x="15411236" y="0"/>
                </a:lnTo>
                <a:lnTo>
                  <a:pt x="15411236" y="10274157"/>
                </a:lnTo>
                <a:lnTo>
                  <a:pt x="0" y="10274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429" b="-42429"/>
            </a:stretch>
          </a:blipFill>
        </p:spPr>
        <p:txBody>
          <a:bodyPr/>
          <a:lstStyle/>
          <a:p>
            <a:endParaRPr lang="en-BE" sz="120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061B89D-39FF-489E-C54D-787312968A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4400" y="5257800"/>
            <a:ext cx="3556000" cy="12255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tx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interlayer</a:t>
            </a:r>
            <a:r>
              <a:rPr lang="fr-BE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4965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BB9B6481-FE6E-196B-176C-3CE19B112C73}"/>
              </a:ext>
            </a:extLst>
          </p:cNvPr>
          <p:cNvSpPr/>
          <p:nvPr userDrawn="1"/>
        </p:nvSpPr>
        <p:spPr>
          <a:xfrm>
            <a:off x="1917843" y="0"/>
            <a:ext cx="10274157" cy="6849438"/>
          </a:xfrm>
          <a:custGeom>
            <a:avLst/>
            <a:gdLst/>
            <a:ahLst/>
            <a:cxnLst/>
            <a:rect l="l" t="t" r="r" b="b"/>
            <a:pathLst>
              <a:path w="15411236" h="10274157">
                <a:moveTo>
                  <a:pt x="0" y="0"/>
                </a:moveTo>
                <a:lnTo>
                  <a:pt x="15411236" y="0"/>
                </a:lnTo>
                <a:lnTo>
                  <a:pt x="15411236" y="10274157"/>
                </a:lnTo>
                <a:lnTo>
                  <a:pt x="0" y="10274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429" b="-42429"/>
            </a:stretch>
          </a:blipFill>
        </p:spPr>
        <p:txBody>
          <a:bodyPr/>
          <a:lstStyle/>
          <a:p>
            <a:endParaRPr lang="en-BE" sz="120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061B89D-39FF-489E-C54D-787312968A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4400" y="5257800"/>
            <a:ext cx="3556000" cy="122555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bg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</a:t>
            </a:r>
            <a:r>
              <a:rPr lang="fr-BE" err="1"/>
              <a:t>your</a:t>
            </a:r>
            <a:r>
              <a:rPr lang="fr-BE"/>
              <a:t> </a:t>
            </a:r>
            <a:r>
              <a:rPr lang="fr-BE" err="1"/>
              <a:t>interlayer</a:t>
            </a:r>
            <a:r>
              <a:rPr lang="fr-BE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35155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51F0E429-0D74-A15D-B7D6-024A6F6FAFC3}"/>
              </a:ext>
            </a:extLst>
          </p:cNvPr>
          <p:cNvGrpSpPr/>
          <p:nvPr userDrawn="1"/>
        </p:nvGrpSpPr>
        <p:grpSpPr>
          <a:xfrm>
            <a:off x="8342636" y="-241831"/>
            <a:ext cx="3040574" cy="7878536"/>
            <a:chOff x="0" y="0"/>
            <a:chExt cx="1019382" cy="2641356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8589C043-5F6A-ACA0-8942-00992B6CC9EB}"/>
                </a:ext>
              </a:extLst>
            </p:cNvPr>
            <p:cNvSpPr/>
            <p:nvPr/>
          </p:nvSpPr>
          <p:spPr>
            <a:xfrm>
              <a:off x="0" y="0"/>
              <a:ext cx="1019382" cy="2641356"/>
            </a:xfrm>
            <a:custGeom>
              <a:avLst/>
              <a:gdLst/>
              <a:ahLst/>
              <a:cxnLst/>
              <a:rect l="l" t="t" r="r" b="b"/>
              <a:pathLst>
                <a:path w="1019382" h="2641356">
                  <a:moveTo>
                    <a:pt x="0" y="0"/>
                  </a:moveTo>
                  <a:lnTo>
                    <a:pt x="1019382" y="0"/>
                  </a:lnTo>
                  <a:lnTo>
                    <a:pt x="1019382" y="2641356"/>
                  </a:lnTo>
                  <a:lnTo>
                    <a:pt x="0" y="26413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BE" sz="1200"/>
            </a:p>
          </p:txBody>
        </p:sp>
      </p:grp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AD7517F-9CDA-AC0C-8620-A53F243BA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482600"/>
            <a:ext cx="3556000" cy="5588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tx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.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948611-D747-0355-960F-414EC829A2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346200"/>
            <a:ext cx="2032000" cy="434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sub-title</a:t>
            </a:r>
            <a:r>
              <a:rPr lang="fr-BE"/>
              <a:t>.</a:t>
            </a:r>
            <a:endParaRPr lang="en-B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31710ED-76BA-24E1-441C-62BB242524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3457" y="1882302"/>
            <a:ext cx="2590800" cy="4673600"/>
          </a:xfr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bg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>
                <a:latin typeface="Alata" panose="020B0604020202020204" charset="0"/>
              </a:rPr>
              <a:t>your</a:t>
            </a:r>
            <a:r>
              <a:rPr lang="fr-BE">
                <a:latin typeface="Alata" panose="020B0604020202020204" charset="0"/>
              </a:rPr>
              <a:t> </a:t>
            </a:r>
            <a:r>
              <a:rPr lang="fr-BE" err="1">
                <a:latin typeface="Alata" panose="020B0604020202020204" charset="0"/>
              </a:rPr>
              <a:t>text</a:t>
            </a:r>
            <a:endParaRPr lang="fr-BE">
              <a:latin typeface="Alata" panose="020B0604020202020204" charset="0"/>
            </a:endParaRPr>
          </a:p>
          <a:p>
            <a:pPr lvl="0"/>
            <a:endParaRPr lang="fr-BE">
              <a:latin typeface="Alata" panose="020B0604020202020204" charset="0"/>
            </a:endParaRP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BE">
                <a:latin typeface="Alata" panose="020B0604020202020204" charset="0"/>
              </a:rPr>
              <a:t>Lorem ipsum 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dolor sit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amet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,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consectetur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adipiscing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elit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, sed do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eiusmod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tempor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incididunt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ut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labore et dolore magna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aliqua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. Ut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enim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ad minim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veniam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,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quis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nostrud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exercitation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ullamco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laboris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nisi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ut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aliquip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ex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ea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commodo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consequat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. Duis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aute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irure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dolor in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reprehenderit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in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voluptate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velit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esse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cillum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dolore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eu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fugiat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nulla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pariatur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.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Excepteur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sint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occaecat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cupidatat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non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proident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, sunt in culpa qui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officia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deserunt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mollit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anim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id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est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 </a:t>
            </a:r>
            <a:r>
              <a:rPr lang="en-US" sz="1333" err="1">
                <a:solidFill>
                  <a:srgbClr val="FFFFFF"/>
                </a:solidFill>
                <a:latin typeface="Alata Bold"/>
              </a:rPr>
              <a:t>laborum</a:t>
            </a:r>
            <a:r>
              <a:rPr lang="en-US" sz="1333">
                <a:solidFill>
                  <a:srgbClr val="FFFFFF"/>
                </a:solidFill>
                <a:latin typeface="Alata Bold"/>
              </a:rPr>
              <a:t>.</a:t>
            </a:r>
          </a:p>
          <a:p>
            <a:pPr lvl="0"/>
            <a:endParaRPr lang="fr-BE">
              <a:latin typeface="Alata" panose="020B0604020202020204" charset="0"/>
            </a:endParaRP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461808C4-4B59-A5C2-66BE-F33C0E315F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911" y="2159000"/>
            <a:ext cx="7253251" cy="2261764"/>
          </a:xfrm>
        </p:spPr>
        <p:txBody>
          <a:bodyPr>
            <a:normAutofit/>
          </a:bodyPr>
          <a:lstStyle>
            <a:lvl1pPr marL="0" indent="0" algn="just">
              <a:buNone/>
              <a:defRPr sz="1333">
                <a:latin typeface="Alata" panose="020B0604020202020204" charset="0"/>
              </a:defRPr>
            </a:lvl1pPr>
          </a:lstStyle>
          <a:p>
            <a:pPr lvl="0"/>
            <a:r>
              <a:rPr lang="fr-BE" sz="1333" err="1">
                <a:latin typeface="Alata" panose="020B0604020202020204" charset="0"/>
              </a:rPr>
              <a:t>your</a:t>
            </a:r>
            <a:r>
              <a:rPr lang="fr-BE" sz="1333">
                <a:latin typeface="Alata" panose="020B0604020202020204" charset="0"/>
              </a:rPr>
              <a:t> </a:t>
            </a:r>
            <a:r>
              <a:rPr lang="fr-BE" sz="1333" err="1">
                <a:latin typeface="Alata" panose="020B0604020202020204" charset="0"/>
              </a:rPr>
              <a:t>text</a:t>
            </a:r>
            <a:endParaRPr lang="fr-BE" sz="1333">
              <a:latin typeface="Alata" panose="020B0604020202020204" charset="0"/>
            </a:endParaRPr>
          </a:p>
          <a:p>
            <a:pPr lvl="0"/>
            <a:endParaRPr lang="fr-BE" sz="1333">
              <a:latin typeface="Alata" panose="020B0604020202020204" charset="0"/>
            </a:endParaRP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333">
                <a:solidFill>
                  <a:srgbClr val="000000"/>
                </a:solidFill>
                <a:latin typeface="Alata"/>
              </a:rPr>
              <a:t>Lorem ipsum dolor sit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amet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consectetur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adipiscing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sed do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eiusmod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tempor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incididunt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labore et dolore magna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Ut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ad minim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veniam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quis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nostrud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exercitation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ullamco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nisi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aliquip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commodo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consequat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Duis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aute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irure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reprehenderit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voluptate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esse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cillum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dolore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eu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fugiat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nulla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pariatur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Excepteur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sint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occaecat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cupidatat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proident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sunt in culpa qui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officia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deserunt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mollit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id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</a:t>
            </a:r>
          </a:p>
          <a:p>
            <a:pPr lvl="0"/>
            <a:endParaRPr lang="en-B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11CF659-3683-07DF-9018-5E939C849F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911" y="6172200"/>
            <a:ext cx="3434291" cy="203200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the </a:t>
            </a:r>
            <a:r>
              <a:rPr lang="fr-BE" err="1"/>
              <a:t>presentation</a:t>
            </a:r>
            <a:r>
              <a:rPr lang="fr-BE"/>
              <a:t>. 01/01/2023</a:t>
            </a:r>
            <a:endParaRPr lang="en-BE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AA4135E4-1F53-CF11-E10D-21EFE3B1A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6400" y="63733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999FF-0F40-44FC-9B73-2C43F4CF90D2}" type="slidenum">
              <a:rPr lang="en-BE" smtClean="0"/>
              <a:t>‹N°›</a:t>
            </a:fld>
            <a:endParaRPr lang="en-BE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5A69855-FC72-3806-8D33-A327FDEA12B9}"/>
              </a:ext>
            </a:extLst>
          </p:cNvPr>
          <p:cNvSpPr txBox="1">
            <a:spLocks/>
          </p:cNvSpPr>
          <p:nvPr userDrawn="1"/>
        </p:nvSpPr>
        <p:spPr>
          <a:xfrm>
            <a:off x="10642134" y="6459665"/>
            <a:ext cx="1071565" cy="365125"/>
          </a:xfrm>
          <a:prstGeom prst="rect">
            <a:avLst/>
          </a:prstGeom>
        </p:spPr>
        <p:txBody>
          <a:bodyPr vert="horz" lIns="60960" tIns="30480" rIns="60960" bIns="3048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dirty="0">
                <a:solidFill>
                  <a:schemeClr val="bg1"/>
                </a:solidFill>
                <a:latin typeface="Alata"/>
                <a:cs typeface="Calibri"/>
              </a:rPr>
              <a:t>int</a:t>
            </a:r>
            <a:r>
              <a:rPr lang="en-US" sz="1867" kern="1200" dirty="0">
                <a:solidFill>
                  <a:schemeClr val="tx1"/>
                </a:solidFill>
                <a:latin typeface="Alata"/>
                <a:ea typeface="+mn-ea"/>
                <a:cs typeface="Calibri"/>
              </a:rPr>
              <a:t>y</a:t>
            </a:r>
            <a:r>
              <a:rPr lang="en-US" sz="1867" dirty="0">
                <a:solidFill>
                  <a:schemeClr val="tx1"/>
                </a:solidFill>
                <a:latin typeface="Alata"/>
                <a:cs typeface="Calibri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5058049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51F0E429-0D74-A15D-B7D6-024A6F6FAFC3}"/>
              </a:ext>
            </a:extLst>
          </p:cNvPr>
          <p:cNvGrpSpPr/>
          <p:nvPr userDrawn="1"/>
        </p:nvGrpSpPr>
        <p:grpSpPr>
          <a:xfrm>
            <a:off x="8345310" y="-241831"/>
            <a:ext cx="3040574" cy="7878536"/>
            <a:chOff x="0" y="0"/>
            <a:chExt cx="1019382" cy="2641356"/>
          </a:xfrm>
          <a:solidFill>
            <a:srgbClr val="E6D5CA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8589C043-5F6A-ACA0-8942-00992B6CC9EB}"/>
                </a:ext>
              </a:extLst>
            </p:cNvPr>
            <p:cNvSpPr/>
            <p:nvPr/>
          </p:nvSpPr>
          <p:spPr>
            <a:xfrm>
              <a:off x="0" y="0"/>
              <a:ext cx="1019382" cy="2641356"/>
            </a:xfrm>
            <a:custGeom>
              <a:avLst/>
              <a:gdLst/>
              <a:ahLst/>
              <a:cxnLst/>
              <a:rect l="l" t="t" r="r" b="b"/>
              <a:pathLst>
                <a:path w="1019382" h="2641356">
                  <a:moveTo>
                    <a:pt x="0" y="0"/>
                  </a:moveTo>
                  <a:lnTo>
                    <a:pt x="1019382" y="0"/>
                  </a:lnTo>
                  <a:lnTo>
                    <a:pt x="1019382" y="2641356"/>
                  </a:lnTo>
                  <a:lnTo>
                    <a:pt x="0" y="264135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BE" sz="1200"/>
            </a:p>
          </p:txBody>
        </p:sp>
      </p:grp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AD7517F-9CDA-AC0C-8620-A53F243BA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482600"/>
            <a:ext cx="3556000" cy="5588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tx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.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948611-D747-0355-960F-414EC829A2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346200"/>
            <a:ext cx="2032000" cy="434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sub-title</a:t>
            </a:r>
            <a:r>
              <a:rPr lang="fr-BE"/>
              <a:t>.</a:t>
            </a:r>
            <a:endParaRPr lang="en-B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31710ED-76BA-24E1-441C-62BB242524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3457" y="1882302"/>
            <a:ext cx="2590800" cy="4673600"/>
          </a:xfr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>
                <a:latin typeface="Alata" panose="020B0604020202020204" charset="0"/>
              </a:rPr>
              <a:t>your</a:t>
            </a:r>
            <a:r>
              <a:rPr lang="fr-BE">
                <a:latin typeface="Alata" panose="020B0604020202020204" charset="0"/>
              </a:rPr>
              <a:t> </a:t>
            </a:r>
            <a:r>
              <a:rPr lang="fr-BE" err="1">
                <a:latin typeface="Alata" panose="020B0604020202020204" charset="0"/>
              </a:rPr>
              <a:t>text</a:t>
            </a:r>
            <a:endParaRPr lang="fr-BE">
              <a:latin typeface="Alata" panose="020B0604020202020204" charset="0"/>
            </a:endParaRPr>
          </a:p>
          <a:p>
            <a:pPr lvl="0"/>
            <a:endParaRPr lang="fr-BE">
              <a:latin typeface="Alata" panose="020B0604020202020204" charset="0"/>
            </a:endParaRP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BE">
                <a:latin typeface="Alata" panose="020B0604020202020204" charset="0"/>
              </a:rPr>
              <a:t>Lorem ipsum 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dolor sit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amet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consectetur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adipiscing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sed do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eiusmod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tempor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incididunt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labore et dolore magna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Ut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ad minim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veniam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quis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nostrud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exercitation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ullamco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nisi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aliquip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commodo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consequat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Duis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aute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irure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reprehenderit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voluptate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esse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cillum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dolore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eu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fugiat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nulla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pariatur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Excepteur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sint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occaecat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cupidatat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proident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sunt in culpa qui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officia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deserunt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mollit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id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</a:t>
            </a: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BE">
              <a:latin typeface="Alata" panose="020B0604020202020204" charset="0"/>
            </a:endParaRP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461808C4-4B59-A5C2-66BE-F33C0E315F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911" y="2159000"/>
            <a:ext cx="7253251" cy="2261764"/>
          </a:xfrm>
        </p:spPr>
        <p:txBody>
          <a:bodyPr>
            <a:normAutofit/>
          </a:bodyPr>
          <a:lstStyle>
            <a:lvl1pPr marL="0" indent="0" algn="just">
              <a:buNone/>
              <a:defRPr sz="1333">
                <a:latin typeface="Alata" panose="020B0604020202020204" charset="0"/>
              </a:defRPr>
            </a:lvl1pPr>
          </a:lstStyle>
          <a:p>
            <a:pPr lvl="0"/>
            <a:r>
              <a:rPr lang="fr-BE" sz="1333" err="1">
                <a:latin typeface="Alata" panose="020B0604020202020204" charset="0"/>
              </a:rPr>
              <a:t>your</a:t>
            </a:r>
            <a:r>
              <a:rPr lang="fr-BE" sz="1333">
                <a:latin typeface="Alata" panose="020B0604020202020204" charset="0"/>
              </a:rPr>
              <a:t> </a:t>
            </a:r>
            <a:r>
              <a:rPr lang="fr-BE" sz="1333" err="1">
                <a:latin typeface="Alata" panose="020B0604020202020204" charset="0"/>
              </a:rPr>
              <a:t>text</a:t>
            </a:r>
            <a:endParaRPr lang="fr-BE" sz="1333">
              <a:latin typeface="Alata" panose="020B0604020202020204" charset="0"/>
            </a:endParaRPr>
          </a:p>
          <a:p>
            <a:pPr lvl="0"/>
            <a:endParaRPr lang="fr-BE" sz="1333">
              <a:latin typeface="Alata" panose="020B0604020202020204" charset="0"/>
            </a:endParaRP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333">
                <a:solidFill>
                  <a:srgbClr val="000000"/>
                </a:solidFill>
                <a:latin typeface="Alata"/>
              </a:rPr>
              <a:t>Lorem ipsum dolor sit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amet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consectetur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adipiscing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sed do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eiusmod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tempor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incididunt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labore et dolore magna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Ut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ad minim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veniam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quis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nostrud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exercitation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ullamco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nisi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aliquip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commodo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consequat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Duis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aute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irure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reprehenderit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voluptate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esse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cillum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dolore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eu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fugiat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nulla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pariatur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Excepteur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sint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occaecat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cupidatat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proident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sunt in culpa qui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officia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deserunt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mollit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id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</a:t>
            </a:r>
          </a:p>
          <a:p>
            <a:pPr lvl="0"/>
            <a:endParaRPr lang="en-BE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F3BBCB52-CEA2-4D4F-F353-5470CBD060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911" y="6172200"/>
            <a:ext cx="3434291" cy="203200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the </a:t>
            </a:r>
            <a:r>
              <a:rPr lang="fr-BE" err="1"/>
              <a:t>presentation</a:t>
            </a:r>
            <a:r>
              <a:rPr lang="fr-BE"/>
              <a:t>. 01/01/2023</a:t>
            </a:r>
            <a:endParaRPr lang="en-BE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48E5BB1-BD50-6468-6AC0-C7753B8E5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5600" y="63733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999FF-0F40-44FC-9B73-2C43F4CF90D2}" type="slidenum">
              <a:rPr lang="en-BE" smtClean="0"/>
              <a:t>‹N°›</a:t>
            </a:fld>
            <a:endParaRPr lang="en-BE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FF9BEBA0-5F91-A3E9-0B16-2B00CC13E6B5}"/>
              </a:ext>
            </a:extLst>
          </p:cNvPr>
          <p:cNvSpPr txBox="1">
            <a:spLocks/>
          </p:cNvSpPr>
          <p:nvPr userDrawn="1"/>
        </p:nvSpPr>
        <p:spPr>
          <a:xfrm>
            <a:off x="10642134" y="6459665"/>
            <a:ext cx="1071565" cy="365125"/>
          </a:xfrm>
          <a:prstGeom prst="rect">
            <a:avLst/>
          </a:prstGeom>
        </p:spPr>
        <p:txBody>
          <a:bodyPr vert="horz" lIns="60960" tIns="30480" rIns="60960" bIns="3048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dirty="0">
                <a:solidFill>
                  <a:schemeClr val="tx1"/>
                </a:solidFill>
                <a:latin typeface="Alata"/>
                <a:cs typeface="Calibri"/>
              </a:rPr>
              <a:t>int</a:t>
            </a:r>
            <a:r>
              <a:rPr lang="en-US" sz="1867" kern="1200" dirty="0">
                <a:solidFill>
                  <a:schemeClr val="tx1"/>
                </a:solidFill>
                <a:latin typeface="Alata"/>
                <a:ea typeface="+mn-ea"/>
                <a:cs typeface="Calibri"/>
              </a:rPr>
              <a:t>y</a:t>
            </a:r>
            <a:r>
              <a:rPr lang="en-US" sz="1867" dirty="0">
                <a:solidFill>
                  <a:schemeClr val="tx1"/>
                </a:solidFill>
                <a:latin typeface="Alata"/>
                <a:cs typeface="Calibri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10780459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AD7517F-9CDA-AC0C-8620-A53F243BA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482600"/>
            <a:ext cx="3556000" cy="5588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334">
                <a:solidFill>
                  <a:schemeClr val="tx1"/>
                </a:solidFill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.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948611-D747-0355-960F-414EC829A2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800" y="1346200"/>
            <a:ext cx="2032000" cy="43450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sub-title</a:t>
            </a:r>
            <a:r>
              <a:rPr lang="fr-BE"/>
              <a:t>.</a:t>
            </a:r>
            <a:endParaRPr lang="en-BE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461808C4-4B59-A5C2-66BE-F33C0E315F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911" y="2159000"/>
            <a:ext cx="10222689" cy="2261764"/>
          </a:xfrm>
        </p:spPr>
        <p:txBody>
          <a:bodyPr>
            <a:normAutofit/>
          </a:bodyPr>
          <a:lstStyle>
            <a:lvl1pPr marL="0" indent="0" algn="just">
              <a:buNone/>
              <a:defRPr sz="1333">
                <a:latin typeface="Alata" panose="020B0604020202020204" charset="0"/>
              </a:defRPr>
            </a:lvl1pPr>
          </a:lstStyle>
          <a:p>
            <a:pPr lvl="0"/>
            <a:r>
              <a:rPr lang="fr-BE" sz="1333" err="1">
                <a:latin typeface="Alata" panose="020B0604020202020204" charset="0"/>
              </a:rPr>
              <a:t>your</a:t>
            </a:r>
            <a:r>
              <a:rPr lang="fr-BE" sz="1333">
                <a:latin typeface="Alata" panose="020B0604020202020204" charset="0"/>
              </a:rPr>
              <a:t> </a:t>
            </a:r>
            <a:r>
              <a:rPr lang="fr-BE" sz="1333" err="1">
                <a:latin typeface="Alata" panose="020B0604020202020204" charset="0"/>
              </a:rPr>
              <a:t>text</a:t>
            </a:r>
            <a:endParaRPr lang="fr-BE" sz="1333">
              <a:latin typeface="Alata" panose="020B0604020202020204" charset="0"/>
            </a:endParaRPr>
          </a:p>
          <a:p>
            <a:pPr lvl="0"/>
            <a:endParaRPr lang="fr-BE" sz="1333">
              <a:latin typeface="Alata" panose="020B0604020202020204" charset="0"/>
            </a:endParaRP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333">
                <a:solidFill>
                  <a:srgbClr val="000000"/>
                </a:solidFill>
                <a:latin typeface="Alata"/>
              </a:rPr>
              <a:t>Lorem ipsum dolor sit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amet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consectetur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adipiscing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sed do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eiusmod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tempor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incididunt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labore et dolore magna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Ut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ad minim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veniam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quis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nostrud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exercitation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ullamco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laboris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nisi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ut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aliquip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ex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commodo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consequat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Duis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aute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irure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reprehenderit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voluptate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velit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esse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cillum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dolore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eu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fugiat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nulla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pariatur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Excepteur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sint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occaecat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cupidatat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non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proident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, sunt in culpa qui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officia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deserunt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mollit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anim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id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est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 </a:t>
            </a:r>
            <a:r>
              <a:rPr lang="en-US" sz="1333" err="1">
                <a:solidFill>
                  <a:srgbClr val="000000"/>
                </a:solidFill>
                <a:latin typeface="Alata"/>
              </a:rPr>
              <a:t>laborum</a:t>
            </a:r>
            <a:r>
              <a:rPr lang="en-US" sz="1333">
                <a:solidFill>
                  <a:srgbClr val="000000"/>
                </a:solidFill>
                <a:latin typeface="Alata"/>
              </a:rPr>
              <a:t>.</a:t>
            </a:r>
          </a:p>
          <a:p>
            <a:pPr lvl="0"/>
            <a:endParaRPr lang="en-BE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7474CA84-DE6D-17B7-BE1E-F85D3A1160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911" y="6172200"/>
            <a:ext cx="3434291" cy="203200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latin typeface="Alata" panose="020B0604020202020204" charset="0"/>
              </a:defRPr>
            </a:lvl1pPr>
          </a:lstStyle>
          <a:p>
            <a:pPr lvl="0"/>
            <a:r>
              <a:rPr lang="fr-BE" err="1"/>
              <a:t>Title</a:t>
            </a:r>
            <a:r>
              <a:rPr lang="fr-BE"/>
              <a:t> of the </a:t>
            </a:r>
            <a:r>
              <a:rPr lang="fr-BE" err="1"/>
              <a:t>presentation</a:t>
            </a:r>
            <a:r>
              <a:rPr lang="fr-BE"/>
              <a:t>. 01/01/2023</a:t>
            </a:r>
            <a:endParaRPr lang="en-BE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5CABC44-15AA-0E35-8419-3620D77B8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999FF-0F40-44FC-9B73-2C43F4CF90D2}" type="slidenum">
              <a:rPr lang="en-BE" smtClean="0"/>
              <a:t>‹N°›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23075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582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964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391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413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309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167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676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680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210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258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2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8E0CFD-17FD-4CF9-81E3-5ADE052FF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767773-D240-4D00-AF5A-C4E26890D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EDA2FCD-38D6-4325-A5AE-58B4FB32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2958" y="6482376"/>
            <a:ext cx="56904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fr-BE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DB8C4846-369E-4E02-8BDF-BA1EA833FF59}" type="slidenum">
              <a:rPr lang="fr-BE" smtClean="0"/>
              <a:pPr algn="ctr"/>
              <a:t>‹N°›</a:t>
            </a:fld>
            <a:endParaRPr lang="fr-BE"/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85597754-CAB2-473E-9133-6705E0678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4601"/>
            <a:ext cx="13445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BF353C"/>
                </a:solidFill>
              </a:defRPr>
            </a:lvl1pPr>
          </a:lstStyle>
          <a:p>
            <a:r>
              <a:rPr lang="fr-FR"/>
              <a:t>CONFIDENTIAL</a:t>
            </a:r>
            <a:endParaRPr lang="fr-BE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630AF7E6-8DFD-4BA7-9B68-9E758165D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46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Document Title - DD/MM/YY </a:t>
            </a:r>
            <a:endParaRPr lang="en-IE" noProof="0"/>
          </a:p>
        </p:txBody>
      </p:sp>
    </p:spTree>
    <p:extLst>
      <p:ext uri="{BB962C8B-B14F-4D97-AF65-F5344CB8AC3E}">
        <p14:creationId xmlns:p14="http://schemas.microsoft.com/office/powerpoint/2010/main" val="369320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60" r:id="rId3"/>
    <p:sldLayoutId id="2147483650" r:id="rId4"/>
    <p:sldLayoutId id="2147483673" r:id="rId5"/>
    <p:sldLayoutId id="2147483651" r:id="rId6"/>
    <p:sldLayoutId id="2147483674" r:id="rId7"/>
    <p:sldLayoutId id="2147483789" r:id="rId8"/>
    <p:sldLayoutId id="2147483677" r:id="rId9"/>
    <p:sldLayoutId id="2147483653" r:id="rId10"/>
    <p:sldLayoutId id="2147483675" r:id="rId11"/>
    <p:sldLayoutId id="2147483790" r:id="rId12"/>
    <p:sldLayoutId id="214748379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b="1" kern="1200">
          <a:solidFill>
            <a:srgbClr val="3C3C3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Ebrima" panose="02000000000000000000" pitchFamily="2" charset="0"/>
        <a:buChar char="–"/>
        <a:defRPr sz="2000" b="1" kern="1200">
          <a:solidFill>
            <a:srgbClr val="8C847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Ebrima" panose="02000000000000000000" pitchFamily="2" charset="0"/>
        <a:buChar char="–"/>
        <a:defRPr sz="1800" b="1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6x9_A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52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2" y="313018"/>
            <a:ext cx="10972800" cy="737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2" y="1342544"/>
            <a:ext cx="10972800" cy="4678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13154" y="6242152"/>
            <a:ext cx="3352800" cy="32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32" b="1">
                <a:latin typeface="Arial Narrow" panose="020B0606020202030204" pitchFamily="34" charset="0"/>
              </a:defRPr>
            </a:lvl1pPr>
          </a:lstStyle>
          <a:p>
            <a:r>
              <a:rPr lang="en-US" altLang="en-US"/>
              <a:t>‹#›      Last Mile Program - Europe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4473908" y="6242152"/>
            <a:ext cx="2844801" cy="32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sz="1332">
                <a:latin typeface="Arial Narrow" charset="0"/>
                <a:ea typeface="ＭＳ Ｐゴシック" charset="0"/>
              </a:rPr>
              <a:t>Caterpillar Confidential Green</a:t>
            </a:r>
          </a:p>
        </p:txBody>
      </p:sp>
      <p:sp>
        <p:nvSpPr>
          <p:cNvPr id="2" name="MSIPCMContentMarking" descr="{&quot;HashCode&quot;:135238423,&quot;Placement&quot;:&quot;Footer&quot;,&quot;Top&quot;:384.717957,&quot;Left&quot;:0.0,&quot;SlideWidth&quot;:720,&quot;SlideHeight&quot;:405}">
            <a:extLst>
              <a:ext uri="{FF2B5EF4-FFF2-40B4-BE49-F238E27FC236}">
                <a16:creationId xmlns:a16="http://schemas.microsoft.com/office/drawing/2014/main" id="{7C8DB5D3-49C1-4254-87D3-E7889B331346}"/>
              </a:ext>
            </a:extLst>
          </p:cNvPr>
          <p:cNvSpPr txBox="1"/>
          <p:nvPr userDrawn="1"/>
        </p:nvSpPr>
        <p:spPr>
          <a:xfrm>
            <a:off x="0" y="6580767"/>
            <a:ext cx="2507498" cy="20499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sz="1332">
                <a:solidFill>
                  <a:srgbClr val="737373"/>
                </a:solidFill>
                <a:latin typeface="Calibri" panose="020F0502020204030204" pitchFamily="34" charset="0"/>
              </a:rPr>
              <a:t>Caterpillar: Confidential Green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28" r:id="rId2"/>
    <p:sldLayoutId id="2147483788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  <a:cs typeface="Arial" charset="0"/>
        </a:defRPr>
      </a:lvl5pPr>
      <a:lvl6pPr marL="457189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  <a:cs typeface="Arial" charset="0"/>
        </a:defRPr>
      </a:lvl6pPr>
      <a:lvl7pPr marL="914377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  <a:cs typeface="Arial" charset="0"/>
        </a:defRPr>
      </a:lvl7pPr>
      <a:lvl8pPr marL="1371566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  <a:cs typeface="Arial" charset="0"/>
        </a:defRPr>
      </a:lvl8pPr>
      <a:lvl9pPr marL="1828754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  <a:cs typeface="Arial" charset="0"/>
        </a:defRPr>
      </a:lvl9pPr>
    </p:titleStyle>
    <p:bodyStyle>
      <a:lvl1pPr marL="342891" indent="-342891" algn="l" rtl="0" eaLnBrk="1" fontAlgn="base" hangingPunct="1">
        <a:spcBef>
          <a:spcPts val="300"/>
        </a:spcBef>
        <a:spcAft>
          <a:spcPct val="0"/>
        </a:spcAft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ts val="3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Arial" charset="0"/>
          <a:cs typeface="+mn-cs"/>
        </a:defRPr>
      </a:lvl2pPr>
      <a:lvl3pPr marL="1142971" indent="-228594" algn="l" rtl="0" eaLnBrk="1" fontAlgn="base" hangingPunct="1">
        <a:spcBef>
          <a:spcPts val="3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Arial" charset="0"/>
          <a:cs typeface="+mn-cs"/>
        </a:defRPr>
      </a:lvl3pPr>
      <a:lvl4pPr marL="1600160" indent="-228594" algn="l" rtl="0" eaLnBrk="1" fontAlgn="base" hangingPunct="1">
        <a:spcBef>
          <a:spcPts val="3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Arial" charset="0"/>
          <a:cs typeface="+mn-cs"/>
        </a:defRPr>
      </a:lvl4pPr>
      <a:lvl5pPr marL="2057349" indent="-228594" algn="l" rtl="0" eaLnBrk="1" fontAlgn="base" hangingPunct="1">
        <a:spcBef>
          <a:spcPts val="3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Arial" charset="0"/>
          <a:cs typeface="+mn-cs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Arial" charset="0"/>
          <a:cs typeface="+mn-cs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Arial" charset="0"/>
          <a:cs typeface="+mn-cs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Arial" charset="0"/>
          <a:cs typeface="+mn-cs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</p:sldLayoutIdLst>
  <p:hf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43C7E-A121-531E-A196-DBF6F831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52350-0D94-84D1-1A08-42C72C83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2ED66-3390-7EA0-3C62-90A6D53D5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A73A0-6531-23BC-4657-043965FF0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592F6-9AF1-099B-C0D3-BDEFE2586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2B324-D306-49CB-A3B8-7BB2C0BFD566}" type="slidenum">
              <a:rPr lang="en-BE" smtClean="0"/>
              <a:t>‹N°›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1157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hf hdr="0" ftr="0" dt="0"/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8641E-5443-5641-2DAC-133A48C20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E135E-043A-9AA0-CF51-CAA7262E7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67B8E-082E-2F30-0E28-111100A168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1A788-ABD4-EA63-80D9-92873DE40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3F4EC-6E77-4C7B-37A0-2D07B0FC0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8AA38-69B5-46AA-83DE-C0DC2F4AAD6E}" type="slidenum">
              <a:rPr lang="en-BE" smtClean="0"/>
              <a:t>‹N°›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9758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hf hdr="0" ftr="0" dt="0"/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49F92-C012-61D0-72B9-511ED89BF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6A428-E3BA-8803-9749-6D0A38DE5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9F98D-040C-7A03-4ED7-91F9EE5E7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74F49-36AE-B495-9730-F0AC4DEF7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1E3FC-100D-7704-D773-488B77FCC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6C671-0564-4A44-87C9-117C332BDEA2}" type="slidenum">
              <a:rPr lang="en-BE" smtClean="0"/>
              <a:t>‹N°›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6816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hf hdr="0" ftr="0" dt="0"/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43C7E-A121-531E-A196-DBF6F831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52350-0D94-84D1-1A08-42C72C83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2ED66-3390-7EA0-3C62-90A6D53D5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A73A0-6531-23BC-4657-043965FF0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592F6-9AF1-099B-C0D3-BDEFE2586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2B324-D306-49CB-A3B8-7BB2C0BFD566}" type="slidenum">
              <a:rPr lang="en-BE" smtClean="0"/>
              <a:t>‹N°›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3331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</p:sldLayoutIdLst>
  <p:hf hdr="0" ftr="0" dt="0"/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89813-661A-103D-0C79-0B66F4D1F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6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6B75-BA2E-4039-814D-C6B3725FB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B50C9-712F-CC6F-3759-297962264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451F5-91EE-F63B-7A04-4C138715E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246C548B-70CD-7A6F-9717-19F99179449F}"/>
              </a:ext>
            </a:extLst>
          </p:cNvPr>
          <p:cNvSpPr txBox="1">
            <a:spLocks/>
          </p:cNvSpPr>
          <p:nvPr userDrawn="1"/>
        </p:nvSpPr>
        <p:spPr>
          <a:xfrm>
            <a:off x="10642134" y="6459665"/>
            <a:ext cx="1071565" cy="365125"/>
          </a:xfrm>
          <a:prstGeom prst="rect">
            <a:avLst/>
          </a:prstGeom>
        </p:spPr>
        <p:txBody>
          <a:bodyPr vert="horz" lIns="60960" tIns="30480" rIns="60960" bIns="3048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dirty="0">
                <a:solidFill>
                  <a:schemeClr val="tx1"/>
                </a:solidFill>
                <a:latin typeface="Alata"/>
                <a:cs typeface="Calibri"/>
              </a:rPr>
              <a:t>int</a:t>
            </a:r>
            <a:r>
              <a:rPr lang="en-US" sz="1867" kern="1200" dirty="0">
                <a:solidFill>
                  <a:schemeClr val="tx1"/>
                </a:solidFill>
                <a:latin typeface="Alata"/>
                <a:ea typeface="+mn-ea"/>
                <a:cs typeface="Calibri"/>
              </a:rPr>
              <a:t>y</a:t>
            </a:r>
            <a:r>
              <a:rPr lang="en-US" sz="1867" dirty="0">
                <a:solidFill>
                  <a:schemeClr val="tx1"/>
                </a:solidFill>
                <a:latin typeface="Alata"/>
                <a:cs typeface="Calibri"/>
              </a:rPr>
              <a:t>s.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8F0D1B5-AF30-E94D-F62F-E6DBC130B92D}"/>
              </a:ext>
            </a:extLst>
          </p:cNvPr>
          <p:cNvSpPr txBox="1">
            <a:spLocks/>
          </p:cNvSpPr>
          <p:nvPr userDrawn="1"/>
        </p:nvSpPr>
        <p:spPr>
          <a:xfrm>
            <a:off x="11677951" y="6543205"/>
            <a:ext cx="365103" cy="251579"/>
          </a:xfrm>
          <a:prstGeom prst="rect">
            <a:avLst/>
          </a:prstGeom>
        </p:spPr>
        <p:txBody>
          <a:bodyPr vert="horz" lIns="60960" tIns="30480" rIns="60960" bIns="3048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C5CA32-3D6B-4757-A138-1CA9ADCE6BB6}" type="slidenum">
              <a:rPr lang="en-BE" sz="800" kern="1200" smtClean="0">
                <a:solidFill>
                  <a:schemeClr val="tx1"/>
                </a:solidFill>
                <a:latin typeface="Alata"/>
                <a:ea typeface="+mn-ea"/>
                <a:cs typeface="Calibri"/>
              </a:rPr>
              <a:pPr/>
              <a:t>‹N°›</a:t>
            </a:fld>
            <a:endParaRPr lang="en-BE" sz="933" kern="1200">
              <a:solidFill>
                <a:schemeClr val="tx1"/>
              </a:solidFill>
              <a:latin typeface="Alata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570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</p:sldLayoutIdLst>
  <p:hf hdr="0" ftr="0" dt="0"/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8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microsoft.com/office/2007/relationships/hdphoto" Target="../media/hdphoto2.wdp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47.svg"/><Relationship Id="rId11" Type="http://schemas.microsoft.com/office/2007/relationships/hdphoto" Target="../media/hdphoto1.wdp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2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microsoft.com/office/2007/relationships/hdphoto" Target="../media/hdphoto3.wdp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5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4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Relationship Id="rId14" Type="http://schemas.openxmlformats.org/officeDocument/2006/relationships/image" Target="../media/image6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67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66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67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9.svg"/><Relationship Id="rId20" Type="http://schemas.openxmlformats.org/officeDocument/2006/relationships/image" Target="../media/image71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19" Type="http://schemas.openxmlformats.org/officeDocument/2006/relationships/image" Target="../media/image70.pn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66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67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70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7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72.png"/><Relationship Id="rId21" Type="http://schemas.openxmlformats.org/officeDocument/2006/relationships/image" Target="../media/image74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24" Type="http://schemas.openxmlformats.org/officeDocument/2006/relationships/image" Target="../media/image77.sv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23" Type="http://schemas.openxmlformats.org/officeDocument/2006/relationships/image" Target="../media/image76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73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Relationship Id="rId22" Type="http://schemas.openxmlformats.org/officeDocument/2006/relationships/image" Target="../media/image75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66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67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21" Type="http://schemas.openxmlformats.org/officeDocument/2006/relationships/image" Target="../media/image44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9.svg"/><Relationship Id="rId20" Type="http://schemas.openxmlformats.org/officeDocument/2006/relationships/image" Target="../media/image71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19" Type="http://schemas.openxmlformats.org/officeDocument/2006/relationships/image" Target="../media/image70.pn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Relationship Id="rId22" Type="http://schemas.openxmlformats.org/officeDocument/2006/relationships/image" Target="../media/image45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66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67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39.svg"/><Relationship Id="rId20" Type="http://schemas.openxmlformats.org/officeDocument/2006/relationships/image" Target="../media/image71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19" Type="http://schemas.openxmlformats.org/officeDocument/2006/relationships/image" Target="../media/image70.pn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66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67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39.svg"/><Relationship Id="rId20" Type="http://schemas.openxmlformats.org/officeDocument/2006/relationships/image" Target="../media/image71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19" Type="http://schemas.openxmlformats.org/officeDocument/2006/relationships/image" Target="../media/image70.pn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66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67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13" Type="http://schemas.openxmlformats.org/officeDocument/2006/relationships/image" Target="../media/image36.png"/><Relationship Id="rId18" Type="http://schemas.openxmlformats.org/officeDocument/2006/relationships/image" Target="../media/image41.svg"/><Relationship Id="rId3" Type="http://schemas.openxmlformats.org/officeDocument/2006/relationships/image" Target="../media/image78.png"/><Relationship Id="rId21" Type="http://schemas.openxmlformats.org/officeDocument/2006/relationships/image" Target="../media/image38.png"/><Relationship Id="rId7" Type="http://schemas.openxmlformats.org/officeDocument/2006/relationships/image" Target="../media/image82.png"/><Relationship Id="rId12" Type="http://schemas.openxmlformats.org/officeDocument/2006/relationships/image" Target="../media/image35.sv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31.svg"/><Relationship Id="rId20" Type="http://schemas.openxmlformats.org/officeDocument/2006/relationships/image" Target="../media/image3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81.svg"/><Relationship Id="rId11" Type="http://schemas.openxmlformats.org/officeDocument/2006/relationships/image" Target="../media/image34.png"/><Relationship Id="rId24" Type="http://schemas.openxmlformats.org/officeDocument/2006/relationships/image" Target="../media/image43.svg"/><Relationship Id="rId5" Type="http://schemas.openxmlformats.org/officeDocument/2006/relationships/image" Target="../media/image80.png"/><Relationship Id="rId15" Type="http://schemas.openxmlformats.org/officeDocument/2006/relationships/image" Target="../media/image30.png"/><Relationship Id="rId23" Type="http://schemas.openxmlformats.org/officeDocument/2006/relationships/image" Target="../media/image42.png"/><Relationship Id="rId10" Type="http://schemas.openxmlformats.org/officeDocument/2006/relationships/image" Target="../media/image29.svg"/><Relationship Id="rId19" Type="http://schemas.openxmlformats.org/officeDocument/2006/relationships/image" Target="../media/image32.png"/><Relationship Id="rId4" Type="http://schemas.openxmlformats.org/officeDocument/2006/relationships/image" Target="../media/image79.svg"/><Relationship Id="rId9" Type="http://schemas.openxmlformats.org/officeDocument/2006/relationships/image" Target="../media/image28.png"/><Relationship Id="rId14" Type="http://schemas.openxmlformats.org/officeDocument/2006/relationships/image" Target="../media/image37.svg"/><Relationship Id="rId22" Type="http://schemas.openxmlformats.org/officeDocument/2006/relationships/image" Target="../media/image39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66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67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2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21" Type="http://schemas.openxmlformats.org/officeDocument/2006/relationships/image" Target="../media/image86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39.svg"/><Relationship Id="rId20" Type="http://schemas.openxmlformats.org/officeDocument/2006/relationships/image" Target="../media/image85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8.png"/><Relationship Id="rId10" Type="http://schemas.openxmlformats.org/officeDocument/2006/relationships/image" Target="../media/image31.svg"/><Relationship Id="rId19" Type="http://schemas.openxmlformats.org/officeDocument/2006/relationships/image" Target="../media/image84.png"/><Relationship Id="rId4" Type="http://schemas.openxmlformats.org/officeDocument/2006/relationships/image" Target="../media/image29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Relationship Id="rId22" Type="http://schemas.openxmlformats.org/officeDocument/2006/relationships/image" Target="../media/image87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39.svg"/><Relationship Id="rId3" Type="http://schemas.openxmlformats.org/officeDocument/2006/relationships/image" Target="../media/image66.png"/><Relationship Id="rId7" Type="http://schemas.openxmlformats.org/officeDocument/2006/relationships/image" Target="../media/image34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33.svg"/><Relationship Id="rId20" Type="http://schemas.openxmlformats.org/officeDocument/2006/relationships/image" Target="../media/image43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37.svg"/><Relationship Id="rId19" Type="http://schemas.openxmlformats.org/officeDocument/2006/relationships/image" Target="../media/image42.png"/><Relationship Id="rId4" Type="http://schemas.openxmlformats.org/officeDocument/2006/relationships/image" Target="../media/image67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41.sv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44C28D-6A78-0720-6A11-BE5D6547D6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163" y="516134"/>
            <a:ext cx="3740073" cy="1656796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fr-BE" sz="4800" b="1" dirty="0">
                <a:ea typeface="Calibri"/>
                <a:cs typeface="Calibri"/>
              </a:rPr>
              <a:t>Business Case </a:t>
            </a:r>
            <a:endParaRPr lang="fr-FR" b="1" dirty="0">
              <a:ea typeface="Ebrima"/>
              <a:cs typeface="Ebrima"/>
            </a:endParaRPr>
          </a:p>
          <a:p>
            <a:pPr algn="ctr"/>
            <a:r>
              <a:rPr lang="fr-BE" sz="4800" b="1" dirty="0">
                <a:ea typeface="Calibri"/>
                <a:cs typeface="Calibri"/>
              </a:rPr>
              <a:t>2026 Edition</a:t>
            </a:r>
            <a:r>
              <a:rPr lang="fr-BE" sz="4800" dirty="0">
                <a:ea typeface="Calibri"/>
                <a:cs typeface="Calibri"/>
              </a:rPr>
              <a:t> </a:t>
            </a:r>
            <a:endParaRPr lang="fr-FR" dirty="0">
              <a:ea typeface="Ebrima"/>
              <a:cs typeface="Ebrima"/>
            </a:endParaRPr>
          </a:p>
          <a:p>
            <a:endParaRPr lang="fr-BE" dirty="0"/>
          </a:p>
        </p:txBody>
      </p:sp>
      <p:pic>
        <p:nvPicPr>
          <p:cNvPr id="3" name="Picture 2" descr="Image result for ULB png">
            <a:extLst>
              <a:ext uri="{FF2B5EF4-FFF2-40B4-BE49-F238E27FC236}">
                <a16:creationId xmlns:a16="http://schemas.microsoft.com/office/drawing/2014/main" id="{B4D553FC-627E-1F24-683A-4F358236A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63" y="5963025"/>
            <a:ext cx="2119086" cy="78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41E11F3-AB15-C75E-08A4-1E3E30F0A378}"/>
              </a:ext>
            </a:extLst>
          </p:cNvPr>
          <p:cNvSpPr txBox="1">
            <a:spLocks/>
          </p:cNvSpPr>
          <p:nvPr/>
        </p:nvSpPr>
        <p:spPr>
          <a:xfrm>
            <a:off x="178014" y="2811966"/>
            <a:ext cx="3740073" cy="1656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0963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  <a:defRPr lang="en-BE" sz="4666" kern="1200" dirty="0">
                <a:solidFill>
                  <a:schemeClr val="tx1"/>
                </a:solidFill>
                <a:latin typeface="Alata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BE" sz="3600" b="1" dirty="0">
                <a:ea typeface="Calibri"/>
                <a:cs typeface="Calibri"/>
              </a:rPr>
              <a:t>Kick-off</a:t>
            </a:r>
            <a:endParaRPr lang="fr-FR" sz="3600" dirty="0">
              <a:ea typeface="Ebrima"/>
              <a:cs typeface="Ebrima"/>
            </a:endParaRPr>
          </a:p>
          <a:p>
            <a:endParaRPr lang="fr-BE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ABA90-C0A8-7EE2-763F-D253F6F77F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2" t="19616" r="12633" b="34141"/>
          <a:stretch>
            <a:fillRect/>
          </a:stretch>
        </p:blipFill>
        <p:spPr bwMode="auto">
          <a:xfrm>
            <a:off x="2471583" y="5702465"/>
            <a:ext cx="1726791" cy="104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014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3456-B8A1-DB79-4894-2DEEBFF8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4CB028-64C9-395F-3C18-C1948462A28F}"/>
              </a:ext>
            </a:extLst>
          </p:cNvPr>
          <p:cNvSpPr/>
          <p:nvPr/>
        </p:nvSpPr>
        <p:spPr>
          <a:xfrm>
            <a:off x="8814329" y="422788"/>
            <a:ext cx="2463144" cy="6086167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64904166-D7DA-88E2-0582-26B8FDE9EB96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kumimoji="0" lang="fr-F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ata" panose="020B0604020202020204"/>
              <a:ea typeface="Ebrima"/>
              <a:cs typeface="Ebrima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6C7C14-2EE1-E90F-230A-1335B9E579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800" y="482600"/>
            <a:ext cx="5930490" cy="589116"/>
          </a:xfrm>
        </p:spPr>
        <p:txBody>
          <a:bodyPr>
            <a:normAutofit/>
          </a:bodyPr>
          <a:lstStyle/>
          <a:p>
            <a:r>
              <a:rPr lang="en-GB" sz="3200" dirty="0"/>
              <a:t>Workshop 1 - Agenda</a:t>
            </a:r>
          </a:p>
        </p:txBody>
      </p:sp>
      <p:sp>
        <p:nvSpPr>
          <p:cNvPr id="3" name="Organigramme : Procédé 2">
            <a:extLst>
              <a:ext uri="{FF2B5EF4-FFF2-40B4-BE49-F238E27FC236}">
                <a16:creationId xmlns:a16="http://schemas.microsoft.com/office/drawing/2014/main" id="{2576E65E-EE36-23F6-3E1F-96910FD6CDAC}"/>
              </a:ext>
            </a:extLst>
          </p:cNvPr>
          <p:cNvSpPr/>
          <p:nvPr/>
        </p:nvSpPr>
        <p:spPr>
          <a:xfrm>
            <a:off x="558800" y="1052051"/>
            <a:ext cx="7533149" cy="88491"/>
          </a:xfrm>
          <a:prstGeom prst="flowChartProcess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fr-BE" sz="1200">
              <a:solidFill>
                <a:srgbClr val="E6D5CA"/>
              </a:solidFill>
              <a:latin typeface="Calibri" panose="020F0502020204030204"/>
            </a:endParaRPr>
          </a:p>
        </p:txBody>
      </p:sp>
      <p:pic>
        <p:nvPicPr>
          <p:cNvPr id="4" name="Graphique 3" descr="Presse-papiers vérifié avec un remplissage uni">
            <a:extLst>
              <a:ext uri="{FF2B5EF4-FFF2-40B4-BE49-F238E27FC236}">
                <a16:creationId xmlns:a16="http://schemas.microsoft.com/office/drawing/2014/main" id="{810EF5CC-8097-D230-8A7A-4A05776F5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1204" y="2434303"/>
            <a:ext cx="1989394" cy="1989394"/>
          </a:xfrm>
          <a:prstGeom prst="rect">
            <a:avLst/>
          </a:prstGeom>
        </p:spPr>
      </p:pic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6126C868-BBAE-B329-D0BC-D10AEE1F1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710691"/>
              </p:ext>
            </p:extLst>
          </p:nvPr>
        </p:nvGraphicFramePr>
        <p:xfrm>
          <a:off x="1053079" y="1411104"/>
          <a:ext cx="7004050" cy="442170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110916">
                  <a:extLst>
                    <a:ext uri="{9D8B030D-6E8A-4147-A177-3AD203B41FA5}">
                      <a16:colId xmlns:a16="http://schemas.microsoft.com/office/drawing/2014/main" val="1089057685"/>
                    </a:ext>
                  </a:extLst>
                </a:gridCol>
                <a:gridCol w="2893134">
                  <a:extLst>
                    <a:ext uri="{9D8B030D-6E8A-4147-A177-3AD203B41FA5}">
                      <a16:colId xmlns:a16="http://schemas.microsoft.com/office/drawing/2014/main" val="2349828633"/>
                    </a:ext>
                  </a:extLst>
                </a:gridCol>
              </a:tblGrid>
              <a:tr h="428752">
                <a:tc>
                  <a:txBody>
                    <a:bodyPr/>
                    <a:lstStyle/>
                    <a:p>
                      <a:pPr algn="ctr"/>
                      <a:r>
                        <a:rPr lang="fr-BE" sz="2100" dirty="0">
                          <a:solidFill>
                            <a:sysClr val="windowText" lastClr="000000"/>
                          </a:solidFill>
                          <a:latin typeface="Alata" panose="020B0604020202020204" charset="0"/>
                        </a:rPr>
                        <a:t>20 </a:t>
                      </a:r>
                      <a:r>
                        <a:rPr lang="fr-BE" sz="2100" dirty="0" err="1">
                          <a:solidFill>
                            <a:sysClr val="windowText" lastClr="000000"/>
                          </a:solidFill>
                          <a:latin typeface="Alata" panose="020B0604020202020204" charset="0"/>
                        </a:rPr>
                        <a:t>Feb</a:t>
                      </a:r>
                      <a:r>
                        <a:rPr lang="fr-BE" sz="2100" dirty="0">
                          <a:solidFill>
                            <a:sysClr val="windowText" lastClr="000000"/>
                          </a:solidFill>
                          <a:latin typeface="Alata" panose="020B0604020202020204" charset="0"/>
                        </a:rPr>
                        <a:t> 2026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100" dirty="0">
                          <a:solidFill>
                            <a:sysClr val="windowText" lastClr="000000"/>
                          </a:solidFill>
                          <a:latin typeface="Alata" panose="020B0604020202020204" charset="0"/>
                        </a:rPr>
                        <a:t>Duration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467618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lata" panose="020B0604020202020204" charset="0"/>
                        </a:rPr>
                        <a:t>Introduction</a:t>
                      </a:r>
                      <a:endParaRPr lang="fr-BE" sz="1900" dirty="0"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900" dirty="0">
                          <a:latin typeface="Alata" panose="020B0604020202020204" charset="0"/>
                        </a:rPr>
                        <a:t>10 min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4912012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lata" panose="020B0604020202020204" charset="0"/>
                        </a:rPr>
                        <a:t>Intys Consulting</a:t>
                      </a:r>
                      <a:endParaRPr lang="fr-BE" sz="1900" dirty="0"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900" dirty="0">
                          <a:latin typeface="Alata" panose="020B0604020202020204" charset="0"/>
                        </a:rPr>
                        <a:t>5 min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1825725"/>
                  </a:ext>
                </a:extLst>
              </a:tr>
              <a:tr h="672610"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 err="1">
                          <a:latin typeface="Alata" panose="020B0604020202020204" charset="0"/>
                        </a:rPr>
                        <a:t>Isolv</a:t>
                      </a:r>
                      <a:r>
                        <a:rPr lang="en-US" sz="1900" dirty="0">
                          <a:latin typeface="Alata" panose="020B0604020202020204" charset="0"/>
                        </a:rPr>
                        <a:t> methodology</a:t>
                      </a:r>
                      <a:endParaRPr lang="fr-BE" sz="1900" dirty="0"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900" dirty="0">
                          <a:latin typeface="Alata" panose="020B0604020202020204" charset="0"/>
                        </a:rPr>
                        <a:t>30 min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3423107"/>
                  </a:ext>
                </a:extLst>
              </a:tr>
              <a:tr h="67261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Alata" panose="020B0604020202020204" charset="0"/>
                        </a:rPr>
                        <a:t>Business Case Overview</a:t>
                      </a:r>
                      <a:endParaRPr lang="fr-BE" sz="1900" dirty="0"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900" dirty="0">
                          <a:latin typeface="Alata" panose="020B0604020202020204" charset="0"/>
                        </a:rPr>
                        <a:t>20 min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601423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pPr algn="ctr"/>
                      <a:r>
                        <a:rPr lang="fr-BE" sz="1900" dirty="0">
                          <a:latin typeface="Alata" panose="020B0604020202020204" charset="0"/>
                        </a:rPr>
                        <a:t>Wow &amp; Pre-</a:t>
                      </a:r>
                      <a:r>
                        <a:rPr lang="fr-BE" sz="1900" dirty="0" err="1">
                          <a:latin typeface="Alata" panose="020B0604020202020204" charset="0"/>
                        </a:rPr>
                        <a:t>requisite</a:t>
                      </a:r>
                      <a:endParaRPr lang="fr-BE" sz="1900" dirty="0"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900" dirty="0">
                          <a:latin typeface="Alata" panose="020B0604020202020204" charset="0"/>
                        </a:rPr>
                        <a:t>10 min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1859420"/>
                  </a:ext>
                </a:extLst>
              </a:tr>
              <a:tr h="661934">
                <a:tc>
                  <a:txBody>
                    <a:bodyPr/>
                    <a:lstStyle/>
                    <a:p>
                      <a:pPr algn="ctr"/>
                      <a:r>
                        <a:rPr lang="fr-BE" sz="1900" dirty="0">
                          <a:latin typeface="Alata" panose="020B0604020202020204" charset="0"/>
                        </a:rPr>
                        <a:t>Q&amp;A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900" dirty="0">
                          <a:latin typeface="Alata" panose="020B0604020202020204" charset="0"/>
                        </a:rPr>
                        <a:t>20 min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1942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137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A1FE-58F6-3002-BDA7-D91CDDBC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FEFF968-7605-2974-1CFF-B38617704E76}"/>
              </a:ext>
            </a:extLst>
          </p:cNvPr>
          <p:cNvSpPr txBox="1">
            <a:spLocks/>
          </p:cNvSpPr>
          <p:nvPr/>
        </p:nvSpPr>
        <p:spPr>
          <a:xfrm>
            <a:off x="658430" y="2682875"/>
            <a:ext cx="9295652" cy="57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60963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1333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45722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tx1">
                    <a:lumMod val="50000"/>
                  </a:schemeClr>
                </a:solidFill>
                <a:latin typeface="Alata"/>
              </a:rPr>
              <a:t>Introduction</a:t>
            </a:r>
            <a:endParaRPr lang="en-US" sz="3600" b="1" dirty="0">
              <a:solidFill>
                <a:schemeClr val="tx1">
                  <a:lumMod val="50000"/>
                </a:schemeClr>
              </a:solidFill>
              <a:latin typeface="Alata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E3B31D-57B9-6D1E-BF65-7C5DE7E1C59F}"/>
              </a:ext>
            </a:extLst>
          </p:cNvPr>
          <p:cNvSpPr/>
          <p:nvPr/>
        </p:nvSpPr>
        <p:spPr>
          <a:xfrm>
            <a:off x="-5080" y="2451849"/>
            <a:ext cx="569401" cy="1941664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D5C1B314-FC26-531D-BB54-3592B00F8119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900" b="1" dirty="0"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900" b="1" dirty="0">
              <a:latin typeface="Alata" panose="020B0604020202020204"/>
              <a:ea typeface="Ebrima"/>
              <a:cs typeface="Ebrima"/>
            </a:endParaRPr>
          </a:p>
        </p:txBody>
      </p:sp>
    </p:spTree>
    <p:extLst>
      <p:ext uri="{BB962C8B-B14F-4D97-AF65-F5344CB8AC3E}">
        <p14:creationId xmlns:p14="http://schemas.microsoft.com/office/powerpoint/2010/main" val="3798238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704D0-59F3-BC1B-9418-28F5E91F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BBE8-A7E8-DCFF-C6EC-A508793BC743}"/>
              </a:ext>
            </a:extLst>
          </p:cNvPr>
          <p:cNvSpPr txBox="1">
            <a:spLocks/>
          </p:cNvSpPr>
          <p:nvPr/>
        </p:nvSpPr>
        <p:spPr>
          <a:xfrm>
            <a:off x="452650" y="578214"/>
            <a:ext cx="6463553" cy="980017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sz="2900" b="1" dirty="0">
                <a:solidFill>
                  <a:schemeClr val="tx1">
                    <a:lumMod val="50000"/>
                  </a:schemeClr>
                </a:solidFill>
                <a:latin typeface="Alata" panose="020B0604020202020204"/>
                <a:ea typeface="Ebrima"/>
                <a:cs typeface="Ebrima"/>
              </a:rPr>
              <a:t>Intys – Speaker’s Introduction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lata" panose="020B0604020202020204"/>
                <a:ea typeface="Ebrima"/>
                <a:cs typeface="Ebrima"/>
              </a:rPr>
              <a:t>​</a:t>
            </a:r>
            <a:endParaRPr lang="en-GB" sz="2400" b="1" dirty="0">
              <a:solidFill>
                <a:schemeClr val="tx1">
                  <a:lumMod val="50000"/>
                </a:schemeClr>
              </a:solidFill>
              <a:latin typeface="Alata" panose="020B0604020202020204"/>
              <a:ea typeface="Ebrima"/>
              <a:cs typeface="Ebrima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FF80160-6881-F587-32E8-AD88073A7CA2}"/>
              </a:ext>
            </a:extLst>
          </p:cNvPr>
          <p:cNvSpPr txBox="1"/>
          <p:nvPr/>
        </p:nvSpPr>
        <p:spPr>
          <a:xfrm>
            <a:off x="1573995" y="2181829"/>
            <a:ext cx="3410857" cy="430887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lata" panose="020B0604020202020204"/>
              </a:rPr>
              <a:t>Virassack Sisounol</a:t>
            </a:r>
            <a:endParaRPr lang="en-US" sz="2400" b="1" dirty="0">
              <a:solidFill>
                <a:schemeClr val="tx1">
                  <a:lumMod val="50000"/>
                </a:schemeClr>
              </a:solidFill>
              <a:latin typeface="Alata" panose="020B0604020202020204"/>
              <a:ea typeface="Calibri"/>
              <a:cs typeface="Calibri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3BEC606-5891-3216-8C78-155C8FD4322D}"/>
              </a:ext>
            </a:extLst>
          </p:cNvPr>
          <p:cNvSpPr txBox="1"/>
          <p:nvPr/>
        </p:nvSpPr>
        <p:spPr>
          <a:xfrm>
            <a:off x="452650" y="2967392"/>
            <a:ext cx="5921794" cy="23563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17" lvl="0" indent="-342917" algn="just">
              <a:buSzPct val="100000"/>
              <a:buFont typeface="Arial" panose="020B0604020202020204" pitchFamily="34" charset="0"/>
              <a:buChar char="•"/>
              <a:tabLst>
                <a:tab pos="457223" algn="l"/>
              </a:tabLst>
            </a:pPr>
            <a:r>
              <a:rPr lang="en-CA" sz="1800" dirty="0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+20 years experience</a:t>
            </a:r>
          </a:p>
          <a:p>
            <a:pPr marL="342917" lvl="0" indent="-342917" algn="just">
              <a:buSzPct val="100000"/>
              <a:buFont typeface="Arial" panose="020B0604020202020204" pitchFamily="34" charset="0"/>
              <a:buChar char="•"/>
              <a:tabLst>
                <a:tab pos="457223" algn="l"/>
              </a:tabLst>
            </a:pPr>
            <a:endParaRPr lang="fr-BE" sz="1800" dirty="0">
              <a:solidFill>
                <a:schemeClr val="tx1">
                  <a:lumMod val="50000"/>
                </a:schemeClr>
              </a:solidFill>
              <a:effectLst/>
              <a:latin typeface="Alata" panose="020B0604020202020204"/>
              <a:ea typeface="Times New Roman" panose="02020603050405020304" pitchFamily="18" charset="0"/>
            </a:endParaRPr>
          </a:p>
          <a:p>
            <a:pPr marL="342917" lvl="0" indent="-342917" algn="just">
              <a:buSzPct val="100000"/>
              <a:buFont typeface="Arial" panose="020B0604020202020204" pitchFamily="34" charset="0"/>
              <a:buChar char="•"/>
              <a:tabLst>
                <a:tab pos="457223" algn="l"/>
              </a:tabLst>
            </a:pPr>
            <a:r>
              <a:rPr lang="fr-BE" sz="1800" dirty="0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Delivery Management, Partner</a:t>
            </a:r>
            <a:r>
              <a:rPr lang="en-BE" sz="1800" dirty="0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 at Intys Consulting</a:t>
            </a:r>
            <a:endParaRPr lang="fr-BE" sz="2700" dirty="0">
              <a:solidFill>
                <a:schemeClr val="tx1">
                  <a:lumMod val="50000"/>
                </a:schemeClr>
              </a:solidFill>
              <a:latin typeface="Alata" panose="020B0604020202020204"/>
              <a:ea typeface="Times New Roman" panose="02020603050405020304" pitchFamily="18" charset="0"/>
            </a:endParaRPr>
          </a:p>
          <a:p>
            <a:pPr marL="342917" lvl="0" indent="-342917" algn="just">
              <a:buSzPct val="100000"/>
              <a:buFont typeface="Arial" panose="020B0604020202020204" pitchFamily="34" charset="0"/>
              <a:buChar char="•"/>
              <a:tabLst>
                <a:tab pos="457223" algn="l"/>
              </a:tabLst>
            </a:pPr>
            <a:endParaRPr lang="en-BE" sz="1800" dirty="0">
              <a:solidFill>
                <a:schemeClr val="tx1">
                  <a:lumMod val="50000"/>
                </a:schemeClr>
              </a:solidFill>
              <a:effectLst/>
              <a:latin typeface="Alata" panose="020B0604020202020204"/>
              <a:ea typeface="Calibri" panose="020F0502020204030204" pitchFamily="34" charset="0"/>
            </a:endParaRPr>
          </a:p>
          <a:p>
            <a:pPr marL="342917" lvl="0" indent="-342917" algn="just">
              <a:buSzPct val="100000"/>
              <a:buFont typeface="Arial" panose="020B0604020202020204" pitchFamily="34" charset="0"/>
              <a:buChar char="•"/>
              <a:tabLst>
                <a:tab pos="457223" algn="l"/>
              </a:tabLst>
            </a:pPr>
            <a:r>
              <a:rPr lang="fr-BE" sz="1800" dirty="0" err="1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Industrial</a:t>
            </a:r>
            <a:r>
              <a:rPr lang="fr-BE" sz="1800" dirty="0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 liaison at ULB </a:t>
            </a:r>
            <a:r>
              <a:rPr lang="fr-BE" sz="1800" dirty="0" err="1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Qalinca</a:t>
            </a:r>
            <a:r>
              <a:rPr lang="fr-BE" sz="1800" dirty="0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 </a:t>
            </a:r>
            <a:r>
              <a:rPr lang="fr-BE" sz="1800" dirty="0" err="1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Labs</a:t>
            </a:r>
            <a:endParaRPr lang="fr-BE" sz="1800" dirty="0">
              <a:solidFill>
                <a:schemeClr val="tx1">
                  <a:lumMod val="50000"/>
                </a:schemeClr>
              </a:solidFill>
              <a:effectLst/>
              <a:latin typeface="Alata" panose="020B0604020202020204"/>
              <a:ea typeface="Times New Roman" panose="02020603050405020304" pitchFamily="18" charset="0"/>
            </a:endParaRPr>
          </a:p>
          <a:p>
            <a:pPr marL="342917" lvl="0" indent="-342917" algn="just">
              <a:buSzPct val="100000"/>
              <a:buFont typeface="Arial" panose="020B0604020202020204" pitchFamily="34" charset="0"/>
              <a:buChar char="•"/>
              <a:tabLst>
                <a:tab pos="457223" algn="l"/>
              </a:tabLst>
            </a:pPr>
            <a:endParaRPr lang="fr-BE" sz="1800" dirty="0">
              <a:solidFill>
                <a:schemeClr val="tx1">
                  <a:lumMod val="50000"/>
                </a:schemeClr>
              </a:solidFill>
              <a:effectLst/>
              <a:latin typeface="Alata" panose="020B0604020202020204"/>
              <a:ea typeface="Times New Roman" panose="02020603050405020304" pitchFamily="18" charset="0"/>
            </a:endParaRPr>
          </a:p>
          <a:p>
            <a:pPr marL="342917" lvl="0" indent="-342917" algn="just">
              <a:buSzPct val="100000"/>
              <a:buFont typeface="Arial" panose="020B0604020202020204" pitchFamily="34" charset="0"/>
              <a:buChar char="•"/>
              <a:tabLst>
                <a:tab pos="457223" algn="l"/>
              </a:tabLst>
            </a:pPr>
            <a:r>
              <a:rPr lang="en-BE" sz="1800" dirty="0">
                <a:solidFill>
                  <a:schemeClr val="tx1">
                    <a:lumMod val="50000"/>
                  </a:schemeClr>
                </a:solidFill>
                <a:effectLst/>
                <a:latin typeface="Alata" panose="020B0604020202020204"/>
                <a:ea typeface="Times New Roman" panose="02020603050405020304" pitchFamily="18" charset="0"/>
              </a:rPr>
              <a:t>Looking forward to share my experience with you</a:t>
            </a:r>
            <a:endParaRPr lang="en-BE" sz="1800" dirty="0">
              <a:solidFill>
                <a:schemeClr val="tx1">
                  <a:lumMod val="50000"/>
                </a:schemeClr>
              </a:solidFill>
              <a:effectLst/>
              <a:latin typeface="Alata" panose="020B0604020202020204"/>
              <a:ea typeface="Calibri" panose="020F0502020204030204" pitchFamily="34" charset="0"/>
            </a:endParaRPr>
          </a:p>
          <a:p>
            <a:pPr marL="179397" indent="-179397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BE" sz="1600" b="1" dirty="0">
              <a:solidFill>
                <a:schemeClr val="tx1">
                  <a:lumMod val="50000"/>
                </a:schemeClr>
              </a:solidFill>
              <a:latin typeface="Alata" panose="020B0604020202020204"/>
            </a:endParaRPr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21478F94-1449-5FF4-B56A-A1590F77E192}"/>
              </a:ext>
            </a:extLst>
          </p:cNvPr>
          <p:cNvCxnSpPr/>
          <p:nvPr/>
        </p:nvCxnSpPr>
        <p:spPr>
          <a:xfrm>
            <a:off x="7022367" y="2181829"/>
            <a:ext cx="0" cy="2795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hoto de profil de Virassack Sisounol">
            <a:extLst>
              <a:ext uri="{FF2B5EF4-FFF2-40B4-BE49-F238E27FC236}">
                <a16:creationId xmlns:a16="http://schemas.microsoft.com/office/drawing/2014/main" id="{BB1E53B1-1B71-5A4E-9881-1C5A3322F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204" y="2181829"/>
            <a:ext cx="2795468" cy="279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F586AF1-5FDB-150B-C675-EF8DF179087D}"/>
              </a:ext>
            </a:extLst>
          </p:cNvPr>
          <p:cNvSpPr/>
          <p:nvPr/>
        </p:nvSpPr>
        <p:spPr>
          <a:xfrm>
            <a:off x="5963" y="420988"/>
            <a:ext cx="304358" cy="969838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8DE6A7D-C4B5-2141-DE43-D686B888B377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800" dirty="0">
                <a:solidFill>
                  <a:srgbClr val="0F1726"/>
                </a:solidFill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800" dirty="0">
              <a:solidFill>
                <a:srgbClr val="0F1726"/>
              </a:solidFill>
              <a:latin typeface="Alata" panose="020B0604020202020204"/>
              <a:ea typeface="Ebrima"/>
              <a:cs typeface="Ebrima"/>
            </a:endParaRPr>
          </a:p>
        </p:txBody>
      </p:sp>
    </p:spTree>
    <p:extLst>
      <p:ext uri="{BB962C8B-B14F-4D97-AF65-F5344CB8AC3E}">
        <p14:creationId xmlns:p14="http://schemas.microsoft.com/office/powerpoint/2010/main" val="2160970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AAF2-1FD7-35DD-BE4C-283DD7D4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2CF823B-DC2F-CF26-E995-036E00E7540D}"/>
              </a:ext>
            </a:extLst>
          </p:cNvPr>
          <p:cNvSpPr txBox="1">
            <a:spLocks/>
          </p:cNvSpPr>
          <p:nvPr/>
        </p:nvSpPr>
        <p:spPr>
          <a:xfrm>
            <a:off x="658430" y="2682875"/>
            <a:ext cx="9295652" cy="57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60963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1333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45722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tx1">
                    <a:lumMod val="50000"/>
                  </a:schemeClr>
                </a:solidFill>
                <a:latin typeface="Alata"/>
              </a:rPr>
              <a:t>Intys Consulting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AA95974-DE7B-E606-D347-B1E41505FAE0}"/>
              </a:ext>
            </a:extLst>
          </p:cNvPr>
          <p:cNvSpPr txBox="1"/>
          <p:nvPr/>
        </p:nvSpPr>
        <p:spPr>
          <a:xfrm>
            <a:off x="972312" y="3253214"/>
            <a:ext cx="7181088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lata"/>
              </a:rPr>
              <a:t>Intys Consulting presentation</a:t>
            </a:r>
            <a:endParaRPr lang="en-US" sz="2400" b="1" dirty="0">
              <a:solidFill>
                <a:schemeClr val="tx1">
                  <a:lumMod val="50000"/>
                </a:schemeClr>
              </a:solidFill>
              <a:latin typeface="Alata"/>
              <a:ea typeface="Ebrima"/>
              <a:cs typeface="Ebrim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33BAF9-F54A-EE8E-15BF-4CABE625F216}"/>
              </a:ext>
            </a:extLst>
          </p:cNvPr>
          <p:cNvSpPr/>
          <p:nvPr/>
        </p:nvSpPr>
        <p:spPr>
          <a:xfrm>
            <a:off x="-5080" y="2451849"/>
            <a:ext cx="569401" cy="1941664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D40D4867-8A98-4A16-E2ED-1BCAF3D0DCEE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800" dirty="0">
                <a:solidFill>
                  <a:srgbClr val="0F1726"/>
                </a:solidFill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800" dirty="0">
              <a:solidFill>
                <a:srgbClr val="0F1726"/>
              </a:solidFill>
              <a:latin typeface="Alata" panose="020B0604020202020204"/>
              <a:ea typeface="Ebrima"/>
              <a:cs typeface="Ebrima"/>
            </a:endParaRPr>
          </a:p>
        </p:txBody>
      </p:sp>
    </p:spTree>
    <p:extLst>
      <p:ext uri="{BB962C8B-B14F-4D97-AF65-F5344CB8AC3E}">
        <p14:creationId xmlns:p14="http://schemas.microsoft.com/office/powerpoint/2010/main" val="228261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33" y="1249277"/>
            <a:ext cx="1836468" cy="1946447"/>
            <a:chOff x="0" y="0"/>
            <a:chExt cx="725518" cy="768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5518" cy="768967"/>
            </a:xfrm>
            <a:custGeom>
              <a:avLst/>
              <a:gdLst/>
              <a:ahLst/>
              <a:cxnLst/>
              <a:rect l="l" t="t" r="r" b="b"/>
              <a:pathLst>
                <a:path w="725518" h="768967">
                  <a:moveTo>
                    <a:pt x="0" y="0"/>
                  </a:moveTo>
                  <a:lnTo>
                    <a:pt x="725518" y="0"/>
                  </a:lnTo>
                  <a:lnTo>
                    <a:pt x="725518" y="768967"/>
                  </a:lnTo>
                  <a:lnTo>
                    <a:pt x="0" y="768967"/>
                  </a:lnTo>
                  <a:close/>
                </a:path>
              </a:pathLst>
            </a:custGeom>
            <a:solidFill>
              <a:srgbClr val="E6D4C9">
                <a:alpha val="49804"/>
              </a:srgb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725518" cy="81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4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47630" y="2190750"/>
            <a:ext cx="1187521" cy="82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199"/>
              </a:lnSpc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consolidated turnover in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180" y="1477954"/>
            <a:ext cx="1979350" cy="5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334"/>
              </a:lnSpc>
            </a:pPr>
            <a:r>
              <a:rPr lang="en-US" sz="3334" spc="1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49.6M€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328530" y="1249277"/>
            <a:ext cx="1836468" cy="1946447"/>
            <a:chOff x="0" y="0"/>
            <a:chExt cx="725518" cy="7689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5518" cy="768967"/>
            </a:xfrm>
            <a:custGeom>
              <a:avLst/>
              <a:gdLst/>
              <a:ahLst/>
              <a:cxnLst/>
              <a:rect l="l" t="t" r="r" b="b"/>
              <a:pathLst>
                <a:path w="725518" h="768967">
                  <a:moveTo>
                    <a:pt x="0" y="0"/>
                  </a:moveTo>
                  <a:lnTo>
                    <a:pt x="725518" y="0"/>
                  </a:lnTo>
                  <a:lnTo>
                    <a:pt x="725518" y="768967"/>
                  </a:lnTo>
                  <a:lnTo>
                    <a:pt x="0" y="768967"/>
                  </a:lnTo>
                  <a:close/>
                </a:path>
              </a:pathLst>
            </a:custGeom>
            <a:solidFill>
              <a:srgbClr val="E6D4C9">
                <a:alpha val="49804"/>
              </a:srgb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25518" cy="81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4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673279" y="2190750"/>
            <a:ext cx="1320800" cy="54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199"/>
              </a:lnSpc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collaborators as of end of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359927" y="1249277"/>
            <a:ext cx="1836468" cy="1946447"/>
            <a:chOff x="0" y="0"/>
            <a:chExt cx="725518" cy="7689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5518" cy="768967"/>
            </a:xfrm>
            <a:custGeom>
              <a:avLst/>
              <a:gdLst/>
              <a:ahLst/>
              <a:cxnLst/>
              <a:rect l="l" t="t" r="r" b="b"/>
              <a:pathLst>
                <a:path w="725518" h="768967">
                  <a:moveTo>
                    <a:pt x="0" y="0"/>
                  </a:moveTo>
                  <a:lnTo>
                    <a:pt x="725518" y="0"/>
                  </a:lnTo>
                  <a:lnTo>
                    <a:pt x="725518" y="768967"/>
                  </a:lnTo>
                  <a:lnTo>
                    <a:pt x="0" y="768967"/>
                  </a:lnTo>
                  <a:close/>
                </a:path>
              </a:pathLst>
            </a:custGeom>
            <a:solidFill>
              <a:srgbClr val="E6D4C9">
                <a:alpha val="49804"/>
              </a:srgb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25518" cy="81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4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84098" y="1477954"/>
            <a:ext cx="1784421" cy="5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334"/>
              </a:lnSpc>
            </a:pPr>
            <a:r>
              <a:rPr lang="en-US" sz="3334" spc="1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400+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4510" y="2190750"/>
            <a:ext cx="1784421" cy="26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199"/>
              </a:lnSpc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clients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29760" y="1477954"/>
            <a:ext cx="1784421" cy="52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334"/>
              </a:lnSpc>
            </a:pPr>
            <a:r>
              <a:rPr lang="en-US" sz="3334" spc="1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200+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36751" y="1249276"/>
            <a:ext cx="2755249" cy="4372049"/>
            <a:chOff x="0" y="0"/>
            <a:chExt cx="1088493" cy="172722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8493" cy="1727229"/>
            </a:xfrm>
            <a:custGeom>
              <a:avLst/>
              <a:gdLst/>
              <a:ahLst/>
              <a:cxnLst/>
              <a:rect l="l" t="t" r="r" b="b"/>
              <a:pathLst>
                <a:path w="1088493" h="1727229">
                  <a:moveTo>
                    <a:pt x="0" y="0"/>
                  </a:moveTo>
                  <a:lnTo>
                    <a:pt x="1088493" y="0"/>
                  </a:lnTo>
                  <a:lnTo>
                    <a:pt x="1088493" y="1727229"/>
                  </a:lnTo>
                  <a:lnTo>
                    <a:pt x="0" y="1727229"/>
                  </a:lnTo>
                  <a:close/>
                </a:path>
              </a:pathLst>
            </a:custGeom>
            <a:solidFill>
              <a:srgbClr val="E6D4C9">
                <a:alpha val="49804"/>
              </a:srgb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88493" cy="177485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4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49180" y="3430110"/>
            <a:ext cx="5865001" cy="2518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2199"/>
              </a:lnSpc>
            </a:pPr>
            <a:r>
              <a:rPr lang="en-US" sz="1466" spc="-2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Intys is a European management consulting firm specializing in premium execution.</a:t>
            </a:r>
          </a:p>
          <a:p>
            <a:pPr algn="just" defTabSz="609630">
              <a:lnSpc>
                <a:spcPts val="2199"/>
              </a:lnSpc>
            </a:pPr>
            <a:endParaRPr lang="en-US" sz="1466" spc="-29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algn="just" defTabSz="609630">
              <a:lnSpc>
                <a:spcPts val="2199"/>
              </a:lnSpc>
            </a:pPr>
            <a:r>
              <a:rPr lang="en-US" sz="1466" spc="-2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Since 2007, we have helped leading organizations translate strategic ambition into structured, measurable and lasting performance.</a:t>
            </a:r>
          </a:p>
          <a:p>
            <a:pPr algn="just" defTabSz="609630">
              <a:lnSpc>
                <a:spcPts val="2199"/>
              </a:lnSpc>
            </a:pPr>
            <a:endParaRPr lang="en-US" sz="1466" spc="-29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algn="just" defTabSz="609630">
              <a:lnSpc>
                <a:spcPts val="2199"/>
              </a:lnSpc>
            </a:pPr>
            <a:r>
              <a:rPr lang="en-US" sz="1466" spc="-2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Powered by our proprietary iSolv standard and academic-backed rigor, we secure outcomes, giving leaders clarity, control and peace of mind.</a:t>
            </a:r>
          </a:p>
          <a:p>
            <a:pPr algn="just" defTabSz="609630">
              <a:lnSpc>
                <a:spcPts val="2199"/>
              </a:lnSpc>
            </a:pPr>
            <a:endParaRPr lang="en-US" sz="1466" spc="-29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7133" y="70087"/>
            <a:ext cx="7177691" cy="5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999"/>
              </a:lnSpc>
            </a:pPr>
            <a:r>
              <a:rPr lang="en-US" sz="3333">
                <a:solidFill>
                  <a:srgbClr val="1F1512"/>
                </a:solidFill>
                <a:latin typeface="Alata"/>
                <a:ea typeface="Alata"/>
                <a:cs typeface="Alata"/>
                <a:sym typeface="Alata"/>
              </a:rPr>
              <a:t>intys at a glance.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7133" y="680072"/>
            <a:ext cx="12082905" cy="35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000"/>
              </a:lnSpc>
            </a:pPr>
            <a:r>
              <a:rPr lang="en-US" sz="2000">
                <a:solidFill>
                  <a:srgbClr val="010101"/>
                </a:solidFill>
                <a:latin typeface="Alata"/>
                <a:ea typeface="Alata"/>
                <a:cs typeface="Alata"/>
                <a:sym typeface="Alata"/>
              </a:rPr>
              <a:t>At Intys, we prioritize: Performance, Responsibility, Courage, Self-Accomplishment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29760" y="4268047"/>
            <a:ext cx="1300480" cy="123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959"/>
              </a:lnSpc>
            </a:pPr>
            <a:r>
              <a:rPr lang="en-US" sz="800" spc="7">
                <a:solidFill>
                  <a:srgbClr val="898989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512632" y="1249276"/>
            <a:ext cx="2755249" cy="4372049"/>
            <a:chOff x="0" y="0"/>
            <a:chExt cx="1088493" cy="17272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88493" cy="1727229"/>
            </a:xfrm>
            <a:custGeom>
              <a:avLst/>
              <a:gdLst/>
              <a:ahLst/>
              <a:cxnLst/>
              <a:rect l="l" t="t" r="r" b="b"/>
              <a:pathLst>
                <a:path w="1088493" h="1727229">
                  <a:moveTo>
                    <a:pt x="0" y="0"/>
                  </a:moveTo>
                  <a:lnTo>
                    <a:pt x="1088493" y="0"/>
                  </a:lnTo>
                  <a:lnTo>
                    <a:pt x="1088493" y="1727229"/>
                  </a:lnTo>
                  <a:lnTo>
                    <a:pt x="0" y="1727229"/>
                  </a:lnTo>
                  <a:close/>
                </a:path>
              </a:pathLst>
            </a:custGeom>
            <a:solidFill>
              <a:srgbClr val="E6D4C9">
                <a:alpha val="49804"/>
              </a:srgb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88493" cy="177485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4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772982" y="1477955"/>
            <a:ext cx="2271237" cy="339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Our Edge: iSolv</a:t>
            </a:r>
          </a:p>
          <a:p>
            <a:pPr defTabSz="609630">
              <a:lnSpc>
                <a:spcPts val="2799"/>
              </a:lnSpc>
              <a:spcBef>
                <a:spcPct val="0"/>
              </a:spcBef>
            </a:pPr>
            <a:endParaRPr lang="en-US" sz="1999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Proprietary methodology, rooted in Lean Management.</a:t>
            </a: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endParaRPr lang="en-US" sz="1467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18 years of application &amp; continuous improvement.</a:t>
            </a: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Knowledge sharing across industries.</a:t>
            </a: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endParaRPr lang="en-US" sz="1467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AI-powered for smarter, faster execution.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66331" y="1398462"/>
            <a:ext cx="2521691" cy="411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Always at the forefront</a:t>
            </a: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endParaRPr lang="en-US" sz="1999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marL="316671" lvl="1" indent="-158335" defTabSz="609630">
              <a:lnSpc>
                <a:spcPts val="2053"/>
              </a:lnSpc>
              <a:spcBef>
                <a:spcPct val="0"/>
              </a:spcBef>
              <a:buFont typeface="Arial"/>
              <a:buChar char="•"/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Intys Lab: co-creation &amp; experimentation.</a:t>
            </a: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endParaRPr lang="en-US" sz="1467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marL="316671" lvl="1" indent="-158335" defTabSz="609630">
              <a:lnSpc>
                <a:spcPts val="2053"/>
              </a:lnSpc>
              <a:spcBef>
                <a:spcPct val="0"/>
              </a:spcBef>
              <a:buFont typeface="Arial"/>
              <a:buChar char="•"/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Pioneering in AI &amp; Sustainability.</a:t>
            </a: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endParaRPr lang="en-US" sz="1467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marL="316671" lvl="1" indent="-158335" defTabSz="609630">
              <a:lnSpc>
                <a:spcPts val="2053"/>
              </a:lnSpc>
              <a:spcBef>
                <a:spcPct val="0"/>
              </a:spcBef>
              <a:buFont typeface="Arial"/>
              <a:buChar char="•"/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Innovative contracting models.</a:t>
            </a: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endParaRPr lang="en-US" sz="1467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marL="316671" lvl="1" indent="-158335" defTabSz="609630">
              <a:lnSpc>
                <a:spcPts val="2053"/>
              </a:lnSpc>
              <a:spcBef>
                <a:spcPct val="0"/>
              </a:spcBef>
              <a:buFont typeface="Arial"/>
              <a:buChar char="•"/>
            </a:pPr>
            <a:r>
              <a:rPr lang="en-US" sz="146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Academic partnerships: ICHEC &amp; ULB (10+ years, real business cases).</a:t>
            </a:r>
          </a:p>
          <a:p>
            <a:pPr defTabSz="609630">
              <a:lnSpc>
                <a:spcPts val="2053"/>
              </a:lnSpc>
              <a:spcBef>
                <a:spcPct val="0"/>
              </a:spcBef>
            </a:pPr>
            <a:endParaRPr lang="en-US" sz="1467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349180" y="6295154"/>
            <a:ext cx="10056813" cy="439894"/>
          </a:xfrm>
          <a:custGeom>
            <a:avLst/>
            <a:gdLst/>
            <a:ahLst/>
            <a:cxnLst/>
            <a:rect l="l" t="t" r="r" b="b"/>
            <a:pathLst>
              <a:path w="21309273" h="932086">
                <a:moveTo>
                  <a:pt x="0" y="0"/>
                </a:moveTo>
                <a:lnTo>
                  <a:pt x="21309273" y="0"/>
                </a:lnTo>
                <a:lnTo>
                  <a:pt x="21309273" y="932086"/>
                </a:lnTo>
                <a:lnTo>
                  <a:pt x="0" y="932086"/>
                </a:lnTo>
                <a:close/>
              </a:path>
            </a:pathLst>
          </a:custGeom>
        </p:spPr>
        <p:txBody>
          <a:bodyPr/>
          <a:lstStyle/>
          <a:p>
            <a:endParaRPr lang="fr-BE"/>
          </a:p>
        </p:txBody>
      </p:sp>
      <p:grpSp>
        <p:nvGrpSpPr>
          <p:cNvPr id="32" name="Group 32"/>
          <p:cNvGrpSpPr/>
          <p:nvPr/>
        </p:nvGrpSpPr>
        <p:grpSpPr>
          <a:xfrm>
            <a:off x="10930441" y="6172200"/>
            <a:ext cx="1261559" cy="685800"/>
            <a:chOff x="0" y="0"/>
            <a:chExt cx="2673103" cy="145313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73103" cy="1453134"/>
            </a:xfrm>
            <a:custGeom>
              <a:avLst/>
              <a:gdLst/>
              <a:ahLst/>
              <a:cxnLst/>
              <a:rect l="l" t="t" r="r" b="b"/>
              <a:pathLst>
                <a:path w="2673103" h="1453134">
                  <a:moveTo>
                    <a:pt x="0" y="0"/>
                  </a:moveTo>
                  <a:lnTo>
                    <a:pt x="2673103" y="0"/>
                  </a:lnTo>
                  <a:lnTo>
                    <a:pt x="2673103" y="1453134"/>
                  </a:lnTo>
                  <a:lnTo>
                    <a:pt x="0" y="145313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fr-BE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2673103" cy="15198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defTabSz="609630">
                <a:lnSpc>
                  <a:spcPts val="3360"/>
                </a:lnSpc>
              </a:pPr>
              <a:r>
                <a:rPr lang="en-US" sz="2400">
                  <a:solidFill>
                    <a:srgbClr val="E6D4C9"/>
                  </a:solidFill>
                  <a:latin typeface="Alata"/>
                  <a:ea typeface="Alata"/>
                  <a:cs typeface="Alata"/>
                  <a:sym typeface="Alata"/>
                </a:rPr>
                <a:t>intys.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930441" y="6172200"/>
            <a:ext cx="1261559" cy="685800"/>
            <a:chOff x="0" y="0"/>
            <a:chExt cx="2673103" cy="14531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3103" cy="1453134"/>
            </a:xfrm>
            <a:custGeom>
              <a:avLst/>
              <a:gdLst/>
              <a:ahLst/>
              <a:cxnLst/>
              <a:rect l="l" t="t" r="r" b="b"/>
              <a:pathLst>
                <a:path w="2673103" h="1453134">
                  <a:moveTo>
                    <a:pt x="0" y="0"/>
                  </a:moveTo>
                  <a:lnTo>
                    <a:pt x="2673103" y="0"/>
                  </a:lnTo>
                  <a:lnTo>
                    <a:pt x="2673103" y="1453134"/>
                  </a:lnTo>
                  <a:lnTo>
                    <a:pt x="0" y="145313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fr-B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673103" cy="15198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defTabSz="609630">
                <a:lnSpc>
                  <a:spcPts val="3360"/>
                </a:lnSpc>
              </a:pPr>
              <a:r>
                <a:rPr lang="en-US" sz="2400">
                  <a:solidFill>
                    <a:srgbClr val="E6D4C9"/>
                  </a:solidFill>
                  <a:latin typeface="Alata"/>
                  <a:ea typeface="Alata"/>
                  <a:cs typeface="Alata"/>
                  <a:sym typeface="Alata"/>
                </a:rPr>
                <a:t>intys.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731082" y="1477570"/>
            <a:ext cx="6581823" cy="3768093"/>
          </a:xfrm>
          <a:custGeom>
            <a:avLst/>
            <a:gdLst/>
            <a:ahLst/>
            <a:cxnLst/>
            <a:rect l="l" t="t" r="r" b="b"/>
            <a:pathLst>
              <a:path w="9872734" h="5652140">
                <a:moveTo>
                  <a:pt x="0" y="0"/>
                </a:moveTo>
                <a:lnTo>
                  <a:pt x="9872734" y="0"/>
                </a:lnTo>
                <a:lnTo>
                  <a:pt x="9872734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9" name="TextBox 9"/>
          <p:cNvSpPr txBox="1"/>
          <p:nvPr/>
        </p:nvSpPr>
        <p:spPr>
          <a:xfrm>
            <a:off x="1741681" y="2782193"/>
            <a:ext cx="2410820" cy="92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3734"/>
              </a:lnSpc>
              <a:spcBef>
                <a:spcPct val="0"/>
              </a:spcBef>
            </a:pPr>
            <a:r>
              <a:rPr lang="en-US" sz="26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Customers &amp; GTM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888964" y="1477570"/>
            <a:ext cx="5543769" cy="3768093"/>
            <a:chOff x="0" y="0"/>
            <a:chExt cx="2190131" cy="14886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0131" cy="1488629"/>
            </a:xfrm>
            <a:custGeom>
              <a:avLst/>
              <a:gdLst/>
              <a:ahLst/>
              <a:cxnLst/>
              <a:rect l="l" t="t" r="r" b="b"/>
              <a:pathLst>
                <a:path w="2190131" h="1488629">
                  <a:moveTo>
                    <a:pt x="0" y="0"/>
                  </a:moveTo>
                  <a:lnTo>
                    <a:pt x="2190131" y="0"/>
                  </a:lnTo>
                  <a:lnTo>
                    <a:pt x="2190131" y="1488629"/>
                  </a:lnTo>
                  <a:lnTo>
                    <a:pt x="0" y="1488629"/>
                  </a:lnTo>
                  <a:close/>
                </a:path>
              </a:pathLst>
            </a:custGeom>
            <a:solidFill>
              <a:srgbClr val="E6D4C9">
                <a:alpha val="49804"/>
              </a:srgb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90131" cy="15362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4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0" y="363042"/>
            <a:ext cx="7571000" cy="56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667"/>
              </a:lnSpc>
              <a:spcBef>
                <a:spcPct val="0"/>
              </a:spcBef>
            </a:pPr>
            <a:r>
              <a:rPr lang="en-US" sz="3334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Strenghten our value proposition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3094" y="1616465"/>
            <a:ext cx="4701282" cy="3647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We aim to positively impact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•processes &amp; people, 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•data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•Product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•Increase in maturity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•Move upmarket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•Our growth reflects the trust of our clients, 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showcasing our ability to support 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them in product and data development.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•Able to provide a holistic view</a:t>
            </a:r>
          </a:p>
          <a:p>
            <a:pPr algn="just" defTabSz="609630">
              <a:lnSpc>
                <a:spcPts val="2613"/>
              </a:lnSpc>
              <a:spcBef>
                <a:spcPct val="0"/>
              </a:spcBef>
            </a:pPr>
            <a:endParaRPr lang="en-US" sz="1866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705" y="298513"/>
            <a:ext cx="2791817" cy="56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667"/>
              </a:lnSpc>
              <a:spcBef>
                <a:spcPct val="0"/>
              </a:spcBef>
            </a:pPr>
            <a:r>
              <a:rPr lang="en-US" sz="3334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Our conviction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9705" y="907412"/>
            <a:ext cx="6271071" cy="69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Intys was founded on a simple and demanding belief: </a:t>
            </a:r>
          </a:p>
          <a:p>
            <a:pPr algn="ctr" defTabSz="609630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2042205"/>
            <a:ext cx="12192000" cy="940199"/>
            <a:chOff x="0" y="0"/>
            <a:chExt cx="4816593" cy="3714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371437"/>
            </a:xfrm>
            <a:custGeom>
              <a:avLst/>
              <a:gdLst/>
              <a:ahLst/>
              <a:cxnLst/>
              <a:rect l="l" t="t" r="r" b="b"/>
              <a:pathLst>
                <a:path w="4816592" h="371437">
                  <a:moveTo>
                    <a:pt x="0" y="0"/>
                  </a:moveTo>
                  <a:lnTo>
                    <a:pt x="4816592" y="0"/>
                  </a:lnTo>
                  <a:lnTo>
                    <a:pt x="4816592" y="371437"/>
                  </a:lnTo>
                  <a:lnTo>
                    <a:pt x="0" y="371437"/>
                  </a:lnTo>
                  <a:close/>
                </a:path>
              </a:pathLst>
            </a:custGeom>
            <a:solidFill>
              <a:srgbClr val="E6D4C9">
                <a:alpha val="49804"/>
              </a:srgbClr>
            </a:solidFill>
          </p:spPr>
          <p:txBody>
            <a:bodyPr/>
            <a:lstStyle/>
            <a:p>
              <a:endParaRPr lang="fr-B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816593" cy="41906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4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85715" y="2271454"/>
            <a:ext cx="7259476" cy="42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3547"/>
              </a:lnSpc>
              <a:spcBef>
                <a:spcPct val="0"/>
              </a:spcBef>
            </a:pPr>
            <a:r>
              <a:rPr lang="en-US" sz="253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 strategy has no value unless it is executed.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30441" y="6172200"/>
            <a:ext cx="1261559" cy="685800"/>
            <a:chOff x="0" y="0"/>
            <a:chExt cx="2673103" cy="14531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73103" cy="1453134"/>
            </a:xfrm>
            <a:custGeom>
              <a:avLst/>
              <a:gdLst/>
              <a:ahLst/>
              <a:cxnLst/>
              <a:rect l="l" t="t" r="r" b="b"/>
              <a:pathLst>
                <a:path w="2673103" h="1453134">
                  <a:moveTo>
                    <a:pt x="0" y="0"/>
                  </a:moveTo>
                  <a:lnTo>
                    <a:pt x="2673103" y="0"/>
                  </a:lnTo>
                  <a:lnTo>
                    <a:pt x="2673103" y="1453134"/>
                  </a:lnTo>
                  <a:lnTo>
                    <a:pt x="0" y="145313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fr-B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73103" cy="15198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defTabSz="609630">
                <a:lnSpc>
                  <a:spcPts val="3360"/>
                </a:lnSpc>
              </a:pPr>
              <a:r>
                <a:rPr lang="en-US" sz="2400">
                  <a:solidFill>
                    <a:srgbClr val="E6D4C9"/>
                  </a:solidFill>
                  <a:latin typeface="Alata"/>
                  <a:ea typeface="Alata"/>
                  <a:cs typeface="Alata"/>
                  <a:sym typeface="Alata"/>
                </a:rPr>
                <a:t>intys.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29705" y="3491472"/>
            <a:ext cx="11451179" cy="213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For too long, consulting has focused on diagnosis, recommendations, and intellectual brilliance disconnected from operational reality.</a:t>
            </a:r>
          </a:p>
          <a:p>
            <a:pPr defTabSz="60963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Clients do not fail because they lack ideas.</a:t>
            </a:r>
          </a:p>
          <a:p>
            <a:pPr defTabSz="60963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They fail because execution is complex, fragile, and rarely industrialized.</a:t>
            </a:r>
          </a:p>
          <a:p>
            <a:pPr defTabSz="60963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</a:p>
          <a:p>
            <a:pPr defTabSz="60963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Intys exists to close this gap.</a:t>
            </a:r>
          </a:p>
        </p:txBody>
      </p:sp>
      <p:sp>
        <p:nvSpPr>
          <p:cNvPr id="15" name="Freeform 15"/>
          <p:cNvSpPr/>
          <p:nvPr/>
        </p:nvSpPr>
        <p:spPr>
          <a:xfrm>
            <a:off x="929705" y="1759974"/>
            <a:ext cx="566437" cy="447485"/>
          </a:xfrm>
          <a:custGeom>
            <a:avLst/>
            <a:gdLst/>
            <a:ahLst/>
            <a:cxnLst/>
            <a:rect l="l" t="t" r="r" b="b"/>
            <a:pathLst>
              <a:path w="849655" h="671227">
                <a:moveTo>
                  <a:pt x="0" y="0"/>
                </a:moveTo>
                <a:lnTo>
                  <a:pt x="849655" y="0"/>
                </a:lnTo>
                <a:lnTo>
                  <a:pt x="849655" y="671228"/>
                </a:lnTo>
                <a:lnTo>
                  <a:pt x="0" y="671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16" name="Freeform 16"/>
          <p:cNvSpPr/>
          <p:nvPr/>
        </p:nvSpPr>
        <p:spPr>
          <a:xfrm>
            <a:off x="9055078" y="2702356"/>
            <a:ext cx="566437" cy="447485"/>
          </a:xfrm>
          <a:custGeom>
            <a:avLst/>
            <a:gdLst/>
            <a:ahLst/>
            <a:cxnLst/>
            <a:rect l="l" t="t" r="r" b="b"/>
            <a:pathLst>
              <a:path w="849655" h="671227">
                <a:moveTo>
                  <a:pt x="0" y="0"/>
                </a:moveTo>
                <a:lnTo>
                  <a:pt x="849655" y="0"/>
                </a:lnTo>
                <a:lnTo>
                  <a:pt x="849655" y="671227"/>
                </a:lnTo>
                <a:lnTo>
                  <a:pt x="0" y="671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6295154"/>
            <a:ext cx="10056813" cy="439894"/>
            <a:chOff x="0" y="0"/>
            <a:chExt cx="21309274" cy="9320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09273" cy="932086"/>
            </a:xfrm>
            <a:custGeom>
              <a:avLst/>
              <a:gdLst/>
              <a:ahLst/>
              <a:cxnLst/>
              <a:rect l="l" t="t" r="r" b="b"/>
              <a:pathLst>
                <a:path w="21309273" h="932086">
                  <a:moveTo>
                    <a:pt x="0" y="0"/>
                  </a:moveTo>
                  <a:lnTo>
                    <a:pt x="21309273" y="0"/>
                  </a:lnTo>
                  <a:lnTo>
                    <a:pt x="21309273" y="932086"/>
                  </a:lnTo>
                  <a:lnTo>
                    <a:pt x="0" y="932086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fr-B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309274" cy="9797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defTabSz="609630">
                <a:lnSpc>
                  <a:spcPts val="2240"/>
                </a:lnSpc>
              </a:pPr>
              <a:r>
                <a:rPr lang="en-US" sz="1600">
                  <a:solidFill>
                    <a:srgbClr val="E6D4C9"/>
                  </a:solidFill>
                  <a:latin typeface="Alata"/>
                  <a:ea typeface="Alata"/>
                  <a:cs typeface="Alata"/>
                  <a:sym typeface="Alata"/>
                </a:rPr>
                <a:t>onboarding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30441" y="6172200"/>
            <a:ext cx="1261559" cy="685800"/>
            <a:chOff x="0" y="0"/>
            <a:chExt cx="2673103" cy="14531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3103" cy="1453134"/>
            </a:xfrm>
            <a:custGeom>
              <a:avLst/>
              <a:gdLst/>
              <a:ahLst/>
              <a:cxnLst/>
              <a:rect l="l" t="t" r="r" b="b"/>
              <a:pathLst>
                <a:path w="2673103" h="1453134">
                  <a:moveTo>
                    <a:pt x="0" y="0"/>
                  </a:moveTo>
                  <a:lnTo>
                    <a:pt x="2673103" y="0"/>
                  </a:lnTo>
                  <a:lnTo>
                    <a:pt x="2673103" y="1453134"/>
                  </a:lnTo>
                  <a:lnTo>
                    <a:pt x="0" y="1453134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fr-B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673103" cy="15198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defTabSz="609630">
                <a:lnSpc>
                  <a:spcPts val="3360"/>
                </a:lnSpc>
              </a:pPr>
              <a:r>
                <a:rPr lang="en-US" sz="2400">
                  <a:solidFill>
                    <a:srgbClr val="E6D4C9"/>
                  </a:solidFill>
                  <a:latin typeface="Alata"/>
                  <a:ea typeface="Alata"/>
                  <a:cs typeface="Alata"/>
                  <a:sym typeface="Alata"/>
                </a:rPr>
                <a:t>intys.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887247" y="1939090"/>
            <a:ext cx="5429502" cy="3637767"/>
          </a:xfrm>
          <a:custGeom>
            <a:avLst/>
            <a:gdLst/>
            <a:ahLst/>
            <a:cxnLst/>
            <a:rect l="l" t="t" r="r" b="b"/>
            <a:pathLst>
              <a:path w="8144253" h="5456650">
                <a:moveTo>
                  <a:pt x="0" y="0"/>
                </a:moveTo>
                <a:lnTo>
                  <a:pt x="8144253" y="0"/>
                </a:lnTo>
                <a:lnTo>
                  <a:pt x="8144253" y="5456649"/>
                </a:lnTo>
                <a:lnTo>
                  <a:pt x="0" y="5456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9" name="TextBox 9"/>
          <p:cNvSpPr txBox="1"/>
          <p:nvPr/>
        </p:nvSpPr>
        <p:spPr>
          <a:xfrm>
            <a:off x="685800" y="1116034"/>
            <a:ext cx="11506200" cy="1414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At the heart of Intys lies </a:t>
            </a:r>
            <a:r>
              <a:rPr lang="en-US" sz="19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iSolv</a:t>
            </a:r>
            <a:r>
              <a:rPr lang="en-US" sz="1999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.</a:t>
            </a:r>
          </a:p>
          <a:p>
            <a:pPr algn="just" defTabSz="609630">
              <a:lnSpc>
                <a:spcPts val="2799"/>
              </a:lnSpc>
              <a:spcBef>
                <a:spcPct val="0"/>
              </a:spcBef>
            </a:pPr>
            <a:r>
              <a:rPr lang="en-US" sz="1999" dirty="0" err="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iSolv</a:t>
            </a:r>
            <a:r>
              <a:rPr lang="en-US" sz="1999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is not a framework among others, is our operating logic for problem-solving and execution.</a:t>
            </a:r>
          </a:p>
          <a:p>
            <a:pPr algn="just" defTabSz="609630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</a:p>
          <a:p>
            <a:pPr algn="just" defTabSz="609630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Its 8-steps structure: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363009"/>
            <a:ext cx="8630949" cy="56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667"/>
              </a:lnSpc>
              <a:spcBef>
                <a:spcPct val="0"/>
              </a:spcBef>
            </a:pPr>
            <a:r>
              <a:rPr lang="en-US" sz="3334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iSolv: our problem-solving backbone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87247" y="5888006"/>
            <a:ext cx="5033169" cy="31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613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ISOLV is how Intys thinks, decides and delivers.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D1D07-8E9C-6792-1153-B6C5756C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65F5A77-4E92-E2A1-54F1-9584DBAD6F31}"/>
              </a:ext>
            </a:extLst>
          </p:cNvPr>
          <p:cNvSpPr txBox="1">
            <a:spLocks/>
          </p:cNvSpPr>
          <p:nvPr/>
        </p:nvSpPr>
        <p:spPr>
          <a:xfrm>
            <a:off x="658430" y="2682875"/>
            <a:ext cx="9295652" cy="57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60963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1333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45722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 err="1">
                <a:solidFill>
                  <a:schemeClr val="tx1">
                    <a:lumMod val="50000"/>
                  </a:schemeClr>
                </a:solidFill>
                <a:latin typeface="Alata"/>
              </a:rPr>
              <a:t>iSolv</a:t>
            </a:r>
            <a:r>
              <a:rPr lang="en-US" sz="3200" b="1" dirty="0">
                <a:solidFill>
                  <a:schemeClr val="tx1">
                    <a:lumMod val="50000"/>
                  </a:schemeClr>
                </a:solidFill>
                <a:latin typeface="Alata"/>
              </a:rPr>
              <a:t> Methodology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80B204C-0C46-FF5A-A3D6-80BAF01B322E}"/>
              </a:ext>
            </a:extLst>
          </p:cNvPr>
          <p:cNvSpPr txBox="1"/>
          <p:nvPr/>
        </p:nvSpPr>
        <p:spPr>
          <a:xfrm>
            <a:off x="972312" y="3253214"/>
            <a:ext cx="7181088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lata"/>
              </a:rPr>
              <a:t>Theory &amp; Best Practices</a:t>
            </a:r>
            <a:endParaRPr lang="en-US" sz="2400" b="1" dirty="0">
              <a:solidFill>
                <a:schemeClr val="tx1">
                  <a:lumMod val="50000"/>
                </a:schemeClr>
              </a:solidFill>
              <a:latin typeface="Alata"/>
              <a:ea typeface="Ebrima"/>
              <a:cs typeface="Ebrim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FF96E-2DA9-6E16-4B7A-6F66BB96E5C1}"/>
              </a:ext>
            </a:extLst>
          </p:cNvPr>
          <p:cNvSpPr/>
          <p:nvPr/>
        </p:nvSpPr>
        <p:spPr>
          <a:xfrm>
            <a:off x="-5080" y="2451849"/>
            <a:ext cx="569401" cy="1941664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4EB781A0-614B-9203-B22A-BF02610329E4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800" dirty="0">
                <a:solidFill>
                  <a:srgbClr val="0F1726"/>
                </a:solidFill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800" dirty="0">
              <a:solidFill>
                <a:srgbClr val="0F1726"/>
              </a:solidFill>
              <a:latin typeface="Alata" panose="020B0604020202020204"/>
              <a:ea typeface="Ebrima"/>
              <a:cs typeface="Ebrima"/>
            </a:endParaRPr>
          </a:p>
        </p:txBody>
      </p:sp>
    </p:spTree>
    <p:extLst>
      <p:ext uri="{BB962C8B-B14F-4D97-AF65-F5344CB8AC3E}">
        <p14:creationId xmlns:p14="http://schemas.microsoft.com/office/powerpoint/2010/main" val="1810646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FB076E-7D9E-689D-99B4-A191AC66B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564" y="179520"/>
            <a:ext cx="4988560" cy="55880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ISolv Methodology – 8 Steps </a:t>
            </a:r>
            <a:endParaRPr lang="en-B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F3CA74-8298-B069-1837-3CAFD3F47B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49620" y="4517273"/>
            <a:ext cx="1785181" cy="664532"/>
          </a:xfrm>
        </p:spPr>
        <p:txBody>
          <a:bodyPr vert="horz" lIns="60960" tIns="30480" rIns="60960" bIns="30480" rtlCol="0">
            <a:noAutofit/>
          </a:bodyPr>
          <a:lstStyle/>
          <a:p>
            <a:pPr algn="ctr"/>
            <a:r>
              <a:rPr lang="en-US" sz="1733"/>
              <a:t>8. Capture lessons learned  </a:t>
            </a:r>
            <a:endParaRPr lang="en-BE" sz="1733"/>
          </a:p>
        </p:txBody>
      </p:sp>
      <p:sp>
        <p:nvSpPr>
          <p:cNvPr id="84" name="Text Placeholder 13">
            <a:extLst>
              <a:ext uri="{FF2B5EF4-FFF2-40B4-BE49-F238E27FC236}">
                <a16:creationId xmlns:a16="http://schemas.microsoft.com/office/drawing/2014/main" id="{7A34E44D-D7D5-A134-B8F5-02A5DBD7FB96}"/>
              </a:ext>
            </a:extLst>
          </p:cNvPr>
          <p:cNvSpPr txBox="1">
            <a:spLocks/>
          </p:cNvSpPr>
          <p:nvPr/>
        </p:nvSpPr>
        <p:spPr>
          <a:xfrm>
            <a:off x="175317" y="4639124"/>
            <a:ext cx="1592672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1. Clarify the problem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85" name="Text Placeholder 13">
            <a:extLst>
              <a:ext uri="{FF2B5EF4-FFF2-40B4-BE49-F238E27FC236}">
                <a16:creationId xmlns:a16="http://schemas.microsoft.com/office/drawing/2014/main" id="{3D756A1A-F1F7-625B-017C-B494A9474EBB}"/>
              </a:ext>
            </a:extLst>
          </p:cNvPr>
          <p:cNvSpPr txBox="1">
            <a:spLocks/>
          </p:cNvSpPr>
          <p:nvPr/>
        </p:nvSpPr>
        <p:spPr>
          <a:xfrm>
            <a:off x="8241563" y="2107812"/>
            <a:ext cx="1719301" cy="434745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733">
                <a:solidFill>
                  <a:prstClr val="black"/>
                </a:solidFill>
              </a:rPr>
              <a:t>6. Implement  </a:t>
            </a:r>
            <a:endParaRPr lang="en-BE" sz="1733">
              <a:solidFill>
                <a:prstClr val="black"/>
              </a:solidFill>
            </a:endParaRPr>
          </a:p>
        </p:txBody>
      </p:sp>
      <p:sp>
        <p:nvSpPr>
          <p:cNvPr id="86" name="Text Placeholder 13">
            <a:extLst>
              <a:ext uri="{FF2B5EF4-FFF2-40B4-BE49-F238E27FC236}">
                <a16:creationId xmlns:a16="http://schemas.microsoft.com/office/drawing/2014/main" id="{3EB023BD-57C8-0A05-E9F7-ABC43551EFD0}"/>
              </a:ext>
            </a:extLst>
          </p:cNvPr>
          <p:cNvSpPr txBox="1">
            <a:spLocks/>
          </p:cNvSpPr>
          <p:nvPr/>
        </p:nvSpPr>
        <p:spPr>
          <a:xfrm>
            <a:off x="9383759" y="3090686"/>
            <a:ext cx="1217065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733">
                <a:solidFill>
                  <a:prstClr val="black"/>
                </a:solidFill>
              </a:rPr>
              <a:t>7. Monitor progress</a:t>
            </a:r>
            <a:endParaRPr lang="en-BE" sz="1733">
              <a:solidFill>
                <a:prstClr val="black"/>
              </a:solidFill>
            </a:endParaRPr>
          </a:p>
        </p:txBody>
      </p:sp>
      <p:sp>
        <p:nvSpPr>
          <p:cNvPr id="87" name="Text Placeholder 13">
            <a:extLst>
              <a:ext uri="{FF2B5EF4-FFF2-40B4-BE49-F238E27FC236}">
                <a16:creationId xmlns:a16="http://schemas.microsoft.com/office/drawing/2014/main" id="{6025283D-565C-8450-8D9C-66071844B860}"/>
              </a:ext>
            </a:extLst>
          </p:cNvPr>
          <p:cNvSpPr txBox="1">
            <a:spLocks/>
          </p:cNvSpPr>
          <p:nvPr/>
        </p:nvSpPr>
        <p:spPr>
          <a:xfrm>
            <a:off x="6727504" y="953707"/>
            <a:ext cx="1927215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5. Develop countermeasures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88" name="Text Placeholder 13">
            <a:extLst>
              <a:ext uri="{FF2B5EF4-FFF2-40B4-BE49-F238E27FC236}">
                <a16:creationId xmlns:a16="http://schemas.microsoft.com/office/drawing/2014/main" id="{BDEA5A77-766E-A238-D74D-F60A0C7C40B2}"/>
              </a:ext>
            </a:extLst>
          </p:cNvPr>
          <p:cNvSpPr txBox="1">
            <a:spLocks/>
          </p:cNvSpPr>
          <p:nvPr/>
        </p:nvSpPr>
        <p:spPr>
          <a:xfrm>
            <a:off x="2018613" y="1986883"/>
            <a:ext cx="1236651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3. Set the target 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90" name="Text Placeholder 13">
            <a:extLst>
              <a:ext uri="{FF2B5EF4-FFF2-40B4-BE49-F238E27FC236}">
                <a16:creationId xmlns:a16="http://schemas.microsoft.com/office/drawing/2014/main" id="{EA5A3C18-C6A3-FDC2-845F-1D56A73F547A}"/>
              </a:ext>
            </a:extLst>
          </p:cNvPr>
          <p:cNvSpPr txBox="1">
            <a:spLocks/>
          </p:cNvSpPr>
          <p:nvPr/>
        </p:nvSpPr>
        <p:spPr>
          <a:xfrm>
            <a:off x="731520" y="3126586"/>
            <a:ext cx="1467829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2. Break of the problem </a:t>
            </a:r>
            <a:endParaRPr lang="en-BE" sz="1867">
              <a:solidFill>
                <a:prstClr val="black"/>
              </a:solidFill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A65AE34-72D0-446E-AED0-94E13CE66594}"/>
              </a:ext>
            </a:extLst>
          </p:cNvPr>
          <p:cNvGrpSpPr/>
          <p:nvPr/>
        </p:nvGrpSpPr>
        <p:grpSpPr>
          <a:xfrm>
            <a:off x="1652137" y="1048512"/>
            <a:ext cx="8327253" cy="7187183"/>
            <a:chOff x="3056616" y="1998217"/>
            <a:chExt cx="11848968" cy="9989566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8C7979E7-7DB4-ED29-A1AD-183F61CA3257}"/>
                </a:ext>
              </a:extLst>
            </p:cNvPr>
            <p:cNvGrpSpPr/>
            <p:nvPr/>
          </p:nvGrpSpPr>
          <p:grpSpPr>
            <a:xfrm>
              <a:off x="3056616" y="2403019"/>
              <a:ext cx="11848968" cy="9584764"/>
              <a:chOff x="3056616" y="2403019"/>
              <a:chExt cx="11848968" cy="9584764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821CF72F-5AA8-D9D1-DD6C-2B3F52315F0B}"/>
                  </a:ext>
                </a:extLst>
              </p:cNvPr>
              <p:cNvGrpSpPr/>
              <p:nvPr/>
            </p:nvGrpSpPr>
            <p:grpSpPr>
              <a:xfrm>
                <a:off x="3056616" y="2403019"/>
                <a:ext cx="11848968" cy="9584764"/>
                <a:chOff x="3056616" y="4130219"/>
                <a:chExt cx="11848968" cy="9584764"/>
              </a:xfrm>
            </p:grpSpPr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42022113-EAED-55F1-8525-76A440789BAF}"/>
                    </a:ext>
                  </a:extLst>
                </p:cNvPr>
                <p:cNvGrpSpPr/>
                <p:nvPr/>
              </p:nvGrpSpPr>
              <p:grpSpPr>
                <a:xfrm>
                  <a:off x="3056616" y="4130219"/>
                  <a:ext cx="11848968" cy="9584764"/>
                  <a:chOff x="3056616" y="2403019"/>
                  <a:chExt cx="11848968" cy="9584764"/>
                </a:xfrm>
              </p:grpSpPr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CCB0F57A-228B-7A1D-E816-192AD65F2C63}"/>
                      </a:ext>
                    </a:extLst>
                  </p:cNvPr>
                  <p:cNvGrpSpPr/>
                  <p:nvPr/>
                </p:nvGrpSpPr>
                <p:grpSpPr>
                  <a:xfrm>
                    <a:off x="3056616" y="2403019"/>
                    <a:ext cx="11848968" cy="9584764"/>
                    <a:chOff x="3056616" y="2403019"/>
                    <a:chExt cx="11848968" cy="9584764"/>
                  </a:xfrm>
                </p:grpSpPr>
                <p:grpSp>
                  <p:nvGrpSpPr>
                    <p:cNvPr id="182" name="Group 181">
                      <a:extLst>
                        <a:ext uri="{FF2B5EF4-FFF2-40B4-BE49-F238E27FC236}">
                          <a16:creationId xmlns:a16="http://schemas.microsoft.com/office/drawing/2014/main" id="{D629A3E4-6177-DE19-AC07-9672AF5857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56616" y="2403019"/>
                      <a:ext cx="11848968" cy="9584764"/>
                      <a:chOff x="3056616" y="2403019"/>
                      <a:chExt cx="11848968" cy="9584764"/>
                    </a:xfrm>
                  </p:grpSpPr>
                  <p:grpSp>
                    <p:nvGrpSpPr>
                      <p:cNvPr id="181" name="Group 180">
                        <a:extLst>
                          <a:ext uri="{FF2B5EF4-FFF2-40B4-BE49-F238E27FC236}">
                            <a16:creationId xmlns:a16="http://schemas.microsoft.com/office/drawing/2014/main" id="{04FB7E67-42C6-363C-0B88-0B42C88752E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56616" y="2403019"/>
                        <a:ext cx="11848968" cy="9584764"/>
                        <a:chOff x="3056616" y="2403019"/>
                        <a:chExt cx="11848968" cy="9584764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96452CD0-6D40-83ED-6A6A-9CDE47EB990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056616" y="2403019"/>
                          <a:ext cx="11848968" cy="9584764"/>
                          <a:chOff x="3056616" y="2403019"/>
                          <a:chExt cx="11848968" cy="9584764"/>
                        </a:xfrm>
                      </p:grpSpPr>
                      <p:sp>
                        <p:nvSpPr>
                          <p:cNvPr id="73" name="Oval 72">
                            <a:extLst>
                              <a:ext uri="{FF2B5EF4-FFF2-40B4-BE49-F238E27FC236}">
                                <a16:creationId xmlns:a16="http://schemas.microsoft.com/office/drawing/2014/main" id="{97ED31F5-A776-C5AE-AB0F-C7EC849229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3254228" y="6547697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8" name="Oval 77">
                            <a:extLst>
                              <a:ext uri="{FF2B5EF4-FFF2-40B4-BE49-F238E27FC236}">
                                <a16:creationId xmlns:a16="http://schemas.microsoft.com/office/drawing/2014/main" id="{E812344D-A0D6-CC82-7582-6FB1B81AA7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467050" y="4693845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6" name="Oval 75">
                            <a:extLst>
                              <a:ext uri="{FF2B5EF4-FFF2-40B4-BE49-F238E27FC236}">
                                <a16:creationId xmlns:a16="http://schemas.microsoft.com/office/drawing/2014/main" id="{959BA6AB-0C91-01F5-15C1-56BEE4FDDE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67021" y="3181492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9" name="Oval 78">
                            <a:extLst>
                              <a:ext uri="{FF2B5EF4-FFF2-40B4-BE49-F238E27FC236}">
                                <a16:creationId xmlns:a16="http://schemas.microsoft.com/office/drawing/2014/main" id="{B1A92234-30A0-B597-9F7E-DB7D0FE049D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84440" y="2403019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67" name="Oval 66">
                            <a:extLst>
                              <a:ext uri="{FF2B5EF4-FFF2-40B4-BE49-F238E27FC236}">
                                <a16:creationId xmlns:a16="http://schemas.microsoft.com/office/drawing/2014/main" id="{D247A486-5F91-7C51-553A-15CEDAF5E29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753942" y="4745254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4" name="Oval 73">
                            <a:extLst>
                              <a:ext uri="{FF2B5EF4-FFF2-40B4-BE49-F238E27FC236}">
                                <a16:creationId xmlns:a16="http://schemas.microsoft.com/office/drawing/2014/main" id="{331DB396-990C-5450-A94C-388F481867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056616" y="6547698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7" name="Oval 76">
                            <a:extLst>
                              <a:ext uri="{FF2B5EF4-FFF2-40B4-BE49-F238E27FC236}">
                                <a16:creationId xmlns:a16="http://schemas.microsoft.com/office/drawing/2014/main" id="{AC3C3F6B-E561-0CC4-042A-37575B864A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46125" y="3262818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80" name="Oval 79">
                            <a:extLst>
                              <a:ext uri="{FF2B5EF4-FFF2-40B4-BE49-F238E27FC236}">
                                <a16:creationId xmlns:a16="http://schemas.microsoft.com/office/drawing/2014/main" id="{93250C7E-8194-6FDD-C0B0-6F66087D14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028706" y="2428419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grpSp>
                        <p:nvGrpSpPr>
                          <p:cNvPr id="93" name="Group 92">
                            <a:extLst>
                              <a:ext uri="{FF2B5EF4-FFF2-40B4-BE49-F238E27FC236}">
                                <a16:creationId xmlns:a16="http://schemas.microsoft.com/office/drawing/2014/main" id="{51AFD6F2-224C-8FAE-EAD7-1E88FD5590B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914900" y="4348974"/>
                            <a:ext cx="8142732" cy="7638809"/>
                            <a:chOff x="4914900" y="4204740"/>
                            <a:chExt cx="8142732" cy="7783044"/>
                          </a:xfrm>
                        </p:grpSpPr>
                        <p:sp>
                          <p:nvSpPr>
                            <p:cNvPr id="75" name="Oval 74">
                              <a:extLst>
                                <a:ext uri="{FF2B5EF4-FFF2-40B4-BE49-F238E27FC236}">
                                  <a16:creationId xmlns:a16="http://schemas.microsoft.com/office/drawing/2014/main" id="{9FB7E311-F7AC-AAEB-5512-3E0C90ADA0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14900" y="4204740"/>
                              <a:ext cx="8132400" cy="7770853"/>
                            </a:xfrm>
                            <a:prstGeom prst="ellipse">
                              <a:avLst/>
                            </a:prstGeom>
                            <a:solidFill>
                              <a:srgbClr val="E6D5CA"/>
                            </a:solidFill>
                            <a:ln>
                              <a:noFill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3">
                              <a:schemeClr val="accent1"/>
                            </a:fillRef>
                            <a:effectRef idx="2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sz="1200">
                                <a:solidFill>
                                  <a:prstClr val="white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82" name="Rectangle 81">
                              <a:extLst>
                                <a:ext uri="{FF2B5EF4-FFF2-40B4-BE49-F238E27FC236}">
                                  <a16:creationId xmlns:a16="http://schemas.microsoft.com/office/drawing/2014/main" id="{C1813BDA-87CB-F89E-FCF0-F4BD502EBC8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14900" y="7878429"/>
                              <a:ext cx="8142732" cy="4109355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solidFill>
                                <a:schemeClr val="bg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white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83" name="Rectangle: Rounded Corners 82">
                              <a:extLst>
                                <a:ext uri="{FF2B5EF4-FFF2-40B4-BE49-F238E27FC236}">
                                  <a16:creationId xmlns:a16="http://schemas.microsoft.com/office/drawing/2014/main" id="{C7DAAD29-A20C-3886-2A5F-134CCA4E37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23116" y="7718552"/>
                              <a:ext cx="8124183" cy="304800"/>
                            </a:xfrm>
                            <a:prstGeom prst="roundRect">
                              <a:avLst/>
                            </a:prstGeom>
                            <a:solidFill>
                              <a:srgbClr val="E6D5CA"/>
                            </a:solidFill>
                            <a:ln>
                              <a:noFill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3">
                              <a:schemeClr val="accent1"/>
                            </a:fillRef>
                            <a:effectRef idx="2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white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</p:grpSp>
                      <p:pic>
                        <p:nvPicPr>
                          <p:cNvPr id="95" name="Graphic 94" descr="Information outline">
                            <a:extLst>
                              <a:ext uri="{FF2B5EF4-FFF2-40B4-BE49-F238E27FC236}">
                                <a16:creationId xmlns:a16="http://schemas.microsoft.com/office/drawing/2014/main" id="{74B291A8-901A-89D8-2340-DB99B3CAAF2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383895" y="6858297"/>
                            <a:ext cx="996798" cy="996798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01" name="Graphic 100" descr="Clipboard Mixed outline">
                            <a:extLst>
                              <a:ext uri="{FF2B5EF4-FFF2-40B4-BE49-F238E27FC236}">
                                <a16:creationId xmlns:a16="http://schemas.microsoft.com/office/drawing/2014/main" id="{E8BF89A2-9004-EF60-BAFA-6D31B486A4E0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96DAC541-7B7A-43D3-8B79-37D633B846F1}">
                                <asvg:svgBlip xmlns:asvg="http://schemas.microsoft.com/office/drawing/2016/SVG/main" r:embed="rId6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405595" y="2707494"/>
                            <a:ext cx="1009047" cy="1009047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03" name="Graphic 102" descr="Bar graph with upward trend outline">
                            <a:extLst>
                              <a:ext uri="{FF2B5EF4-FFF2-40B4-BE49-F238E27FC236}">
                                <a16:creationId xmlns:a16="http://schemas.microsoft.com/office/drawing/2014/main" id="{F27B44E3-A999-64BA-AD3E-FAF101BF6CB1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96DAC541-7B7A-43D3-8B79-37D633B846F1}">
                                <asvg:svgBlip xmlns:asvg="http://schemas.microsoft.com/office/drawing/2016/SVG/main" r:embed="rId8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2804867" y="5014982"/>
                            <a:ext cx="975722" cy="975722"/>
                          </a:xfrm>
                          <a:prstGeom prst="rect">
                            <a:avLst/>
                          </a:prstGeom>
                        </p:spPr>
                      </p:pic>
                      <p:grpSp>
                        <p:nvGrpSpPr>
                          <p:cNvPr id="153" name="Group 152">
                            <a:extLst>
                              <a:ext uri="{FF2B5EF4-FFF2-40B4-BE49-F238E27FC236}">
                                <a16:creationId xmlns:a16="http://schemas.microsoft.com/office/drawing/2014/main" id="{0F771CA4-0E57-8068-D6FA-E94FB7CE75D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3804658">
                            <a:off x="8145269" y="2990860"/>
                            <a:ext cx="1471997" cy="2838586"/>
                            <a:chOff x="4658138" y="5228140"/>
                            <a:chExt cx="1471997" cy="2838586"/>
                          </a:xfrm>
                        </p:grpSpPr>
                        <p:sp>
                          <p:nvSpPr>
                            <p:cNvPr id="143" name="Arrow: Chevron 142">
                              <a:extLst>
                                <a:ext uri="{FF2B5EF4-FFF2-40B4-BE49-F238E27FC236}">
                                  <a16:creationId xmlns:a16="http://schemas.microsoft.com/office/drawing/2014/main" id="{19880C63-86A1-F754-CEEA-E4A05FF4FFB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676769">
                              <a:off x="4689802" y="7561438"/>
                              <a:ext cx="232483" cy="222430"/>
                            </a:xfrm>
                            <a:prstGeom prst="chevron">
                              <a:avLst/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grpSp>
                          <p:nvGrpSpPr>
                            <p:cNvPr id="151" name="Group 150">
                              <a:extLst>
                                <a:ext uri="{FF2B5EF4-FFF2-40B4-BE49-F238E27FC236}">
                                  <a16:creationId xmlns:a16="http://schemas.microsoft.com/office/drawing/2014/main" id="{06B53C41-3DBD-2964-3AC3-B19524B28A9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658138" y="5228140"/>
                              <a:ext cx="1471997" cy="2838586"/>
                              <a:chOff x="4658138" y="5228140"/>
                              <a:chExt cx="1471997" cy="2838586"/>
                            </a:xfrm>
                            <a:solidFill>
                              <a:schemeClr val="tx1"/>
                            </a:solidFill>
                          </p:grpSpPr>
                          <p:sp>
                            <p:nvSpPr>
                              <p:cNvPr id="113" name="Arrow: Chevron 112">
                                <a:extLst>
                                  <a:ext uri="{FF2B5EF4-FFF2-40B4-BE49-F238E27FC236}">
                                    <a16:creationId xmlns:a16="http://schemas.microsoft.com/office/drawing/2014/main" id="{CE29FDF1-2F5E-2E80-7E57-028F56EB9DF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6200000">
                                <a:off x="4653111" y="7839270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26" name="Arrow: Chevron 125">
                                <a:extLst>
                                  <a:ext uri="{FF2B5EF4-FFF2-40B4-BE49-F238E27FC236}">
                                    <a16:creationId xmlns:a16="http://schemas.microsoft.com/office/drawing/2014/main" id="{B7984D1B-6BDE-40C8-EFD9-48081D74EF2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7754660">
                                <a:off x="5164578" y="6198933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28" name="Arrow: Chevron 127">
                                <a:extLst>
                                  <a:ext uri="{FF2B5EF4-FFF2-40B4-BE49-F238E27FC236}">
                                    <a16:creationId xmlns:a16="http://schemas.microsoft.com/office/drawing/2014/main" id="{005A8BD9-FE5F-C554-0AB4-DC3B81D4FB8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7384498">
                                <a:off x="4913366" y="6731015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0" name="Arrow: Chevron 129">
                                <a:extLst>
                                  <a:ext uri="{FF2B5EF4-FFF2-40B4-BE49-F238E27FC236}">
                                    <a16:creationId xmlns:a16="http://schemas.microsoft.com/office/drawing/2014/main" id="{15F342E3-C29F-9896-7F9B-4C5614B877C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6939508">
                                <a:off x="4823441" y="7001921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3" name="Arrow: Chevron 132">
                                <a:extLst>
                                  <a:ext uri="{FF2B5EF4-FFF2-40B4-BE49-F238E27FC236}">
                                    <a16:creationId xmlns:a16="http://schemas.microsoft.com/office/drawing/2014/main" id="{A7B910ED-3451-7421-47AF-0937ABF326B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8262743">
                                <a:off x="5494608" y="5690575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4" name="Arrow: Chevron 133">
                                <a:extLst>
                                  <a:ext uri="{FF2B5EF4-FFF2-40B4-BE49-F238E27FC236}">
                                    <a16:creationId xmlns:a16="http://schemas.microsoft.com/office/drawing/2014/main" id="{7CC9E0AE-D386-6330-9011-B7691128D15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8060164">
                                <a:off x="5311422" y="5945466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5" name="Arrow: Chevron 134">
                                <a:extLst>
                                  <a:ext uri="{FF2B5EF4-FFF2-40B4-BE49-F238E27FC236}">
                                    <a16:creationId xmlns:a16="http://schemas.microsoft.com/office/drawing/2014/main" id="{4794AAA5-4A90-EFEC-8FB3-2957D71914E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7560543">
                                <a:off x="5030565" y="6460034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6" name="Arrow: Chevron 135">
                                <a:extLst>
                                  <a:ext uri="{FF2B5EF4-FFF2-40B4-BE49-F238E27FC236}">
                                    <a16:creationId xmlns:a16="http://schemas.microsoft.com/office/drawing/2014/main" id="{3DF01830-6AE3-19EF-1933-8321F27ED01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8529904">
                                <a:off x="5690590" y="5453623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8" name="Arrow: Chevron 137">
                                <a:extLst>
                                  <a:ext uri="{FF2B5EF4-FFF2-40B4-BE49-F238E27FC236}">
                                    <a16:creationId xmlns:a16="http://schemas.microsoft.com/office/drawing/2014/main" id="{C486AEC6-DC08-98B4-E387-E35AD44A4C2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8828231">
                                <a:off x="5902678" y="5233167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57" name="Arrow: Chevron 156">
                                <a:extLst>
                                  <a:ext uri="{FF2B5EF4-FFF2-40B4-BE49-F238E27FC236}">
                                    <a16:creationId xmlns:a16="http://schemas.microsoft.com/office/drawing/2014/main" id="{A442D864-2023-10AA-9D9E-874F8D54BC8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6719446">
                                <a:off x="4743289" y="7274570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163" name="Group 162">
                            <a:extLst>
                              <a:ext uri="{FF2B5EF4-FFF2-40B4-BE49-F238E27FC236}">
                                <a16:creationId xmlns:a16="http://schemas.microsoft.com/office/drawing/2014/main" id="{B794C904-9E21-8A7C-142F-FF74F29F280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77486" y="4490796"/>
                            <a:ext cx="2385314" cy="3519543"/>
                            <a:chOff x="4764506" y="4490801"/>
                            <a:chExt cx="2398310" cy="3546294"/>
                          </a:xfrm>
                        </p:grpSpPr>
                        <p:sp>
                          <p:nvSpPr>
                            <p:cNvPr id="146" name="Arrow: Chevron 145">
                              <a:extLst>
                                <a:ext uri="{FF2B5EF4-FFF2-40B4-BE49-F238E27FC236}">
                                  <a16:creationId xmlns:a16="http://schemas.microsoft.com/office/drawing/2014/main" id="{312041E4-1E80-1825-37A7-47BBB69358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20410579">
                              <a:off x="6980483" y="4490801"/>
                              <a:ext cx="182333" cy="213831"/>
                            </a:xfrm>
                            <a:prstGeom prst="chevron">
                              <a:avLst>
                                <a:gd name="adj" fmla="val 72603"/>
                              </a:avLst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162" name="Freeform: Shape 161">
                              <a:extLst>
                                <a:ext uri="{FF2B5EF4-FFF2-40B4-BE49-F238E27FC236}">
                                  <a16:creationId xmlns:a16="http://schemas.microsoft.com/office/drawing/2014/main" id="{87B26AED-4BAB-AB3F-C58C-8F510E4346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64506" y="4578385"/>
                              <a:ext cx="2361691" cy="3458710"/>
                            </a:xfrm>
                            <a:custGeom>
                              <a:avLst/>
                              <a:gdLst>
                                <a:gd name="connsiteX0" fmla="*/ 0 w 2450957"/>
                                <a:gd name="connsiteY0" fmla="*/ 3576506 h 3576506"/>
                                <a:gd name="connsiteX1" fmla="*/ 64169 w 2450957"/>
                                <a:gd name="connsiteY1" fmla="*/ 2870653 h 3576506"/>
                                <a:gd name="connsiteX2" fmla="*/ 336884 w 2450957"/>
                                <a:gd name="connsiteY2" fmla="*/ 2036464 h 3576506"/>
                                <a:gd name="connsiteX3" fmla="*/ 770021 w 2450957"/>
                                <a:gd name="connsiteY3" fmla="*/ 1346653 h 3576506"/>
                                <a:gd name="connsiteX4" fmla="*/ 1331495 w 2450957"/>
                                <a:gd name="connsiteY4" fmla="*/ 737053 h 3576506"/>
                                <a:gd name="connsiteX5" fmla="*/ 2294021 w 2450957"/>
                                <a:gd name="connsiteY5" fmla="*/ 95369 h 3576506"/>
                                <a:gd name="connsiteX6" fmla="*/ 2438400 w 2450957"/>
                                <a:gd name="connsiteY6" fmla="*/ 15158 h 3576506"/>
                                <a:gd name="connsiteX0" fmla="*/ 0 w 2439353"/>
                                <a:gd name="connsiteY0" fmla="*/ 3562720 h 3562720"/>
                                <a:gd name="connsiteX1" fmla="*/ 64169 w 2439353"/>
                                <a:gd name="connsiteY1" fmla="*/ 2856867 h 3562720"/>
                                <a:gd name="connsiteX2" fmla="*/ 336884 w 2439353"/>
                                <a:gd name="connsiteY2" fmla="*/ 2022678 h 3562720"/>
                                <a:gd name="connsiteX3" fmla="*/ 770021 w 2439353"/>
                                <a:gd name="connsiteY3" fmla="*/ 1332867 h 3562720"/>
                                <a:gd name="connsiteX4" fmla="*/ 1331495 w 2439353"/>
                                <a:gd name="connsiteY4" fmla="*/ 723267 h 3562720"/>
                                <a:gd name="connsiteX5" fmla="*/ 1973179 w 2439353"/>
                                <a:gd name="connsiteY5" fmla="*/ 306172 h 3562720"/>
                                <a:gd name="connsiteX6" fmla="*/ 2438400 w 2439353"/>
                                <a:gd name="connsiteY6" fmla="*/ 1372 h 3562720"/>
                                <a:gd name="connsiteX0" fmla="*/ 0 w 2439353"/>
                                <a:gd name="connsiteY0" fmla="*/ 3562979 h 3562979"/>
                                <a:gd name="connsiteX1" fmla="*/ 64169 w 2439353"/>
                                <a:gd name="connsiteY1" fmla="*/ 2857126 h 3562979"/>
                                <a:gd name="connsiteX2" fmla="*/ 336884 w 2439353"/>
                                <a:gd name="connsiteY2" fmla="*/ 2022937 h 3562979"/>
                                <a:gd name="connsiteX3" fmla="*/ 770021 w 2439353"/>
                                <a:gd name="connsiteY3" fmla="*/ 1333126 h 3562979"/>
                                <a:gd name="connsiteX4" fmla="*/ 1331495 w 2439353"/>
                                <a:gd name="connsiteY4" fmla="*/ 723526 h 3562979"/>
                                <a:gd name="connsiteX5" fmla="*/ 1973179 w 2439353"/>
                                <a:gd name="connsiteY5" fmla="*/ 270989 h 3562979"/>
                                <a:gd name="connsiteX6" fmla="*/ 2438400 w 2439353"/>
                                <a:gd name="connsiteY6" fmla="*/ 1631 h 3562979"/>
                                <a:gd name="connsiteX0" fmla="*/ 0 w 2453490"/>
                                <a:gd name="connsiteY0" fmla="*/ 3520927 h 3520927"/>
                                <a:gd name="connsiteX1" fmla="*/ 64169 w 2453490"/>
                                <a:gd name="connsiteY1" fmla="*/ 2815074 h 3520927"/>
                                <a:gd name="connsiteX2" fmla="*/ 336884 w 2453490"/>
                                <a:gd name="connsiteY2" fmla="*/ 1980885 h 3520927"/>
                                <a:gd name="connsiteX3" fmla="*/ 770021 w 2453490"/>
                                <a:gd name="connsiteY3" fmla="*/ 1291074 h 3520927"/>
                                <a:gd name="connsiteX4" fmla="*/ 1331495 w 2453490"/>
                                <a:gd name="connsiteY4" fmla="*/ 681474 h 3520927"/>
                                <a:gd name="connsiteX5" fmla="*/ 1973179 w 2453490"/>
                                <a:gd name="connsiteY5" fmla="*/ 228937 h 3520927"/>
                                <a:gd name="connsiteX6" fmla="*/ 2452577 w 2453490"/>
                                <a:gd name="connsiteY6" fmla="*/ 2109 h 3520927"/>
                                <a:gd name="connsiteX0" fmla="*/ 0 w 2488843"/>
                                <a:gd name="connsiteY0" fmla="*/ 3527917 h 3527917"/>
                                <a:gd name="connsiteX1" fmla="*/ 64169 w 2488843"/>
                                <a:gd name="connsiteY1" fmla="*/ 2822064 h 3527917"/>
                                <a:gd name="connsiteX2" fmla="*/ 336884 w 2488843"/>
                                <a:gd name="connsiteY2" fmla="*/ 1987875 h 3527917"/>
                                <a:gd name="connsiteX3" fmla="*/ 770021 w 2488843"/>
                                <a:gd name="connsiteY3" fmla="*/ 1298064 h 3527917"/>
                                <a:gd name="connsiteX4" fmla="*/ 1331495 w 2488843"/>
                                <a:gd name="connsiteY4" fmla="*/ 688464 h 3527917"/>
                                <a:gd name="connsiteX5" fmla="*/ 1973179 w 2488843"/>
                                <a:gd name="connsiteY5" fmla="*/ 235927 h 3527917"/>
                                <a:gd name="connsiteX6" fmla="*/ 2488019 w 2488843"/>
                                <a:gd name="connsiteY6" fmla="*/ 2011 h 3527917"/>
                                <a:gd name="connsiteX0" fmla="*/ 0 w 2361691"/>
                                <a:gd name="connsiteY0" fmla="*/ 3458710 h 3458710"/>
                                <a:gd name="connsiteX1" fmla="*/ 64169 w 2361691"/>
                                <a:gd name="connsiteY1" fmla="*/ 2752857 h 3458710"/>
                                <a:gd name="connsiteX2" fmla="*/ 336884 w 2361691"/>
                                <a:gd name="connsiteY2" fmla="*/ 1918668 h 3458710"/>
                                <a:gd name="connsiteX3" fmla="*/ 770021 w 2361691"/>
                                <a:gd name="connsiteY3" fmla="*/ 1228857 h 3458710"/>
                                <a:gd name="connsiteX4" fmla="*/ 1331495 w 2361691"/>
                                <a:gd name="connsiteY4" fmla="*/ 619257 h 3458710"/>
                                <a:gd name="connsiteX5" fmla="*/ 1973179 w 2361691"/>
                                <a:gd name="connsiteY5" fmla="*/ 166720 h 3458710"/>
                                <a:gd name="connsiteX6" fmla="*/ 2360429 w 2361691"/>
                                <a:gd name="connsiteY6" fmla="*/ 3688 h 345871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2361691" h="3458710">
                                  <a:moveTo>
                                    <a:pt x="0" y="3458710"/>
                                  </a:moveTo>
                                  <a:cubicBezTo>
                                    <a:pt x="4011" y="3234120"/>
                                    <a:pt x="8022" y="3009531"/>
                                    <a:pt x="64169" y="2752857"/>
                                  </a:cubicBezTo>
                                  <a:cubicBezTo>
                                    <a:pt x="120316" y="2496183"/>
                                    <a:pt x="219242" y="2172668"/>
                                    <a:pt x="336884" y="1918668"/>
                                  </a:cubicBezTo>
                                  <a:cubicBezTo>
                                    <a:pt x="454526" y="1664668"/>
                                    <a:pt x="604253" y="1445425"/>
                                    <a:pt x="770021" y="1228857"/>
                                  </a:cubicBezTo>
                                  <a:cubicBezTo>
                                    <a:pt x="935789" y="1012289"/>
                                    <a:pt x="1130969" y="796280"/>
                                    <a:pt x="1331495" y="619257"/>
                                  </a:cubicBezTo>
                                  <a:cubicBezTo>
                                    <a:pt x="1532021" y="442234"/>
                                    <a:pt x="1788695" y="287036"/>
                                    <a:pt x="1973179" y="166720"/>
                                  </a:cubicBezTo>
                                  <a:cubicBezTo>
                                    <a:pt x="2157663" y="46404"/>
                                    <a:pt x="2380481" y="-16365"/>
                                    <a:pt x="2360429" y="3688"/>
                                  </a:cubicBezTo>
                                </a:path>
                              </a:pathLst>
                            </a:custGeom>
                            <a:ln w="19050" cap="flat" cmpd="sng" algn="ctr">
                              <a:solidFill>
                                <a:schemeClr val="dk1"/>
                              </a:solidFill>
                              <a:prstDash val="dash"/>
                              <a:round/>
                              <a:headEnd type="none" w="med" len="med"/>
                              <a:tailEnd type="none" w="med" len="med"/>
                            </a:ln>
                          </p:spPr>
                          <p:style>
                            <a:lnRef idx="0">
                              <a:scrgbClr r="0" g="0" b="0"/>
                            </a:lnRef>
                            <a:fillRef idx="0">
                              <a:scrgbClr r="0" g="0" b="0"/>
                            </a:fillRef>
                            <a:effectRef idx="0">
                              <a:scrgbClr r="0" g="0" b="0"/>
                            </a:effectRef>
                            <a:fontRef idx="minor">
                              <a:schemeClr val="tx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5" name="Text Placeholder 13">
                            <a:extLst>
                              <a:ext uri="{FF2B5EF4-FFF2-40B4-BE49-F238E27FC236}">
                                <a16:creationId xmlns:a16="http://schemas.microsoft.com/office/drawing/2014/main" id="{D3051C3D-D4E1-96C2-2862-E9FEBB67293B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>
                          <a:xfrm rot="18412859">
                            <a:off x="4997738" y="5972273"/>
                            <a:ext cx="4269478" cy="2064599"/>
                          </a:xfrm>
                          <a:prstGeom prst="rect">
                            <a:avLst/>
                          </a:prstGeom>
                        </p:spPr>
                        <p:txBody>
                          <a:bodyPr spcFirstLastPara="1" vert="horz" lIns="60960" tIns="30480" rIns="60960" bIns="30480" numCol="1" rtlCol="0">
                            <a:prstTxWarp prst="textArchUp">
                              <a:avLst/>
                            </a:prstTxWarp>
                            <a:normAutofit/>
                          </a:bodyPr>
                          <a:lstStyle>
                            <a:lvl1pPr marL="0" indent="0" algn="just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1000"/>
                              </a:spcBef>
                              <a:buFont typeface="Arial" panose="020B0604020202020204" pitchFamily="34" charset="0"/>
                              <a:buNone/>
                              <a:defRPr sz="2000" kern="1200">
                                <a:solidFill>
                                  <a:schemeClr val="tx1"/>
                                </a:solidFill>
                                <a:latin typeface="Alata" panose="020B0604020202020204" charset="0"/>
                                <a:ea typeface="+mn-ea"/>
                                <a:cs typeface="+mn-cs"/>
                              </a:defRPr>
                            </a:lvl1pPr>
                            <a:lvl2pPr marL="685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4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1143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0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600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20574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5146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971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429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886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600">
                                <a:solidFill>
                                  <a:prstClr val="black"/>
                                </a:solidFill>
                              </a:rPr>
                              <a:t>Phase 1: Mission Statement</a:t>
                            </a:r>
                          </a:p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endParaRPr lang="en-BE" sz="1200">
                              <a:solidFill>
                                <a:prstClr val="black"/>
                              </a:solidFill>
                            </a:endParaRPr>
                          </a:p>
                        </p:txBody>
                      </p:sp>
                      <p:grpSp>
                        <p:nvGrpSpPr>
                          <p:cNvPr id="173" name="Group 172">
                            <a:extLst>
                              <a:ext uri="{FF2B5EF4-FFF2-40B4-BE49-F238E27FC236}">
                                <a16:creationId xmlns:a16="http://schemas.microsoft.com/office/drawing/2014/main" id="{198F3E29-C35E-DF3B-9FD9-E6F650DECD6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6527588">
                            <a:off x="6778495" y="3019105"/>
                            <a:ext cx="5368975" cy="7908565"/>
                            <a:chOff x="4764506" y="4441954"/>
                            <a:chExt cx="5368975" cy="7908565"/>
                          </a:xfrm>
                        </p:grpSpPr>
                        <p:sp>
                          <p:nvSpPr>
                            <p:cNvPr id="174" name="Arrow: Chevron 173">
                              <a:extLst>
                                <a:ext uri="{FF2B5EF4-FFF2-40B4-BE49-F238E27FC236}">
                                  <a16:creationId xmlns:a16="http://schemas.microsoft.com/office/drawing/2014/main" id="{D052E4B9-EC1F-965E-453D-079547D396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20410579">
                              <a:off x="7084598" y="4441954"/>
                              <a:ext cx="182333" cy="213831"/>
                            </a:xfrm>
                            <a:prstGeom prst="chevron">
                              <a:avLst>
                                <a:gd name="adj" fmla="val 72603"/>
                              </a:avLst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175" name="Freeform: Shape 174">
                              <a:extLst>
                                <a:ext uri="{FF2B5EF4-FFF2-40B4-BE49-F238E27FC236}">
                                  <a16:creationId xmlns:a16="http://schemas.microsoft.com/office/drawing/2014/main" id="{C94C67B8-3BB4-614A-5C18-E26C8A64108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64506" y="4538873"/>
                              <a:ext cx="2467203" cy="3498223"/>
                            </a:xfrm>
                            <a:custGeom>
                              <a:avLst/>
                              <a:gdLst>
                                <a:gd name="connsiteX0" fmla="*/ 0 w 2450957"/>
                                <a:gd name="connsiteY0" fmla="*/ 3576506 h 3576506"/>
                                <a:gd name="connsiteX1" fmla="*/ 64169 w 2450957"/>
                                <a:gd name="connsiteY1" fmla="*/ 2870653 h 3576506"/>
                                <a:gd name="connsiteX2" fmla="*/ 336884 w 2450957"/>
                                <a:gd name="connsiteY2" fmla="*/ 2036464 h 3576506"/>
                                <a:gd name="connsiteX3" fmla="*/ 770021 w 2450957"/>
                                <a:gd name="connsiteY3" fmla="*/ 1346653 h 3576506"/>
                                <a:gd name="connsiteX4" fmla="*/ 1331495 w 2450957"/>
                                <a:gd name="connsiteY4" fmla="*/ 737053 h 3576506"/>
                                <a:gd name="connsiteX5" fmla="*/ 2294021 w 2450957"/>
                                <a:gd name="connsiteY5" fmla="*/ 95369 h 3576506"/>
                                <a:gd name="connsiteX6" fmla="*/ 2438400 w 2450957"/>
                                <a:gd name="connsiteY6" fmla="*/ 15158 h 3576506"/>
                                <a:gd name="connsiteX0" fmla="*/ 0 w 2439353"/>
                                <a:gd name="connsiteY0" fmla="*/ 3562720 h 3562720"/>
                                <a:gd name="connsiteX1" fmla="*/ 64169 w 2439353"/>
                                <a:gd name="connsiteY1" fmla="*/ 2856867 h 3562720"/>
                                <a:gd name="connsiteX2" fmla="*/ 336884 w 2439353"/>
                                <a:gd name="connsiteY2" fmla="*/ 2022678 h 3562720"/>
                                <a:gd name="connsiteX3" fmla="*/ 770021 w 2439353"/>
                                <a:gd name="connsiteY3" fmla="*/ 1332867 h 3562720"/>
                                <a:gd name="connsiteX4" fmla="*/ 1331495 w 2439353"/>
                                <a:gd name="connsiteY4" fmla="*/ 723267 h 3562720"/>
                                <a:gd name="connsiteX5" fmla="*/ 1973179 w 2439353"/>
                                <a:gd name="connsiteY5" fmla="*/ 306172 h 3562720"/>
                                <a:gd name="connsiteX6" fmla="*/ 2438400 w 2439353"/>
                                <a:gd name="connsiteY6" fmla="*/ 1372 h 3562720"/>
                                <a:gd name="connsiteX0" fmla="*/ 0 w 2439353"/>
                                <a:gd name="connsiteY0" fmla="*/ 3562979 h 3562979"/>
                                <a:gd name="connsiteX1" fmla="*/ 64169 w 2439353"/>
                                <a:gd name="connsiteY1" fmla="*/ 2857126 h 3562979"/>
                                <a:gd name="connsiteX2" fmla="*/ 336884 w 2439353"/>
                                <a:gd name="connsiteY2" fmla="*/ 2022937 h 3562979"/>
                                <a:gd name="connsiteX3" fmla="*/ 770021 w 2439353"/>
                                <a:gd name="connsiteY3" fmla="*/ 1333126 h 3562979"/>
                                <a:gd name="connsiteX4" fmla="*/ 1331495 w 2439353"/>
                                <a:gd name="connsiteY4" fmla="*/ 723526 h 3562979"/>
                                <a:gd name="connsiteX5" fmla="*/ 1973179 w 2439353"/>
                                <a:gd name="connsiteY5" fmla="*/ 270989 h 3562979"/>
                                <a:gd name="connsiteX6" fmla="*/ 2438400 w 2439353"/>
                                <a:gd name="connsiteY6" fmla="*/ 1631 h 3562979"/>
                                <a:gd name="connsiteX0" fmla="*/ 0 w 2453490"/>
                                <a:gd name="connsiteY0" fmla="*/ 3520927 h 3520927"/>
                                <a:gd name="connsiteX1" fmla="*/ 64169 w 2453490"/>
                                <a:gd name="connsiteY1" fmla="*/ 2815074 h 3520927"/>
                                <a:gd name="connsiteX2" fmla="*/ 336884 w 2453490"/>
                                <a:gd name="connsiteY2" fmla="*/ 1980885 h 3520927"/>
                                <a:gd name="connsiteX3" fmla="*/ 770021 w 2453490"/>
                                <a:gd name="connsiteY3" fmla="*/ 1291074 h 3520927"/>
                                <a:gd name="connsiteX4" fmla="*/ 1331495 w 2453490"/>
                                <a:gd name="connsiteY4" fmla="*/ 681474 h 3520927"/>
                                <a:gd name="connsiteX5" fmla="*/ 1973179 w 2453490"/>
                                <a:gd name="connsiteY5" fmla="*/ 228937 h 3520927"/>
                                <a:gd name="connsiteX6" fmla="*/ 2452577 w 2453490"/>
                                <a:gd name="connsiteY6" fmla="*/ 2109 h 3520927"/>
                                <a:gd name="connsiteX0" fmla="*/ 0 w 2488843"/>
                                <a:gd name="connsiteY0" fmla="*/ 3527917 h 3527917"/>
                                <a:gd name="connsiteX1" fmla="*/ 64169 w 2488843"/>
                                <a:gd name="connsiteY1" fmla="*/ 2822064 h 3527917"/>
                                <a:gd name="connsiteX2" fmla="*/ 336884 w 2488843"/>
                                <a:gd name="connsiteY2" fmla="*/ 1987875 h 3527917"/>
                                <a:gd name="connsiteX3" fmla="*/ 770021 w 2488843"/>
                                <a:gd name="connsiteY3" fmla="*/ 1298064 h 3527917"/>
                                <a:gd name="connsiteX4" fmla="*/ 1331495 w 2488843"/>
                                <a:gd name="connsiteY4" fmla="*/ 688464 h 3527917"/>
                                <a:gd name="connsiteX5" fmla="*/ 1973179 w 2488843"/>
                                <a:gd name="connsiteY5" fmla="*/ 235927 h 3527917"/>
                                <a:gd name="connsiteX6" fmla="*/ 2488019 w 2488843"/>
                                <a:gd name="connsiteY6" fmla="*/ 2011 h 3527917"/>
                                <a:gd name="connsiteX0" fmla="*/ 0 w 2361691"/>
                                <a:gd name="connsiteY0" fmla="*/ 3458710 h 3458710"/>
                                <a:gd name="connsiteX1" fmla="*/ 64169 w 2361691"/>
                                <a:gd name="connsiteY1" fmla="*/ 2752857 h 3458710"/>
                                <a:gd name="connsiteX2" fmla="*/ 336884 w 2361691"/>
                                <a:gd name="connsiteY2" fmla="*/ 1918668 h 3458710"/>
                                <a:gd name="connsiteX3" fmla="*/ 770021 w 2361691"/>
                                <a:gd name="connsiteY3" fmla="*/ 1228857 h 3458710"/>
                                <a:gd name="connsiteX4" fmla="*/ 1331495 w 2361691"/>
                                <a:gd name="connsiteY4" fmla="*/ 619257 h 3458710"/>
                                <a:gd name="connsiteX5" fmla="*/ 1973179 w 2361691"/>
                                <a:gd name="connsiteY5" fmla="*/ 166720 h 3458710"/>
                                <a:gd name="connsiteX6" fmla="*/ 2360429 w 2361691"/>
                                <a:gd name="connsiteY6" fmla="*/ 3688 h 345871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2361691" h="3458710">
                                  <a:moveTo>
                                    <a:pt x="0" y="3458710"/>
                                  </a:moveTo>
                                  <a:cubicBezTo>
                                    <a:pt x="4011" y="3234120"/>
                                    <a:pt x="8022" y="3009531"/>
                                    <a:pt x="64169" y="2752857"/>
                                  </a:cubicBezTo>
                                  <a:cubicBezTo>
                                    <a:pt x="120316" y="2496183"/>
                                    <a:pt x="219242" y="2172668"/>
                                    <a:pt x="336884" y="1918668"/>
                                  </a:cubicBezTo>
                                  <a:cubicBezTo>
                                    <a:pt x="454526" y="1664668"/>
                                    <a:pt x="604253" y="1445425"/>
                                    <a:pt x="770021" y="1228857"/>
                                  </a:cubicBezTo>
                                  <a:cubicBezTo>
                                    <a:pt x="935789" y="1012289"/>
                                    <a:pt x="1130969" y="796280"/>
                                    <a:pt x="1331495" y="619257"/>
                                  </a:cubicBezTo>
                                  <a:cubicBezTo>
                                    <a:pt x="1532021" y="442234"/>
                                    <a:pt x="1788695" y="287036"/>
                                    <a:pt x="1973179" y="166720"/>
                                  </a:cubicBezTo>
                                  <a:cubicBezTo>
                                    <a:pt x="2157663" y="46404"/>
                                    <a:pt x="2380481" y="-16365"/>
                                    <a:pt x="2360429" y="3688"/>
                                  </a:cubicBezTo>
                                </a:path>
                              </a:pathLst>
                            </a:custGeom>
                            <a:ln w="28575">
                              <a:headEnd type="none" w="med" len="med"/>
                              <a:tailEnd type="none" w="med" len="med"/>
                            </a:ln>
                          </p:spPr>
                          <p:style>
                            <a:lnRef idx="3">
                              <a:schemeClr val="dk1"/>
                            </a:lnRef>
                            <a:fillRef idx="0">
                              <a:schemeClr val="dk1"/>
                            </a:fillRef>
                            <a:effectRef idx="2">
                              <a:schemeClr val="dk1"/>
                            </a:effectRef>
                            <a:fontRef idx="minor">
                              <a:schemeClr val="tx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193" name="Arrow: Chevron 192">
                              <a:extLst>
                                <a:ext uri="{FF2B5EF4-FFF2-40B4-BE49-F238E27FC236}">
                                  <a16:creationId xmlns:a16="http://schemas.microsoft.com/office/drawing/2014/main" id="{2E8B175F-A134-A2E1-7422-9535B934FDC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4272412">
                              <a:off x="9935399" y="12152437"/>
                              <a:ext cx="182333" cy="213831"/>
                            </a:xfrm>
                            <a:prstGeom prst="chevron">
                              <a:avLst>
                                <a:gd name="adj" fmla="val 72603"/>
                              </a:avLst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8" name="Text Placeholder 13">
                            <a:extLst>
                              <a:ext uri="{FF2B5EF4-FFF2-40B4-BE49-F238E27FC236}">
                                <a16:creationId xmlns:a16="http://schemas.microsoft.com/office/drawing/2014/main" id="{A812A29F-8E84-057A-9AF4-9413061DFEA3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>
                          <a:xfrm>
                            <a:off x="6853284" y="5044245"/>
                            <a:ext cx="4269478" cy="2064599"/>
                          </a:xfrm>
                          <a:prstGeom prst="rect">
                            <a:avLst/>
                          </a:prstGeom>
                        </p:spPr>
                        <p:txBody>
                          <a:bodyPr spcFirstLastPara="1" vert="horz" lIns="60960" tIns="30480" rIns="60960" bIns="30480" numCol="1" rtlCol="0">
                            <a:prstTxWarp prst="textArchUp">
                              <a:avLst/>
                            </a:prstTxWarp>
                            <a:normAutofit/>
                          </a:bodyPr>
                          <a:lstStyle>
                            <a:lvl1pPr marL="0" indent="0" algn="just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1000"/>
                              </a:spcBef>
                              <a:buFont typeface="Arial" panose="020B0604020202020204" pitchFamily="34" charset="0"/>
                              <a:buNone/>
                              <a:defRPr sz="2000" kern="1200">
                                <a:solidFill>
                                  <a:schemeClr val="tx1"/>
                                </a:solidFill>
                                <a:latin typeface="Alata" panose="020B0604020202020204" charset="0"/>
                                <a:ea typeface="+mn-ea"/>
                                <a:cs typeface="+mn-cs"/>
                              </a:defRPr>
                            </a:lvl1pPr>
                            <a:lvl2pPr marL="685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4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1143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0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600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20574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5146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971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429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886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600">
                                <a:solidFill>
                                  <a:prstClr val="black"/>
                                </a:solidFill>
                              </a:rPr>
                              <a:t>Phase 2: Action Plan</a:t>
                            </a:r>
                          </a:p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200">
                                <a:solidFill>
                                  <a:prstClr val="black"/>
                                </a:solidFill>
                              </a:rPr>
                              <a:t>  </a:t>
                            </a:r>
                            <a:endParaRPr lang="en-BE" sz="1200">
                              <a:solidFill>
                                <a:prstClr val="black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179" name="Text Placeholder 13">
                            <a:extLst>
                              <a:ext uri="{FF2B5EF4-FFF2-40B4-BE49-F238E27FC236}">
                                <a16:creationId xmlns:a16="http://schemas.microsoft.com/office/drawing/2014/main" id="{6E2FBAAF-15C5-69CC-8F1C-0AB606D660A9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>
                          <a:xfrm rot="3221837">
                            <a:off x="8669153" y="5935981"/>
                            <a:ext cx="4269478" cy="2064599"/>
                          </a:xfrm>
                          <a:prstGeom prst="rect">
                            <a:avLst/>
                          </a:prstGeom>
                        </p:spPr>
                        <p:txBody>
                          <a:bodyPr spcFirstLastPara="1" vert="horz" lIns="60960" tIns="30480" rIns="60960" bIns="30480" numCol="1" rtlCol="0">
                            <a:prstTxWarp prst="textArchUp">
                              <a:avLst/>
                            </a:prstTxWarp>
                            <a:normAutofit/>
                          </a:bodyPr>
                          <a:lstStyle>
                            <a:lvl1pPr marL="0" indent="0" algn="just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1000"/>
                              </a:spcBef>
                              <a:buFont typeface="Arial" panose="020B0604020202020204" pitchFamily="34" charset="0"/>
                              <a:buNone/>
                              <a:defRPr sz="2000" kern="1200">
                                <a:solidFill>
                                  <a:schemeClr val="tx1"/>
                                </a:solidFill>
                                <a:latin typeface="Alata" panose="020B0604020202020204" charset="0"/>
                                <a:ea typeface="+mn-ea"/>
                                <a:cs typeface="+mn-cs"/>
                              </a:defRPr>
                            </a:lvl1pPr>
                            <a:lvl2pPr marL="685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4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1143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0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600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20574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5146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971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429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886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600">
                                <a:solidFill>
                                  <a:prstClr val="black"/>
                                </a:solidFill>
                              </a:rPr>
                              <a:t>Phase 3: Implementation</a:t>
                            </a:r>
                          </a:p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200">
                                <a:solidFill>
                                  <a:prstClr val="black"/>
                                </a:solidFill>
                              </a:rPr>
                              <a:t> </a:t>
                            </a:r>
                            <a:endParaRPr lang="en-BE" sz="1200">
                              <a:solidFill>
                                <a:prstClr val="black"/>
                              </a:solidFill>
                            </a:endParaRPr>
                          </a:p>
                        </p:txBody>
                      </p:sp>
                    </p:grpSp>
                    <p:pic>
                      <p:nvPicPr>
                        <p:cNvPr id="92" name="Graphic 91" descr="Abacus outline">
                          <a:extLst>
                            <a:ext uri="{FF2B5EF4-FFF2-40B4-BE49-F238E27FC236}">
                              <a16:creationId xmlns:a16="http://schemas.microsoft.com/office/drawing/2014/main" id="{FE2E80A6-6FCE-A7E6-1664-6BD2D5A9514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>
                          <a:extLs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81221" y="5055853"/>
                          <a:ext cx="996798" cy="996798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97" name="Graphic 96" descr="Target outline">
                        <a:extLst>
                          <a:ext uri="{FF2B5EF4-FFF2-40B4-BE49-F238E27FC236}">
                            <a16:creationId xmlns:a16="http://schemas.microsoft.com/office/drawing/2014/main" id="{FDB822BC-344A-41C3-4FCA-61CB459C058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1">
                        <a:extLst>
                          <a:ext uri="{96DAC541-7B7A-43D3-8B79-37D633B846F1}">
                            <asvg:svgBlip xmlns:asvg="http://schemas.microsoft.com/office/drawing/2016/SVG/main" r:embed="rId1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27215" y="3609924"/>
                        <a:ext cx="914400" cy="91440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07" name="Graphic 106" descr="Classroom outline">
                      <a:extLst>
                        <a:ext uri="{FF2B5EF4-FFF2-40B4-BE49-F238E27FC236}">
                          <a16:creationId xmlns:a16="http://schemas.microsoft.com/office/drawing/2014/main" id="{F94BB5A1-15F4-2B0E-018F-A0F26F7F707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3">
                      <a:extLst>
                        <a:ext uri="{96DAC541-7B7A-43D3-8B79-37D633B846F1}">
                          <asvg:svgBlip xmlns:asvg="http://schemas.microsoft.com/office/drawing/2016/SVG/main" r:embed="rId1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622706" y="6899495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05" name="Graphic 104" descr="Gears outline">
                    <a:extLst>
                      <a:ext uri="{FF2B5EF4-FFF2-40B4-BE49-F238E27FC236}">
                        <a16:creationId xmlns:a16="http://schemas.microsoft.com/office/drawing/2014/main" id="{1C30D0EB-BC6C-D45B-AC9C-ADD1CE2664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>
                    <a:extLst>
                      <a:ext uri="{96DAC541-7B7A-43D3-8B79-37D633B846F1}">
                        <asvg:svgBlip xmlns:asvg="http://schemas.microsoft.com/office/drawing/2016/SVG/main" r:embed="rId1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256009" y="3453800"/>
                    <a:ext cx="1073381" cy="107338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9" name="Graphic 98" descr="Question Mark outline">
                  <a:extLst>
                    <a:ext uri="{FF2B5EF4-FFF2-40B4-BE49-F238E27FC236}">
                      <a16:creationId xmlns:a16="http://schemas.microsoft.com/office/drawing/2014/main" id="{C224885B-26B7-20C8-19C6-2B80F33329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97184" y="450741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166" name="Circle: Hollow 165">
                <a:extLst>
                  <a:ext uri="{FF2B5EF4-FFF2-40B4-BE49-F238E27FC236}">
                    <a16:creationId xmlns:a16="http://schemas.microsoft.com/office/drawing/2014/main" id="{67C5DCE0-302F-FA6A-B5F0-6796E75314E6}"/>
                  </a:ext>
                </a:extLst>
              </p:cNvPr>
              <p:cNvSpPr/>
              <p:nvPr/>
            </p:nvSpPr>
            <p:spPr>
              <a:xfrm>
                <a:off x="4656597" y="8033379"/>
                <a:ext cx="210314" cy="195108"/>
              </a:xfrm>
              <a:prstGeom prst="donu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67" name="Circle: Hollow 166">
                <a:extLst>
                  <a:ext uri="{FF2B5EF4-FFF2-40B4-BE49-F238E27FC236}">
                    <a16:creationId xmlns:a16="http://schemas.microsoft.com/office/drawing/2014/main" id="{9CE9820D-24CC-1345-F766-16EBBE3C70ED}"/>
                  </a:ext>
                </a:extLst>
              </p:cNvPr>
              <p:cNvSpPr/>
              <p:nvPr/>
            </p:nvSpPr>
            <p:spPr>
              <a:xfrm>
                <a:off x="7126394" y="4433977"/>
                <a:ext cx="187390" cy="178795"/>
              </a:xfrm>
              <a:prstGeom prst="donu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2" name="Circle: Hollow 171">
                <a:extLst>
                  <a:ext uri="{FF2B5EF4-FFF2-40B4-BE49-F238E27FC236}">
                    <a16:creationId xmlns:a16="http://schemas.microsoft.com/office/drawing/2014/main" id="{6C338F5E-7D7A-632D-BB35-3DFBC3947510}"/>
                  </a:ext>
                </a:extLst>
              </p:cNvPr>
              <p:cNvSpPr/>
              <p:nvPr/>
            </p:nvSpPr>
            <p:spPr>
              <a:xfrm>
                <a:off x="10491421" y="4383759"/>
                <a:ext cx="194279" cy="193960"/>
              </a:xfrm>
              <a:prstGeom prst="donu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6" name="Circle: Hollow 175">
                <a:extLst>
                  <a:ext uri="{FF2B5EF4-FFF2-40B4-BE49-F238E27FC236}">
                    <a16:creationId xmlns:a16="http://schemas.microsoft.com/office/drawing/2014/main" id="{37071281-1AFD-48FE-579D-2FC3C8E66F17}"/>
                  </a:ext>
                </a:extLst>
              </p:cNvPr>
              <p:cNvSpPr/>
              <p:nvPr/>
            </p:nvSpPr>
            <p:spPr>
              <a:xfrm>
                <a:off x="13091485" y="8018155"/>
                <a:ext cx="210314" cy="195108"/>
              </a:xfrm>
              <a:prstGeom prst="donu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89" name="Text Placeholder 13">
              <a:extLst>
                <a:ext uri="{FF2B5EF4-FFF2-40B4-BE49-F238E27FC236}">
                  <a16:creationId xmlns:a16="http://schemas.microsoft.com/office/drawing/2014/main" id="{F36CBD1D-5C2E-C3EA-0C1F-4D0F01D2584C}"/>
                </a:ext>
              </a:extLst>
            </p:cNvPr>
            <p:cNvSpPr txBox="1">
              <a:spLocks/>
            </p:cNvSpPr>
            <p:nvPr/>
          </p:nvSpPr>
          <p:spPr>
            <a:xfrm>
              <a:off x="5406830" y="1998217"/>
              <a:ext cx="1825598" cy="982751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>
                  <a:latin typeface="Alata" panose="020B060402020202020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1867">
                  <a:solidFill>
                    <a:prstClr val="black"/>
                  </a:solidFill>
                </a:rPr>
                <a:t>4. Analyze root cause  </a:t>
              </a:r>
              <a:endParaRPr lang="en-BE" sz="1867">
                <a:solidFill>
                  <a:prstClr val="black"/>
                </a:solidFill>
              </a:endParaRPr>
            </a:p>
          </p:txBody>
        </p:sp>
        <p:sp>
          <p:nvSpPr>
            <p:cNvPr id="111" name="Slide Number Placeholder 8">
              <a:extLst>
                <a:ext uri="{FF2B5EF4-FFF2-40B4-BE49-F238E27FC236}">
                  <a16:creationId xmlns:a16="http://schemas.microsoft.com/office/drawing/2014/main" id="{81F15185-EAD9-AB9F-BD38-C7FDF92066FC}"/>
                </a:ext>
              </a:extLst>
            </p:cNvPr>
            <p:cNvSpPr txBox="1">
              <a:spLocks/>
            </p:cNvSpPr>
            <p:nvPr/>
          </p:nvSpPr>
          <p:spPr>
            <a:xfrm>
              <a:off x="8219753" y="7109425"/>
              <a:ext cx="1695692" cy="702624"/>
            </a:xfrm>
            <a:prstGeom prst="rect">
              <a:avLst/>
            </a:prstGeom>
          </p:spPr>
          <p:txBody>
            <a:bodyPr vert="horz" lIns="60960" tIns="30480" rIns="60960" bIns="30480" rtlCol="0" anchor="ctr"/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/>
              <a:r>
                <a:rPr lang="en-US" sz="3200" err="1">
                  <a:solidFill>
                    <a:prstClr val="black"/>
                  </a:solidFill>
                  <a:latin typeface="Alata"/>
                  <a:cs typeface="Calibri"/>
                </a:rPr>
                <a:t>intys</a:t>
              </a:r>
              <a:r>
                <a:rPr lang="en-US" sz="3200">
                  <a:solidFill>
                    <a:prstClr val="black"/>
                  </a:solidFill>
                  <a:latin typeface="Alata"/>
                  <a:cs typeface="Calibri"/>
                </a:rPr>
                <a:t>.</a:t>
              </a: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2EE743AE-02FE-CE95-7E1A-246400A60270}"/>
              </a:ext>
            </a:extLst>
          </p:cNvPr>
          <p:cNvSpPr/>
          <p:nvPr/>
        </p:nvSpPr>
        <p:spPr>
          <a:xfrm>
            <a:off x="1487424" y="6370320"/>
            <a:ext cx="8534400" cy="1730400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B9A00F2D-8047-6BE8-9CDE-BA70E9329194}"/>
              </a:ext>
            </a:extLst>
          </p:cNvPr>
          <p:cNvCxnSpPr>
            <a:cxnSpLocks/>
          </p:cNvCxnSpPr>
          <p:nvPr/>
        </p:nvCxnSpPr>
        <p:spPr>
          <a:xfrm flipH="1">
            <a:off x="2914965" y="5511681"/>
            <a:ext cx="5781555" cy="15275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" name="Text Placeholder 13">
            <a:extLst>
              <a:ext uri="{FF2B5EF4-FFF2-40B4-BE49-F238E27FC236}">
                <a16:creationId xmlns:a16="http://schemas.microsoft.com/office/drawing/2014/main" id="{E39F199B-276C-CDEE-A410-38679D9DF5EF}"/>
              </a:ext>
            </a:extLst>
          </p:cNvPr>
          <p:cNvSpPr txBox="1">
            <a:spLocks/>
          </p:cNvSpPr>
          <p:nvPr/>
        </p:nvSpPr>
        <p:spPr>
          <a:xfrm>
            <a:off x="4392531" y="5595692"/>
            <a:ext cx="3121708" cy="67457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The “Delivery Cycle”</a:t>
            </a:r>
          </a:p>
          <a:p>
            <a:pPr algn="ctr" defTabSz="609630">
              <a:spcBef>
                <a:spcPts val="667"/>
              </a:spcBef>
            </a:pPr>
            <a:endParaRPr lang="en-BE" sz="1333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898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4235A-1276-0B92-2D68-425ACB6E45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255" y="1161473"/>
            <a:ext cx="2954867" cy="434502"/>
          </a:xfrm>
        </p:spPr>
        <p:txBody>
          <a:bodyPr>
            <a:normAutofit/>
          </a:bodyPr>
          <a:lstStyle/>
          <a:p>
            <a:r>
              <a:rPr lang="en-US"/>
              <a:t>Gap Analysis (2 ways)</a:t>
            </a:r>
            <a:endParaRPr lang="en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C11985-700D-D80A-2402-2D0A3088466C}"/>
              </a:ext>
            </a:extLst>
          </p:cNvPr>
          <p:cNvSpPr/>
          <p:nvPr/>
        </p:nvSpPr>
        <p:spPr>
          <a:xfrm>
            <a:off x="97240" y="1958166"/>
            <a:ext cx="2742058" cy="39553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6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5CDA1-BD66-B643-D18D-7653DA2523AE}"/>
              </a:ext>
            </a:extLst>
          </p:cNvPr>
          <p:cNvSpPr/>
          <p:nvPr/>
        </p:nvSpPr>
        <p:spPr>
          <a:xfrm>
            <a:off x="8906933" y="2238174"/>
            <a:ext cx="2751667" cy="2261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BAC8D-4C67-4155-2A06-12DB548F61D3}"/>
              </a:ext>
            </a:extLst>
          </p:cNvPr>
          <p:cNvSpPr/>
          <p:nvPr/>
        </p:nvSpPr>
        <p:spPr>
          <a:xfrm>
            <a:off x="2995140" y="1959608"/>
            <a:ext cx="2576605" cy="39553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6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693584-3DA7-CF03-2E50-794EA6F22341}"/>
              </a:ext>
            </a:extLst>
          </p:cNvPr>
          <p:cNvSpPr/>
          <p:nvPr/>
        </p:nvSpPr>
        <p:spPr>
          <a:xfrm>
            <a:off x="97053" y="2353699"/>
            <a:ext cx="2742244" cy="33672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6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ED0B96-990D-5764-98C7-CC2D058E49A0}"/>
              </a:ext>
            </a:extLst>
          </p:cNvPr>
          <p:cNvSpPr/>
          <p:nvPr/>
        </p:nvSpPr>
        <p:spPr>
          <a:xfrm>
            <a:off x="2995140" y="3828424"/>
            <a:ext cx="2576605" cy="39553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6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0664F2-8B4C-36E5-E7D4-FB3A9F1185C9}"/>
              </a:ext>
            </a:extLst>
          </p:cNvPr>
          <p:cNvSpPr/>
          <p:nvPr/>
        </p:nvSpPr>
        <p:spPr>
          <a:xfrm>
            <a:off x="2995140" y="1956079"/>
            <a:ext cx="2576605" cy="1705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6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7C7CAA-260E-89D3-8920-018C234AC4C5}"/>
              </a:ext>
            </a:extLst>
          </p:cNvPr>
          <p:cNvSpPr/>
          <p:nvPr/>
        </p:nvSpPr>
        <p:spPr>
          <a:xfrm>
            <a:off x="2995140" y="3822816"/>
            <a:ext cx="2576605" cy="18980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6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17D774-49A8-C8D1-58D1-40CE7A3DF44B}"/>
              </a:ext>
            </a:extLst>
          </p:cNvPr>
          <p:cNvSpPr/>
          <p:nvPr/>
        </p:nvSpPr>
        <p:spPr>
          <a:xfrm>
            <a:off x="6096000" y="2238174"/>
            <a:ext cx="2751667" cy="2261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076E45-D016-C6BB-C792-A5F5244DE127}"/>
              </a:ext>
            </a:extLst>
          </p:cNvPr>
          <p:cNvSpPr/>
          <p:nvPr/>
        </p:nvSpPr>
        <p:spPr>
          <a:xfrm>
            <a:off x="8906933" y="1956079"/>
            <a:ext cx="2751667" cy="28228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324677-93C2-8294-4BDF-94EDA6CE498C}"/>
              </a:ext>
            </a:extLst>
          </p:cNvPr>
          <p:cNvSpPr/>
          <p:nvPr/>
        </p:nvSpPr>
        <p:spPr>
          <a:xfrm>
            <a:off x="6096000" y="1956079"/>
            <a:ext cx="2751667" cy="28228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AF5230-E64C-9E2B-7EE3-F0C2719BD4AF}"/>
              </a:ext>
            </a:extLst>
          </p:cNvPr>
          <p:cNvSpPr/>
          <p:nvPr/>
        </p:nvSpPr>
        <p:spPr>
          <a:xfrm>
            <a:off x="6099725" y="4565437"/>
            <a:ext cx="5562600" cy="28228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BED31D-1C5D-4CCF-6139-F00B438CFA29}"/>
              </a:ext>
            </a:extLst>
          </p:cNvPr>
          <p:cNvSpPr/>
          <p:nvPr/>
        </p:nvSpPr>
        <p:spPr>
          <a:xfrm>
            <a:off x="6096000" y="4856925"/>
            <a:ext cx="5537200" cy="8661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CF7255E-7E84-6B2C-B4A0-3D9E7E168E4B}"/>
              </a:ext>
            </a:extLst>
          </p:cNvPr>
          <p:cNvSpPr txBox="1">
            <a:spLocks/>
          </p:cNvSpPr>
          <p:nvPr/>
        </p:nvSpPr>
        <p:spPr>
          <a:xfrm>
            <a:off x="7133167" y="1966118"/>
            <a:ext cx="2032000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AS-IS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61D4184-82F1-3891-32D9-9BCCF514DF98}"/>
              </a:ext>
            </a:extLst>
          </p:cNvPr>
          <p:cNvSpPr txBox="1">
            <a:spLocks/>
          </p:cNvSpPr>
          <p:nvPr/>
        </p:nvSpPr>
        <p:spPr>
          <a:xfrm>
            <a:off x="536448" y="2005707"/>
            <a:ext cx="2194560" cy="37841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867" dirty="0">
                <a:solidFill>
                  <a:prstClr val="black"/>
                </a:solidFill>
              </a:rPr>
              <a:t>Ideal situation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750A230-61BD-72A5-3D7D-940799A58CA7}"/>
              </a:ext>
            </a:extLst>
          </p:cNvPr>
          <p:cNvSpPr txBox="1">
            <a:spLocks/>
          </p:cNvSpPr>
          <p:nvPr/>
        </p:nvSpPr>
        <p:spPr>
          <a:xfrm>
            <a:off x="4028414" y="2025039"/>
            <a:ext cx="1229688" cy="395533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Gap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6070D4-D6F1-CD0A-949E-A5B1BBF561B3}"/>
              </a:ext>
            </a:extLst>
          </p:cNvPr>
          <p:cNvSpPr txBox="1">
            <a:spLocks/>
          </p:cNvSpPr>
          <p:nvPr/>
        </p:nvSpPr>
        <p:spPr>
          <a:xfrm>
            <a:off x="3272259" y="3916140"/>
            <a:ext cx="2298839" cy="325244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Current situation 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0EAEB06-63A2-E0B1-1C4B-E652285638E4}"/>
              </a:ext>
            </a:extLst>
          </p:cNvPr>
          <p:cNvSpPr txBox="1">
            <a:spLocks/>
          </p:cNvSpPr>
          <p:nvPr/>
        </p:nvSpPr>
        <p:spPr>
          <a:xfrm>
            <a:off x="9936895" y="1966118"/>
            <a:ext cx="2032000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TO-BE 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1CB3038A-2EE2-DD55-A149-77330DAF0F17}"/>
              </a:ext>
            </a:extLst>
          </p:cNvPr>
          <p:cNvSpPr txBox="1">
            <a:spLocks/>
          </p:cNvSpPr>
          <p:nvPr/>
        </p:nvSpPr>
        <p:spPr>
          <a:xfrm>
            <a:off x="8593667" y="4562525"/>
            <a:ext cx="2032000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Gap </a:t>
            </a:r>
            <a:endParaRPr lang="en-BE" sz="1867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350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1BAF-B11A-F2D0-B5E5-33282888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2D585-170D-73B0-AEA1-9F95699CE3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6623" y="652768"/>
            <a:ext cx="2954867" cy="434502"/>
          </a:xfrm>
        </p:spPr>
        <p:txBody>
          <a:bodyPr>
            <a:normAutofit/>
          </a:bodyPr>
          <a:lstStyle/>
          <a:p>
            <a:r>
              <a:rPr lang="en-US"/>
              <a:t>Fishbone Diagram  </a:t>
            </a:r>
            <a:endParaRPr lang="en-BE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CED0E6F-AC12-5AFA-9E67-1346810D4027}"/>
              </a:ext>
            </a:extLst>
          </p:cNvPr>
          <p:cNvSpPr/>
          <p:nvPr/>
        </p:nvSpPr>
        <p:spPr>
          <a:xfrm rot="5400000">
            <a:off x="9499600" y="2775859"/>
            <a:ext cx="1608667" cy="1422400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306C96B-698F-D91A-7D32-FE62CD21085E}"/>
              </a:ext>
            </a:extLst>
          </p:cNvPr>
          <p:cNvSpPr/>
          <p:nvPr/>
        </p:nvSpPr>
        <p:spPr>
          <a:xfrm>
            <a:off x="9825567" y="3208867"/>
            <a:ext cx="198967" cy="203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829184-C1A5-D3D1-9A62-F11511B47BB8}"/>
              </a:ext>
            </a:extLst>
          </p:cNvPr>
          <p:cNvCxnSpPr>
            <a:cxnSpLocks/>
            <a:stCxn id="32" idx="3"/>
          </p:cNvCxnSpPr>
          <p:nvPr/>
        </p:nvCxnSpPr>
        <p:spPr>
          <a:xfrm flipH="1">
            <a:off x="1684867" y="3487059"/>
            <a:ext cx="7907867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2B42E5B-767A-203A-F30F-E86F0BF3C39D}"/>
              </a:ext>
            </a:extLst>
          </p:cNvPr>
          <p:cNvGrpSpPr/>
          <p:nvPr/>
        </p:nvGrpSpPr>
        <p:grpSpPr>
          <a:xfrm>
            <a:off x="1325033" y="1515533"/>
            <a:ext cx="2015067" cy="3952727"/>
            <a:chOff x="1987550" y="2273299"/>
            <a:chExt cx="3022600" cy="592909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9B61F2D-EB90-B3E3-4660-B7A4E7D9A2AD}"/>
                </a:ext>
              </a:extLst>
            </p:cNvPr>
            <p:cNvCxnSpPr>
              <a:cxnSpLocks/>
            </p:cNvCxnSpPr>
            <p:nvPr/>
          </p:nvCxnSpPr>
          <p:spPr>
            <a:xfrm>
              <a:off x="3619500" y="2819400"/>
              <a:ext cx="1390650" cy="2413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5232885-E99D-D176-4B6F-D0A3D5D65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3150" y="5228778"/>
              <a:ext cx="1390650" cy="2413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2ADCA15-30FA-B257-B8EE-98A168DBA78F}"/>
                </a:ext>
              </a:extLst>
            </p:cNvPr>
            <p:cNvCxnSpPr>
              <a:cxnSpLocks/>
            </p:cNvCxnSpPr>
            <p:nvPr/>
          </p:nvCxnSpPr>
          <p:spPr>
            <a:xfrm>
              <a:off x="2552700" y="34036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AD3831-7A2E-75F1-19C0-61D2D309010F}"/>
                </a:ext>
              </a:extLst>
            </p:cNvPr>
            <p:cNvCxnSpPr>
              <a:cxnSpLocks/>
            </p:cNvCxnSpPr>
            <p:nvPr/>
          </p:nvCxnSpPr>
          <p:spPr>
            <a:xfrm>
              <a:off x="2921000" y="40386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3928A6C-BF3F-9FC5-9672-DC9A83D01B91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46863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27E658A-F906-9F95-9762-8366F24C7F03}"/>
                </a:ext>
              </a:extLst>
            </p:cNvPr>
            <p:cNvCxnSpPr>
              <a:cxnSpLocks/>
            </p:cNvCxnSpPr>
            <p:nvPr/>
          </p:nvCxnSpPr>
          <p:spPr>
            <a:xfrm>
              <a:off x="2587625" y="70485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7942FF-CB6D-AC61-5534-C055BFEC479E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57658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37F2387-1D1E-B2DF-BA3A-8A87087BF88D}"/>
                </a:ext>
              </a:extLst>
            </p:cNvPr>
            <p:cNvCxnSpPr>
              <a:cxnSpLocks/>
            </p:cNvCxnSpPr>
            <p:nvPr/>
          </p:nvCxnSpPr>
          <p:spPr>
            <a:xfrm>
              <a:off x="2917825" y="64389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0E99E39-9B22-7641-8784-C4365C11CFAD}"/>
                </a:ext>
              </a:extLst>
            </p:cNvPr>
            <p:cNvSpPr/>
            <p:nvPr/>
          </p:nvSpPr>
          <p:spPr>
            <a:xfrm>
              <a:off x="1987550" y="2273299"/>
              <a:ext cx="1781175" cy="558801"/>
            </a:xfrm>
            <a:prstGeom prst="rect">
              <a:avLst/>
            </a:prstGeom>
            <a:solidFill>
              <a:srgbClr val="E6D5CA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38DADE5-786A-E9E7-78C1-FEAC93007C36}"/>
                </a:ext>
              </a:extLst>
            </p:cNvPr>
            <p:cNvSpPr/>
            <p:nvPr/>
          </p:nvSpPr>
          <p:spPr>
            <a:xfrm>
              <a:off x="1987550" y="7643588"/>
              <a:ext cx="1781175" cy="558801"/>
            </a:xfrm>
            <a:prstGeom prst="rect">
              <a:avLst/>
            </a:prstGeom>
            <a:solidFill>
              <a:srgbClr val="E6D5CA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1B9A706-ADFC-E01B-E607-E3C94770FF8A}"/>
              </a:ext>
            </a:extLst>
          </p:cNvPr>
          <p:cNvGrpSpPr/>
          <p:nvPr/>
        </p:nvGrpSpPr>
        <p:grpSpPr>
          <a:xfrm>
            <a:off x="4080933" y="1515533"/>
            <a:ext cx="2015067" cy="3952727"/>
            <a:chOff x="1987550" y="2273299"/>
            <a:chExt cx="3022600" cy="5929090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A2AD567-46D2-36C3-A3B9-E2EDCC7907EC}"/>
                </a:ext>
              </a:extLst>
            </p:cNvPr>
            <p:cNvCxnSpPr>
              <a:cxnSpLocks/>
            </p:cNvCxnSpPr>
            <p:nvPr/>
          </p:nvCxnSpPr>
          <p:spPr>
            <a:xfrm>
              <a:off x="3619500" y="2819400"/>
              <a:ext cx="1390650" cy="2413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4F0E3C0-22B9-5B62-25B9-55CF00222E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3150" y="5228778"/>
              <a:ext cx="1390650" cy="2413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270B43-975C-643A-B2BF-DB654A8ABC4F}"/>
                </a:ext>
              </a:extLst>
            </p:cNvPr>
            <p:cNvCxnSpPr>
              <a:cxnSpLocks/>
            </p:cNvCxnSpPr>
            <p:nvPr/>
          </p:nvCxnSpPr>
          <p:spPr>
            <a:xfrm>
              <a:off x="2552700" y="34036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500A04F-BC58-2D4A-2B6B-1CA56EB48C9A}"/>
                </a:ext>
              </a:extLst>
            </p:cNvPr>
            <p:cNvCxnSpPr>
              <a:cxnSpLocks/>
            </p:cNvCxnSpPr>
            <p:nvPr/>
          </p:nvCxnSpPr>
          <p:spPr>
            <a:xfrm>
              <a:off x="2921000" y="40386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ED46AFB-B18C-54BD-114E-BFD02C29B465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46863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6777CF9-267A-D4DD-10C4-0BC516F0532F}"/>
                </a:ext>
              </a:extLst>
            </p:cNvPr>
            <p:cNvCxnSpPr>
              <a:cxnSpLocks/>
            </p:cNvCxnSpPr>
            <p:nvPr/>
          </p:nvCxnSpPr>
          <p:spPr>
            <a:xfrm>
              <a:off x="2587625" y="70485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796F664-5F1F-D571-F5C9-905BDBBABEB4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57658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6C9EBA8-71DD-35F3-817D-ABFB7EDC879C}"/>
                </a:ext>
              </a:extLst>
            </p:cNvPr>
            <p:cNvCxnSpPr>
              <a:cxnSpLocks/>
            </p:cNvCxnSpPr>
            <p:nvPr/>
          </p:nvCxnSpPr>
          <p:spPr>
            <a:xfrm>
              <a:off x="2917825" y="64389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9795918-D254-2537-11F4-43678CF55E09}"/>
                </a:ext>
              </a:extLst>
            </p:cNvPr>
            <p:cNvSpPr/>
            <p:nvPr/>
          </p:nvSpPr>
          <p:spPr>
            <a:xfrm>
              <a:off x="1987550" y="2273299"/>
              <a:ext cx="1781175" cy="558801"/>
            </a:xfrm>
            <a:prstGeom prst="rect">
              <a:avLst/>
            </a:prstGeom>
            <a:solidFill>
              <a:srgbClr val="E6D5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C9FD63C-C26D-8E43-C2D4-211C726F43D3}"/>
                </a:ext>
              </a:extLst>
            </p:cNvPr>
            <p:cNvSpPr/>
            <p:nvPr/>
          </p:nvSpPr>
          <p:spPr>
            <a:xfrm>
              <a:off x="1987550" y="7643588"/>
              <a:ext cx="1781175" cy="558801"/>
            </a:xfrm>
            <a:prstGeom prst="rect">
              <a:avLst/>
            </a:prstGeom>
            <a:solidFill>
              <a:srgbClr val="E6D5CA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DA2FCF1-A89F-69B4-72D9-1B3430DA8310}"/>
              </a:ext>
            </a:extLst>
          </p:cNvPr>
          <p:cNvGrpSpPr/>
          <p:nvPr/>
        </p:nvGrpSpPr>
        <p:grpSpPr>
          <a:xfrm>
            <a:off x="6836833" y="1515533"/>
            <a:ext cx="2015067" cy="3952727"/>
            <a:chOff x="1987550" y="2273299"/>
            <a:chExt cx="3022600" cy="592909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47F9438-C2EB-C199-E666-76EB38498B19}"/>
                </a:ext>
              </a:extLst>
            </p:cNvPr>
            <p:cNvCxnSpPr>
              <a:cxnSpLocks/>
            </p:cNvCxnSpPr>
            <p:nvPr/>
          </p:nvCxnSpPr>
          <p:spPr>
            <a:xfrm>
              <a:off x="3619500" y="2819400"/>
              <a:ext cx="1390650" cy="2413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6D1AEF0-8B11-86B3-B889-01E1CCF11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3150" y="5228778"/>
              <a:ext cx="1390650" cy="2413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872BEA9-56B5-5B23-ABCA-40589AFD94B7}"/>
                </a:ext>
              </a:extLst>
            </p:cNvPr>
            <p:cNvCxnSpPr>
              <a:cxnSpLocks/>
            </p:cNvCxnSpPr>
            <p:nvPr/>
          </p:nvCxnSpPr>
          <p:spPr>
            <a:xfrm>
              <a:off x="2552700" y="34036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6CCB401-96BF-9BC3-438A-E20CAD922771}"/>
                </a:ext>
              </a:extLst>
            </p:cNvPr>
            <p:cNvCxnSpPr>
              <a:cxnSpLocks/>
            </p:cNvCxnSpPr>
            <p:nvPr/>
          </p:nvCxnSpPr>
          <p:spPr>
            <a:xfrm>
              <a:off x="2921000" y="40386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7BE6F8C-9D2A-D33D-0796-3554180C50B5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46863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943B97A-5961-FFB3-3A71-7DC0EDE7F2CA}"/>
                </a:ext>
              </a:extLst>
            </p:cNvPr>
            <p:cNvCxnSpPr>
              <a:cxnSpLocks/>
            </p:cNvCxnSpPr>
            <p:nvPr/>
          </p:nvCxnSpPr>
          <p:spPr>
            <a:xfrm>
              <a:off x="2587625" y="70485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A8F2DBD-D0F8-9031-D6AD-89697A69748A}"/>
                </a:ext>
              </a:extLst>
            </p:cNvPr>
            <p:cNvCxnSpPr>
              <a:cxnSpLocks/>
            </p:cNvCxnSpPr>
            <p:nvPr/>
          </p:nvCxnSpPr>
          <p:spPr>
            <a:xfrm>
              <a:off x="3314700" y="57658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8FE13F6-60E2-2C4B-E908-570B8A104968}"/>
                </a:ext>
              </a:extLst>
            </p:cNvPr>
            <p:cNvCxnSpPr>
              <a:cxnSpLocks/>
            </p:cNvCxnSpPr>
            <p:nvPr/>
          </p:nvCxnSpPr>
          <p:spPr>
            <a:xfrm>
              <a:off x="2917825" y="6438900"/>
              <a:ext cx="139065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7D423CB-7236-9FB0-1E0A-8F90AF9BDBC4}"/>
                </a:ext>
              </a:extLst>
            </p:cNvPr>
            <p:cNvSpPr/>
            <p:nvPr/>
          </p:nvSpPr>
          <p:spPr>
            <a:xfrm>
              <a:off x="1987550" y="2273299"/>
              <a:ext cx="1781175" cy="558801"/>
            </a:xfrm>
            <a:prstGeom prst="rect">
              <a:avLst/>
            </a:prstGeom>
            <a:solidFill>
              <a:srgbClr val="E6D5CA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8E2596D-A431-04AA-30F4-73EA5FC4DDC9}"/>
                </a:ext>
              </a:extLst>
            </p:cNvPr>
            <p:cNvSpPr/>
            <p:nvPr/>
          </p:nvSpPr>
          <p:spPr>
            <a:xfrm>
              <a:off x="1987550" y="7643588"/>
              <a:ext cx="1781175" cy="558801"/>
            </a:xfrm>
            <a:prstGeom prst="rect">
              <a:avLst/>
            </a:prstGeom>
            <a:solidFill>
              <a:srgbClr val="E6D5CA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163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E24A-7E3C-03FA-1E14-9286596C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ardrop 32">
            <a:extLst>
              <a:ext uri="{FF2B5EF4-FFF2-40B4-BE49-F238E27FC236}">
                <a16:creationId xmlns:a16="http://schemas.microsoft.com/office/drawing/2014/main" id="{AC2ADAE2-BB32-F81F-E7E0-D5E97DC3E4E3}"/>
              </a:ext>
            </a:extLst>
          </p:cNvPr>
          <p:cNvSpPr/>
          <p:nvPr/>
        </p:nvSpPr>
        <p:spPr>
          <a:xfrm rot="8019655">
            <a:off x="9466994" y="1250067"/>
            <a:ext cx="939800" cy="945291"/>
          </a:xfrm>
          <a:prstGeom prst="teardrop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Teardrop 33">
            <a:extLst>
              <a:ext uri="{FF2B5EF4-FFF2-40B4-BE49-F238E27FC236}">
                <a16:creationId xmlns:a16="http://schemas.microsoft.com/office/drawing/2014/main" id="{37D2A362-46E7-38C9-9889-D4F814307D19}"/>
              </a:ext>
            </a:extLst>
          </p:cNvPr>
          <p:cNvSpPr/>
          <p:nvPr/>
        </p:nvSpPr>
        <p:spPr>
          <a:xfrm rot="8019655">
            <a:off x="7345241" y="1268672"/>
            <a:ext cx="939800" cy="945291"/>
          </a:xfrm>
          <a:prstGeom prst="teardrop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Teardrop 34">
            <a:extLst>
              <a:ext uri="{FF2B5EF4-FFF2-40B4-BE49-F238E27FC236}">
                <a16:creationId xmlns:a16="http://schemas.microsoft.com/office/drawing/2014/main" id="{70CABEB8-12BF-438F-2C83-16EC7239945C}"/>
              </a:ext>
            </a:extLst>
          </p:cNvPr>
          <p:cNvSpPr/>
          <p:nvPr/>
        </p:nvSpPr>
        <p:spPr>
          <a:xfrm rot="8019655">
            <a:off x="5240206" y="1268672"/>
            <a:ext cx="939800" cy="945291"/>
          </a:xfrm>
          <a:prstGeom prst="teardrop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Teardrop 35">
            <a:extLst>
              <a:ext uri="{FF2B5EF4-FFF2-40B4-BE49-F238E27FC236}">
                <a16:creationId xmlns:a16="http://schemas.microsoft.com/office/drawing/2014/main" id="{77B0C835-B982-84FF-05F9-6D207CB4E51F}"/>
              </a:ext>
            </a:extLst>
          </p:cNvPr>
          <p:cNvSpPr/>
          <p:nvPr/>
        </p:nvSpPr>
        <p:spPr>
          <a:xfrm rot="8019655">
            <a:off x="3240617" y="1268671"/>
            <a:ext cx="939800" cy="945291"/>
          </a:xfrm>
          <a:prstGeom prst="teardrop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Teardrop 31">
            <a:extLst>
              <a:ext uri="{FF2B5EF4-FFF2-40B4-BE49-F238E27FC236}">
                <a16:creationId xmlns:a16="http://schemas.microsoft.com/office/drawing/2014/main" id="{7DD0AB2B-DF29-37C4-5A1F-7A2DF0B9276C}"/>
              </a:ext>
            </a:extLst>
          </p:cNvPr>
          <p:cNvSpPr/>
          <p:nvPr/>
        </p:nvSpPr>
        <p:spPr>
          <a:xfrm rot="8019655">
            <a:off x="1122493" y="1268671"/>
            <a:ext cx="939800" cy="945291"/>
          </a:xfrm>
          <a:prstGeom prst="teardrop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E5733-EFEA-796F-3E30-88F919F88D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6525" y="486897"/>
            <a:ext cx="9855199" cy="434502"/>
          </a:xfrm>
        </p:spPr>
        <p:txBody>
          <a:bodyPr>
            <a:normAutofit/>
          </a:bodyPr>
          <a:lstStyle/>
          <a:p>
            <a:r>
              <a:rPr lang="en-US"/>
              <a:t>SMART target </a:t>
            </a:r>
            <a:endParaRPr lang="en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4579C-17DB-6072-3F9A-F1DE73C02E81}"/>
              </a:ext>
            </a:extLst>
          </p:cNvPr>
          <p:cNvSpPr/>
          <p:nvPr/>
        </p:nvSpPr>
        <p:spPr>
          <a:xfrm>
            <a:off x="698500" y="2769123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358181-22DD-CE0E-156B-0DAE64E9634E}"/>
              </a:ext>
            </a:extLst>
          </p:cNvPr>
          <p:cNvSpPr/>
          <p:nvPr/>
        </p:nvSpPr>
        <p:spPr>
          <a:xfrm>
            <a:off x="698500" y="2481252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D1F0094-8188-776B-CD7B-31845AD4EE30}"/>
              </a:ext>
            </a:extLst>
          </p:cNvPr>
          <p:cNvSpPr txBox="1">
            <a:spLocks/>
          </p:cNvSpPr>
          <p:nvPr/>
        </p:nvSpPr>
        <p:spPr>
          <a:xfrm>
            <a:off x="1182361" y="2479784"/>
            <a:ext cx="2032000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Specific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52098D-CB45-AC1A-F3B7-6317AE27BDD0}"/>
              </a:ext>
            </a:extLst>
          </p:cNvPr>
          <p:cNvSpPr/>
          <p:nvPr/>
        </p:nvSpPr>
        <p:spPr>
          <a:xfrm>
            <a:off x="8994978" y="2460922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4DC85E-8408-4896-9305-8D1DF24ED456}"/>
              </a:ext>
            </a:extLst>
          </p:cNvPr>
          <p:cNvSpPr/>
          <p:nvPr/>
        </p:nvSpPr>
        <p:spPr>
          <a:xfrm>
            <a:off x="6918978" y="2469388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C4B45A-7407-785B-3B7B-E55C811B10B7}"/>
              </a:ext>
            </a:extLst>
          </p:cNvPr>
          <p:cNvSpPr/>
          <p:nvPr/>
        </p:nvSpPr>
        <p:spPr>
          <a:xfrm>
            <a:off x="4843789" y="2471959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69ABF7-743E-A3FA-7D22-0EEA7CC0C034}"/>
              </a:ext>
            </a:extLst>
          </p:cNvPr>
          <p:cNvSpPr/>
          <p:nvPr/>
        </p:nvSpPr>
        <p:spPr>
          <a:xfrm>
            <a:off x="2768600" y="2471959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EBFFA8-1657-52C1-3ED8-FACABB2D4128}"/>
              </a:ext>
            </a:extLst>
          </p:cNvPr>
          <p:cNvSpPr txBox="1">
            <a:spLocks/>
          </p:cNvSpPr>
          <p:nvPr/>
        </p:nvSpPr>
        <p:spPr>
          <a:xfrm>
            <a:off x="3197428" y="2496717"/>
            <a:ext cx="1139220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Measurable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0816A9D-B5FB-F7AE-3FA9-177C042F87A0}"/>
              </a:ext>
            </a:extLst>
          </p:cNvPr>
          <p:cNvSpPr txBox="1">
            <a:spLocks/>
          </p:cNvSpPr>
          <p:nvPr/>
        </p:nvSpPr>
        <p:spPr>
          <a:xfrm>
            <a:off x="9383184" y="2488251"/>
            <a:ext cx="1276545" cy="43257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Time-based 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88788AA-4EF9-6B68-936E-A5C36628E1BC}"/>
              </a:ext>
            </a:extLst>
          </p:cNvPr>
          <p:cNvSpPr txBox="1">
            <a:spLocks/>
          </p:cNvSpPr>
          <p:nvPr/>
        </p:nvSpPr>
        <p:spPr>
          <a:xfrm>
            <a:off x="5229027" y="2494788"/>
            <a:ext cx="1155891" cy="298670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467">
                <a:solidFill>
                  <a:prstClr val="black"/>
                </a:solidFill>
              </a:rPr>
              <a:t>Achievable</a:t>
            </a:r>
            <a:endParaRPr lang="en-BE" sz="1467">
              <a:solidFill>
                <a:prstClr val="black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EDD8209-6422-2034-9A2B-218EC081EA71}"/>
              </a:ext>
            </a:extLst>
          </p:cNvPr>
          <p:cNvSpPr txBox="1">
            <a:spLocks/>
          </p:cNvSpPr>
          <p:nvPr/>
        </p:nvSpPr>
        <p:spPr>
          <a:xfrm>
            <a:off x="7470170" y="2477854"/>
            <a:ext cx="1062567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Relevant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EEAE1-951D-2054-AEBB-BF70C465E41E}"/>
              </a:ext>
            </a:extLst>
          </p:cNvPr>
          <p:cNvSpPr/>
          <p:nvPr/>
        </p:nvSpPr>
        <p:spPr>
          <a:xfrm>
            <a:off x="8997544" y="2750572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893C60-224F-D2CF-8FAC-BFE17C755603}"/>
              </a:ext>
            </a:extLst>
          </p:cNvPr>
          <p:cNvSpPr/>
          <p:nvPr/>
        </p:nvSpPr>
        <p:spPr>
          <a:xfrm>
            <a:off x="6918978" y="2760656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7FCF2A-F21D-46C0-59EA-DBFA99480AB5}"/>
              </a:ext>
            </a:extLst>
          </p:cNvPr>
          <p:cNvSpPr/>
          <p:nvPr/>
        </p:nvSpPr>
        <p:spPr>
          <a:xfrm>
            <a:off x="4843789" y="2760656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E329D4-FB69-9DF1-52B7-1F243D733C84}"/>
              </a:ext>
            </a:extLst>
          </p:cNvPr>
          <p:cNvSpPr/>
          <p:nvPr/>
        </p:nvSpPr>
        <p:spPr>
          <a:xfrm>
            <a:off x="2768600" y="2759038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139FB50-2C5C-6140-7B3C-538737438013}"/>
              </a:ext>
            </a:extLst>
          </p:cNvPr>
          <p:cNvSpPr txBox="1">
            <a:spLocks/>
          </p:cNvSpPr>
          <p:nvPr/>
        </p:nvSpPr>
        <p:spPr>
          <a:xfrm>
            <a:off x="1423043" y="1525627"/>
            <a:ext cx="597677" cy="592604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3200">
                <a:solidFill>
                  <a:prstClr val="black"/>
                </a:solidFill>
              </a:rPr>
              <a:t>S</a:t>
            </a:r>
            <a:endParaRPr lang="en-BE" sz="3200">
              <a:solidFill>
                <a:prstClr val="black"/>
              </a:solidFill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8EC45F2-2B20-FE7E-AF76-6D0976F661CB}"/>
              </a:ext>
            </a:extLst>
          </p:cNvPr>
          <p:cNvSpPr txBox="1">
            <a:spLocks/>
          </p:cNvSpPr>
          <p:nvPr/>
        </p:nvSpPr>
        <p:spPr>
          <a:xfrm>
            <a:off x="3460029" y="1538204"/>
            <a:ext cx="597677" cy="592604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3200">
                <a:solidFill>
                  <a:prstClr val="black"/>
                </a:solidFill>
              </a:rPr>
              <a:t>M</a:t>
            </a:r>
            <a:endParaRPr lang="en-BE" sz="3200">
              <a:solidFill>
                <a:prstClr val="black"/>
              </a:solidFill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A75A6A9-399B-32D1-E512-4AD42846E4CE}"/>
              </a:ext>
            </a:extLst>
          </p:cNvPr>
          <p:cNvSpPr txBox="1">
            <a:spLocks/>
          </p:cNvSpPr>
          <p:nvPr/>
        </p:nvSpPr>
        <p:spPr>
          <a:xfrm>
            <a:off x="7637406" y="1560015"/>
            <a:ext cx="597677" cy="592604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3200">
                <a:solidFill>
                  <a:prstClr val="black"/>
                </a:solidFill>
              </a:rPr>
              <a:t>R</a:t>
            </a:r>
            <a:endParaRPr lang="en-BE" sz="3200">
              <a:solidFill>
                <a:prstClr val="black"/>
              </a:solidFill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FFCB8DA-9E0D-E53D-9C10-F90D0CCC9B42}"/>
              </a:ext>
            </a:extLst>
          </p:cNvPr>
          <p:cNvSpPr txBox="1">
            <a:spLocks/>
          </p:cNvSpPr>
          <p:nvPr/>
        </p:nvSpPr>
        <p:spPr>
          <a:xfrm>
            <a:off x="9795967" y="1596085"/>
            <a:ext cx="597677" cy="592604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3200">
                <a:solidFill>
                  <a:prstClr val="black"/>
                </a:solidFill>
              </a:rPr>
              <a:t>T</a:t>
            </a:r>
            <a:endParaRPr lang="en-BE" sz="3200">
              <a:solidFill>
                <a:prstClr val="black"/>
              </a:solidFill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7BE556-C0AB-E83B-750D-7A2A268D7ABD}"/>
              </a:ext>
            </a:extLst>
          </p:cNvPr>
          <p:cNvSpPr txBox="1">
            <a:spLocks/>
          </p:cNvSpPr>
          <p:nvPr/>
        </p:nvSpPr>
        <p:spPr>
          <a:xfrm>
            <a:off x="5536018" y="1538204"/>
            <a:ext cx="597677" cy="592604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3200">
                <a:solidFill>
                  <a:prstClr val="black"/>
                </a:solidFill>
              </a:rPr>
              <a:t>A</a:t>
            </a:r>
            <a:endParaRPr lang="en-BE" sz="3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110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F77C-BB4D-5791-7E9C-F5628EFB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8636E3-FEEF-DFAE-7F7F-845389F2F197}"/>
              </a:ext>
            </a:extLst>
          </p:cNvPr>
          <p:cNvSpPr txBox="1">
            <a:spLocks/>
          </p:cNvSpPr>
          <p:nvPr/>
        </p:nvSpPr>
        <p:spPr>
          <a:xfrm>
            <a:off x="658430" y="2682875"/>
            <a:ext cx="9295652" cy="57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60963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1333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45722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tx1">
                    <a:lumMod val="50000"/>
                  </a:schemeClr>
                </a:solidFill>
                <a:latin typeface="Alata"/>
              </a:rPr>
              <a:t>Business Case Overview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5244F6B-F133-56A3-5743-808F41C480E2}"/>
              </a:ext>
            </a:extLst>
          </p:cNvPr>
          <p:cNvSpPr txBox="1"/>
          <p:nvPr/>
        </p:nvSpPr>
        <p:spPr>
          <a:xfrm>
            <a:off x="972312" y="3253214"/>
            <a:ext cx="7181088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lata"/>
                <a:ea typeface="Ebrima"/>
                <a:cs typeface="Ebrima"/>
              </a:rPr>
              <a:t>NutrYwell</a:t>
            </a:r>
            <a:endParaRPr lang="en-US" sz="2400" b="1" dirty="0">
              <a:solidFill>
                <a:schemeClr val="tx1">
                  <a:lumMod val="50000"/>
                </a:schemeClr>
              </a:solidFill>
              <a:latin typeface="Alata"/>
              <a:ea typeface="Ebrima"/>
              <a:cs typeface="Ebrim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1784B1-C6D5-AF3B-0D6B-0A32DB13D5B5}"/>
              </a:ext>
            </a:extLst>
          </p:cNvPr>
          <p:cNvSpPr/>
          <p:nvPr/>
        </p:nvSpPr>
        <p:spPr>
          <a:xfrm>
            <a:off x="-5080" y="2451849"/>
            <a:ext cx="569401" cy="1941664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89553482-E23C-B1CB-2C00-0368986BD9AC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800" dirty="0">
                <a:solidFill>
                  <a:srgbClr val="0F1726"/>
                </a:solidFill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800" dirty="0">
              <a:solidFill>
                <a:srgbClr val="0F1726"/>
              </a:solidFill>
              <a:latin typeface="Alata" panose="020B0604020202020204"/>
              <a:ea typeface="Ebrima"/>
              <a:cs typeface="Ebrima"/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700F20FA-0482-45D3-9827-A6DEBF2499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2" t="19616" r="12633" b="34141"/>
          <a:stretch>
            <a:fillRect/>
          </a:stretch>
        </p:blipFill>
        <p:spPr bwMode="auto">
          <a:xfrm>
            <a:off x="8845496" y="95215"/>
            <a:ext cx="3136864" cy="189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986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8ECB-BEF7-5B04-8E7F-CF16B2C42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3B47B2E-4474-AE46-839C-FE50562BCC1B}"/>
              </a:ext>
            </a:extLst>
          </p:cNvPr>
          <p:cNvSpPr/>
          <p:nvPr/>
        </p:nvSpPr>
        <p:spPr>
          <a:xfrm>
            <a:off x="7474334" y="1093368"/>
            <a:ext cx="4286717" cy="5254156"/>
          </a:xfrm>
          <a:prstGeom prst="round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0" b="1" dirty="0">
              <a:solidFill>
                <a:schemeClr val="tx1"/>
              </a:solidFill>
              <a:latin typeface="Alata" panose="020B0604020202020204"/>
            </a:endParaRPr>
          </a:p>
          <a:p>
            <a:pPr algn="ctr"/>
            <a:endParaRPr lang="en-US" sz="1900" b="1" dirty="0">
              <a:solidFill>
                <a:schemeClr val="tx1"/>
              </a:solidFill>
              <a:latin typeface="Alata" panose="020B0604020202020204"/>
            </a:endParaRPr>
          </a:p>
          <a:p>
            <a:pPr algn="ctr"/>
            <a:r>
              <a:rPr lang="en-US" sz="1900" b="1" dirty="0">
                <a:solidFill>
                  <a:schemeClr val="tx1"/>
                </a:solidFill>
                <a:latin typeface="Alata" panose="020B0604020202020204"/>
              </a:rPr>
              <a:t>Objective</a:t>
            </a:r>
          </a:p>
          <a:p>
            <a:pPr algn="ctr"/>
            <a:endParaRPr lang="en-US" sz="1900" b="1" dirty="0">
              <a:solidFill>
                <a:schemeClr val="tx1"/>
              </a:solidFill>
              <a:latin typeface="Alata" panose="020B0604020202020204"/>
            </a:endParaRPr>
          </a:p>
          <a:p>
            <a:r>
              <a:rPr lang="en-US" dirty="0">
                <a:solidFill>
                  <a:schemeClr val="tx1"/>
                </a:solidFill>
                <a:latin typeface="Alata" panose="020B0604020202020204"/>
              </a:rPr>
              <a:t>Students are expected to:</a:t>
            </a:r>
          </a:p>
          <a:p>
            <a:endParaRPr lang="en-US" dirty="0">
              <a:solidFill>
                <a:schemeClr val="tx1"/>
              </a:solidFill>
              <a:latin typeface="Alata" panose="020B0604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lata" panose="020B0604020202020204"/>
              </a:rPr>
              <a:t>Diagnose current OTD performance gaps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Alata" panose="020B0604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lata" panose="020B0604020202020204"/>
              </a:rPr>
              <a:t>Identify structural root causes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Alata" panose="020B0604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lata" panose="020B0604020202020204"/>
              </a:rPr>
              <a:t>Assess alignment between growth ambition supply chain capacity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Alata" panose="020B0604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lata" panose="020B0604020202020204"/>
              </a:rPr>
              <a:t>Propose and prioritize short-term and mid-term supply chain levers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Alata" panose="020B0604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lata" panose="020B0604020202020204"/>
              </a:rPr>
              <a:t>Design a roadmap supporting sustainable growth</a:t>
            </a:r>
          </a:p>
          <a:p>
            <a:br>
              <a:rPr lang="en-GB" dirty="0">
                <a:highlight>
                  <a:srgbClr val="FFFF00"/>
                </a:highlight>
                <a:latin typeface="Alata" panose="020B0604020202020204"/>
              </a:rPr>
            </a:br>
            <a:endParaRPr lang="fr-BE" dirty="0"/>
          </a:p>
        </p:txBody>
      </p:sp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4C2EA6F1-9422-E5AB-33F7-6EB65719DFC4}"/>
              </a:ext>
            </a:extLst>
          </p:cNvPr>
          <p:cNvSpPr txBox="1">
            <a:spLocks/>
          </p:cNvSpPr>
          <p:nvPr/>
        </p:nvSpPr>
        <p:spPr>
          <a:xfrm>
            <a:off x="451072" y="6550560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800" dirty="0">
                <a:solidFill>
                  <a:srgbClr val="0F1726"/>
                </a:solidFill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800" dirty="0">
              <a:solidFill>
                <a:srgbClr val="0F1726"/>
              </a:solidFill>
              <a:latin typeface="Alata" panose="020B0604020202020204"/>
              <a:ea typeface="Ebrima"/>
              <a:cs typeface="Ebrima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8D3F1AE-BD0F-29D9-2A14-1D35CC144C58}"/>
              </a:ext>
            </a:extLst>
          </p:cNvPr>
          <p:cNvSpPr txBox="1">
            <a:spLocks/>
          </p:cNvSpPr>
          <p:nvPr/>
        </p:nvSpPr>
        <p:spPr>
          <a:xfrm>
            <a:off x="451072" y="264931"/>
            <a:ext cx="11079163" cy="777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lata" panose="020B0604020202020204"/>
              </a:rPr>
              <a:t>NutrYWell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lata" panose="020B0604020202020204"/>
              </a:rPr>
              <a:t> Laboratories</a:t>
            </a:r>
            <a:endParaRPr lang="fr-FR" dirty="0">
              <a:solidFill>
                <a:schemeClr val="tx1">
                  <a:lumMod val="50000"/>
                </a:schemeClr>
              </a:solidFill>
              <a:latin typeface="Alata" panose="020B0604020202020204"/>
              <a:ea typeface="Ebrima"/>
              <a:cs typeface="Ebrim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ED33C4-D251-FDF3-46FB-D5DE1ADA0E94}"/>
              </a:ext>
            </a:extLst>
          </p:cNvPr>
          <p:cNvSpPr/>
          <p:nvPr/>
        </p:nvSpPr>
        <p:spPr>
          <a:xfrm>
            <a:off x="-5080" y="259121"/>
            <a:ext cx="310029" cy="993120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CC2D5EDC-6CB8-85A1-3964-BC6E23E8D046}"/>
              </a:ext>
            </a:extLst>
          </p:cNvPr>
          <p:cNvSpPr txBox="1"/>
          <p:nvPr/>
        </p:nvSpPr>
        <p:spPr>
          <a:xfrm>
            <a:off x="1357046" y="989328"/>
            <a:ext cx="5702515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eaLnBrk="0" fontAlgn="base" hangingPunct="0"/>
            <a:r>
              <a:rPr lang="en-GB" sz="1900" b="1" noProof="0" dirty="0">
                <a:latin typeface="Alata" panose="020B0604020202020204"/>
              </a:rPr>
              <a:t>Context</a:t>
            </a:r>
          </a:p>
          <a:p>
            <a:r>
              <a:rPr lang="en-US" dirty="0">
                <a:latin typeface="Alata" panose="020B0604020202020204"/>
              </a:rPr>
              <a:t>Rapid growth following the acquisition of a sports nutrition activity has increased portfolio complexity and pressure on NutrYWell’s Order-to-Delivery (OTD)performance.</a:t>
            </a:r>
          </a:p>
          <a:p>
            <a:endParaRPr lang="en-US" b="1" dirty="0">
              <a:latin typeface="Alata" panose="020B0604020202020204"/>
            </a:endParaRPr>
          </a:p>
          <a:p>
            <a:pPr lvl="1"/>
            <a:r>
              <a:rPr lang="en-US" sz="1900" b="1" dirty="0">
                <a:latin typeface="Alata" panose="020B0604020202020204"/>
              </a:rPr>
              <a:t>Current State</a:t>
            </a:r>
          </a:p>
          <a:p>
            <a:r>
              <a:rPr lang="en-US" dirty="0">
                <a:latin typeface="Alata" panose="020B0604020202020204"/>
              </a:rPr>
              <a:t>A temporary </a:t>
            </a:r>
            <a:r>
              <a:rPr lang="fr-FR" dirty="0">
                <a:latin typeface="Alata" panose="020B0604020202020204"/>
              </a:rPr>
              <a:t>Transitional Service Agreement (TSA) </a:t>
            </a:r>
            <a:r>
              <a:rPr lang="en-US" dirty="0">
                <a:latin typeface="Alata" panose="020B0604020202020204"/>
              </a:rPr>
              <a:t>maintains business continuity but creates dual distribution logic, limited visibility, and reactive planning.</a:t>
            </a:r>
          </a:p>
          <a:p>
            <a:endParaRPr lang="en-US" dirty="0">
              <a:latin typeface="Alata" panose="020B0604020202020204"/>
            </a:endParaRPr>
          </a:p>
          <a:p>
            <a:pPr lvl="1"/>
            <a:r>
              <a:rPr lang="en-US" sz="1900" b="1" dirty="0">
                <a:latin typeface="Alata" panose="020B0604020202020204"/>
              </a:rPr>
              <a:t>Key Issue</a:t>
            </a:r>
          </a:p>
          <a:p>
            <a:r>
              <a:rPr lang="fr-FR" dirty="0">
                <a:latin typeface="Alata" panose="020B0604020202020204"/>
              </a:rPr>
              <a:t>On Time In Full (OTIF)  </a:t>
            </a:r>
            <a:r>
              <a:rPr lang="en-US" dirty="0">
                <a:latin typeface="Alata" panose="020B0604020202020204"/>
              </a:rPr>
              <a:t>degradation, and firefighting indicate a fragile, effort-based operating model.</a:t>
            </a:r>
          </a:p>
          <a:p>
            <a:endParaRPr lang="en-US" dirty="0">
              <a:latin typeface="Alata" panose="020B0604020202020204"/>
            </a:endParaRPr>
          </a:p>
          <a:p>
            <a:pPr lvl="1"/>
            <a:r>
              <a:rPr lang="en-US" sz="1900" b="1" dirty="0">
                <a:latin typeface="Alata" panose="020B0604020202020204"/>
              </a:rPr>
              <a:t>Question</a:t>
            </a:r>
          </a:p>
          <a:p>
            <a:pPr fontAlgn="base"/>
            <a:r>
              <a:rPr lang="en-US" dirty="0">
                <a:latin typeface="Alata" panose="020B0604020202020204"/>
              </a:rPr>
              <a:t>How can </a:t>
            </a:r>
            <a:r>
              <a:rPr lang="en-US" dirty="0" err="1">
                <a:latin typeface="Alata" panose="020B0604020202020204"/>
              </a:rPr>
              <a:t>NutrYWell</a:t>
            </a:r>
            <a:r>
              <a:rPr lang="en-US" dirty="0">
                <a:latin typeface="Alata" panose="020B0604020202020204"/>
              </a:rPr>
              <a:t> redesign its OTD model to sustainably support its growth ambitions in a context of increased portfolio complexity and transitional distribution constraints?</a:t>
            </a:r>
          </a:p>
        </p:txBody>
      </p:sp>
      <p:sp>
        <p:nvSpPr>
          <p:cNvPr id="16" name="AutoShape 17" descr="Problem Vector SVG Icon - SVG Repo">
            <a:extLst>
              <a:ext uri="{FF2B5EF4-FFF2-40B4-BE49-F238E27FC236}">
                <a16:creationId xmlns:a16="http://schemas.microsoft.com/office/drawing/2014/main" id="{008D9CAF-534F-3FD5-50A1-20D8D3E90A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pic>
        <p:nvPicPr>
          <p:cNvPr id="9" name="Graphique 8" descr="Mille avec un remplissage uni">
            <a:extLst>
              <a:ext uri="{FF2B5EF4-FFF2-40B4-BE49-F238E27FC236}">
                <a16:creationId xmlns:a16="http://schemas.microsoft.com/office/drawing/2014/main" id="{BBBF5379-D5D1-3DCE-DA6F-75773D1D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70235" y="1089431"/>
            <a:ext cx="720000" cy="720000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84FEEB1F-021A-EBBE-1A33-EF966057E0BF}"/>
              </a:ext>
            </a:extLst>
          </p:cNvPr>
          <p:cNvGrpSpPr/>
          <p:nvPr/>
        </p:nvGrpSpPr>
        <p:grpSpPr>
          <a:xfrm>
            <a:off x="288351" y="1151423"/>
            <a:ext cx="1152000" cy="4886414"/>
            <a:chOff x="6231802" y="1108540"/>
            <a:chExt cx="1152000" cy="4886414"/>
          </a:xfrm>
        </p:grpSpPr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B92E371B-16AB-334F-279E-F14D2E4CCB0E}"/>
                </a:ext>
              </a:extLst>
            </p:cNvPr>
            <p:cNvGrpSpPr/>
            <p:nvPr/>
          </p:nvGrpSpPr>
          <p:grpSpPr>
            <a:xfrm>
              <a:off x="6374400" y="1248512"/>
              <a:ext cx="900001" cy="3466452"/>
              <a:chOff x="420149" y="1470147"/>
              <a:chExt cx="900001" cy="3466452"/>
            </a:xfrm>
          </p:grpSpPr>
          <p:sp>
            <p:nvSpPr>
              <p:cNvPr id="23" name="Oval 39">
                <a:extLst>
                  <a:ext uri="{FF2B5EF4-FFF2-40B4-BE49-F238E27FC236}">
                    <a16:creationId xmlns:a16="http://schemas.microsoft.com/office/drawing/2014/main" id="{C488B704-1366-8210-A4AB-4F7746D8988E}"/>
                  </a:ext>
                </a:extLst>
              </p:cNvPr>
              <p:cNvSpPr/>
              <p:nvPr/>
            </p:nvSpPr>
            <p:spPr>
              <a:xfrm rot="16200000">
                <a:off x="420149" y="1470147"/>
                <a:ext cx="900000" cy="900000"/>
              </a:xfrm>
              <a:prstGeom prst="flowChartConnector">
                <a:avLst/>
              </a:prstGeom>
              <a:solidFill>
                <a:srgbClr val="E6D5CA"/>
              </a:solidFill>
              <a:ln>
                <a:solidFill>
                  <a:srgbClr val="E6D5C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39">
                <a:extLst>
                  <a:ext uri="{FF2B5EF4-FFF2-40B4-BE49-F238E27FC236}">
                    <a16:creationId xmlns:a16="http://schemas.microsoft.com/office/drawing/2014/main" id="{6936E25A-5BC9-1FA4-5133-B085A8B8C3F4}"/>
                  </a:ext>
                </a:extLst>
              </p:cNvPr>
              <p:cNvSpPr/>
              <p:nvPr/>
            </p:nvSpPr>
            <p:spPr>
              <a:xfrm rot="16200000">
                <a:off x="420150" y="2802531"/>
                <a:ext cx="900000" cy="900000"/>
              </a:xfrm>
              <a:prstGeom prst="flowChartConnector">
                <a:avLst/>
              </a:prstGeom>
              <a:solidFill>
                <a:srgbClr val="E6D5CA"/>
              </a:solidFill>
              <a:ln>
                <a:solidFill>
                  <a:srgbClr val="E6D5C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39">
                <a:extLst>
                  <a:ext uri="{FF2B5EF4-FFF2-40B4-BE49-F238E27FC236}">
                    <a16:creationId xmlns:a16="http://schemas.microsoft.com/office/drawing/2014/main" id="{C0C9A78A-9479-70A9-DB64-0BC9B69E3018}"/>
                  </a:ext>
                </a:extLst>
              </p:cNvPr>
              <p:cNvSpPr/>
              <p:nvPr/>
            </p:nvSpPr>
            <p:spPr>
              <a:xfrm rot="16200000">
                <a:off x="420150" y="4036599"/>
                <a:ext cx="900000" cy="900000"/>
              </a:xfrm>
              <a:prstGeom prst="flowChartConnector">
                <a:avLst/>
              </a:prstGeom>
              <a:solidFill>
                <a:srgbClr val="E6D5CA"/>
              </a:solidFill>
              <a:ln>
                <a:solidFill>
                  <a:srgbClr val="E6D5C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7" name="Oval 39">
              <a:extLst>
                <a:ext uri="{FF2B5EF4-FFF2-40B4-BE49-F238E27FC236}">
                  <a16:creationId xmlns:a16="http://schemas.microsoft.com/office/drawing/2014/main" id="{C24D8BCA-5389-FD5C-51C1-DA5BECCD8CE2}"/>
                </a:ext>
              </a:extLst>
            </p:cNvPr>
            <p:cNvSpPr/>
            <p:nvPr/>
          </p:nvSpPr>
          <p:spPr>
            <a:xfrm rot="16200000">
              <a:off x="6374400" y="5049032"/>
              <a:ext cx="900000" cy="900000"/>
            </a:xfrm>
            <a:prstGeom prst="flowChartConnector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11" name="Graphique 10" descr="Vieille clé avec un remplissage uni">
              <a:extLst>
                <a:ext uri="{FF2B5EF4-FFF2-40B4-BE49-F238E27FC236}">
                  <a16:creationId xmlns:a16="http://schemas.microsoft.com/office/drawing/2014/main" id="{450260DE-26AB-7C99-302A-BCD2E1562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605085">
              <a:off x="6551699" y="5410951"/>
              <a:ext cx="584003" cy="584003"/>
            </a:xfrm>
            <a:prstGeom prst="rect">
              <a:avLst/>
            </a:prstGeom>
          </p:spPr>
        </p:pic>
        <p:pic>
          <p:nvPicPr>
            <p:cNvPr id="13" name="Graphique 12" descr="Point d’interrogation avec un remplissage uni">
              <a:extLst>
                <a:ext uri="{FF2B5EF4-FFF2-40B4-BE49-F238E27FC236}">
                  <a16:creationId xmlns:a16="http://schemas.microsoft.com/office/drawing/2014/main" id="{55D57869-FC44-5767-081F-FAC44986A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40274" y="5108703"/>
              <a:ext cx="535056" cy="535056"/>
            </a:xfrm>
            <a:prstGeom prst="rect">
              <a:avLst/>
            </a:prstGeom>
          </p:spPr>
        </p:pic>
        <p:pic>
          <p:nvPicPr>
            <p:cNvPr id="8199" name="Picture 7" descr="Download Free Situation Icons in PNG &amp; SVG">
              <a:extLst>
                <a:ext uri="{FF2B5EF4-FFF2-40B4-BE49-F238E27FC236}">
                  <a16:creationId xmlns:a16="http://schemas.microsoft.com/office/drawing/2014/main" id="{7D841F73-F215-AAE8-8A1E-6B63988189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1128" y="2670895"/>
              <a:ext cx="7200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01" name="Picture 9" descr="Context icon vector image can be used for journalism | Premium Vector">
              <a:extLst>
                <a:ext uri="{FF2B5EF4-FFF2-40B4-BE49-F238E27FC236}">
                  <a16:creationId xmlns:a16="http://schemas.microsoft.com/office/drawing/2014/main" id="{E1F365D7-43C2-3F16-1D23-EDC92F62B3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5272" b="89936" l="9904" r="89936">
                          <a14:foregroundMark x1="37061" y1="63259" x2="37061" y2="63259"/>
                          <a14:foregroundMark x1="35783" y1="44569" x2="35783" y2="44569"/>
                          <a14:foregroundMark x1="56550" y1="60383" x2="56550" y2="60383"/>
                          <a14:foregroundMark x1="63259" y1="66134" x2="63259" y2="66134"/>
                          <a14:foregroundMark x1="68850" y1="68850" x2="68850" y2="68850"/>
                          <a14:foregroundMark x1="30990" y1="38339" x2="30990" y2="38339"/>
                          <a14:foregroundMark x1="38978" y1="23962" x2="38978" y2="23962"/>
                          <a14:backgroundMark x1="16933" y1="13578" x2="16933" y2="13578"/>
                          <a14:backgroundMark x1="29233" y1="6070" x2="29233" y2="6070"/>
                          <a14:backgroundMark x1="32109" y1="4952" x2="34665" y2="4153"/>
                          <a14:backgroundMark x1="28435" y1="4153" x2="15815" y2="13099"/>
                          <a14:backgroundMark x1="15815" y1="13099" x2="8946" y2="269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1802" y="1108540"/>
              <a:ext cx="1152000" cy="11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13" name="Picture 21" descr="Problem Vector SVG Icon - SVG Repo">
              <a:extLst>
                <a:ext uri="{FF2B5EF4-FFF2-40B4-BE49-F238E27FC236}">
                  <a16:creationId xmlns:a16="http://schemas.microsoft.com/office/drawing/2014/main" id="{E7235E51-FDE6-7765-B6B0-92D9734D5F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4000" b="96000" l="1778" r="96000">
                          <a14:foregroundMark x1="31111" y1="24444" x2="31111" y2="24444"/>
                          <a14:foregroundMark x1="21333" y1="8889" x2="21333" y2="8889"/>
                          <a14:foregroundMark x1="73333" y1="9778" x2="73333" y2="9778"/>
                          <a14:foregroundMark x1="74222" y1="52889" x2="74222" y2="52889"/>
                          <a14:foregroundMark x1="74222" y1="46667" x2="69778" y2="37333"/>
                          <a14:foregroundMark x1="30222" y1="85778" x2="26667" y2="52000"/>
                          <a14:foregroundMark x1="66222" y1="90667" x2="65333" y2="38222"/>
                          <a14:foregroundMark x1="73333" y1="10667" x2="66222" y2="10667"/>
                          <a14:foregroundMark x1="72444" y1="8889" x2="71556" y2="4444"/>
                          <a14:foregroundMark x1="78222" y1="96000" x2="78222" y2="91556"/>
                          <a14:foregroundMark x1="20444" y1="32000" x2="20444" y2="32000"/>
                          <a14:foregroundMark x1="5778" y1="20889" x2="1778" y2="18222"/>
                          <a14:foregroundMark x1="96000" y1="18667" x2="96000" y2="18667"/>
                          <a14:foregroundMark x1="96000" y1="20000" x2="96000" y2="20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273" y="3973062"/>
              <a:ext cx="694855" cy="694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9890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725FA-85F6-2F04-AF06-01910442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4C7968-8946-820A-BEC9-35811B1115C5}"/>
              </a:ext>
            </a:extLst>
          </p:cNvPr>
          <p:cNvSpPr txBox="1">
            <a:spLocks/>
          </p:cNvSpPr>
          <p:nvPr/>
        </p:nvSpPr>
        <p:spPr>
          <a:xfrm>
            <a:off x="658430" y="2682875"/>
            <a:ext cx="9295652" cy="57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60963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1333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45722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tx1">
                    <a:lumMod val="50000"/>
                  </a:schemeClr>
                </a:solidFill>
                <a:latin typeface="Alata"/>
              </a:rPr>
              <a:t>Ways Of Working &amp; </a:t>
            </a:r>
            <a:r>
              <a:rPr lang="en-US" sz="3200" b="1" noProof="0" dirty="0">
                <a:solidFill>
                  <a:schemeClr val="tx1">
                    <a:lumMod val="50000"/>
                  </a:schemeClr>
                </a:solidFill>
                <a:latin typeface="Alata"/>
              </a:rPr>
              <a:t>Theoretical Pre-requisite</a:t>
            </a:r>
            <a:endParaRPr lang="en-US" sz="3200" b="1" dirty="0">
              <a:solidFill>
                <a:schemeClr val="tx1">
                  <a:lumMod val="50000"/>
                </a:schemeClr>
              </a:solidFill>
              <a:latin typeface="Alata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8C026DF-E051-3725-5C80-7CCADDA7F535}"/>
              </a:ext>
            </a:extLst>
          </p:cNvPr>
          <p:cNvSpPr txBox="1"/>
          <p:nvPr/>
        </p:nvSpPr>
        <p:spPr>
          <a:xfrm>
            <a:off x="972312" y="3253214"/>
            <a:ext cx="7181088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lata"/>
                <a:ea typeface="Ebrima"/>
                <a:cs typeface="Ebrima"/>
              </a:rPr>
              <a:t>Workshop preparation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9A0C2A-1751-A8B4-3EAB-08A1B68A5127}"/>
              </a:ext>
            </a:extLst>
          </p:cNvPr>
          <p:cNvSpPr/>
          <p:nvPr/>
        </p:nvSpPr>
        <p:spPr>
          <a:xfrm>
            <a:off x="-5080" y="2451849"/>
            <a:ext cx="569401" cy="1941664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26C439A0-733C-A59C-5C9A-E776C978B785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800" dirty="0">
                <a:solidFill>
                  <a:srgbClr val="0F1726"/>
                </a:solidFill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800" dirty="0">
              <a:solidFill>
                <a:srgbClr val="0F1726"/>
              </a:solidFill>
              <a:latin typeface="Alata" panose="020B0604020202020204"/>
              <a:ea typeface="Ebrima"/>
              <a:cs typeface="Ebrima"/>
            </a:endParaRPr>
          </a:p>
        </p:txBody>
      </p:sp>
    </p:spTree>
    <p:extLst>
      <p:ext uri="{BB962C8B-B14F-4D97-AF65-F5344CB8AC3E}">
        <p14:creationId xmlns:p14="http://schemas.microsoft.com/office/powerpoint/2010/main" val="2251563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2B5A9-A765-DEE9-EBA4-706291AA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39">
            <a:extLst>
              <a:ext uri="{FF2B5EF4-FFF2-40B4-BE49-F238E27FC236}">
                <a16:creationId xmlns:a16="http://schemas.microsoft.com/office/drawing/2014/main" id="{3F7AA4CC-01C2-8ABB-C23C-989BA1E74184}"/>
              </a:ext>
            </a:extLst>
          </p:cNvPr>
          <p:cNvSpPr/>
          <p:nvPr/>
        </p:nvSpPr>
        <p:spPr>
          <a:xfrm rot="16200000">
            <a:off x="7969885" y="5801496"/>
            <a:ext cx="900000" cy="900000"/>
          </a:xfrm>
          <a:prstGeom prst="flowChartConnector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Oval 39">
            <a:extLst>
              <a:ext uri="{FF2B5EF4-FFF2-40B4-BE49-F238E27FC236}">
                <a16:creationId xmlns:a16="http://schemas.microsoft.com/office/drawing/2014/main" id="{23BE2B29-03B3-3204-F42E-B864F8411209}"/>
              </a:ext>
            </a:extLst>
          </p:cNvPr>
          <p:cNvSpPr/>
          <p:nvPr/>
        </p:nvSpPr>
        <p:spPr>
          <a:xfrm rot="16200000">
            <a:off x="3161684" y="5801497"/>
            <a:ext cx="900000" cy="900000"/>
          </a:xfrm>
          <a:prstGeom prst="flowChartConnector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6BBCBE-E7C7-EA7F-D557-A42A93A046AB}"/>
              </a:ext>
            </a:extLst>
          </p:cNvPr>
          <p:cNvSpPr txBox="1">
            <a:spLocks/>
          </p:cNvSpPr>
          <p:nvPr/>
        </p:nvSpPr>
        <p:spPr>
          <a:xfrm>
            <a:off x="451072" y="474602"/>
            <a:ext cx="11079163" cy="777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lata" panose="020B0604020202020204"/>
              </a:rPr>
              <a:t>Ways of Working - Guidelines</a:t>
            </a:r>
            <a:endParaRPr lang="fr-FR" dirty="0">
              <a:solidFill>
                <a:schemeClr val="tx1">
                  <a:lumMod val="50000"/>
                </a:schemeClr>
              </a:solidFill>
              <a:latin typeface="Alata" panose="020B0604020202020204"/>
              <a:ea typeface="Ebrima"/>
              <a:cs typeface="Ebrim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FE30E-FC05-B776-836C-D759C4AA8092}"/>
              </a:ext>
            </a:extLst>
          </p:cNvPr>
          <p:cNvSpPr/>
          <p:nvPr/>
        </p:nvSpPr>
        <p:spPr>
          <a:xfrm>
            <a:off x="-5080" y="259121"/>
            <a:ext cx="310029" cy="993120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4" name="TextBox 39">
            <a:extLst>
              <a:ext uri="{FF2B5EF4-FFF2-40B4-BE49-F238E27FC236}">
                <a16:creationId xmlns:a16="http://schemas.microsoft.com/office/drawing/2014/main" id="{4BB51CE7-5962-0B33-502D-2709A2E34017}"/>
              </a:ext>
            </a:extLst>
          </p:cNvPr>
          <p:cNvSpPr txBox="1"/>
          <p:nvPr/>
        </p:nvSpPr>
        <p:spPr>
          <a:xfrm>
            <a:off x="559335" y="870888"/>
            <a:ext cx="105007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endParaRPr lang="en-GB" sz="2400" noProof="0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  <a:latin typeface="Alata" panose="020B0604020202020204"/>
              <a:cs typeface="Alata" pitchFamily="2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2400" b="1" noProof="0" dirty="0">
                <a:latin typeface="Alata" panose="020B0604020202020204"/>
              </a:rPr>
              <a:t>Material will be made available in advance on Teams.</a:t>
            </a:r>
            <a:br>
              <a:rPr lang="en-GB" sz="2400" noProof="0" dirty="0">
                <a:latin typeface="Alata" panose="020B0604020202020204"/>
              </a:rPr>
            </a:br>
            <a:r>
              <a:rPr lang="en-GB" sz="2400" noProof="0" dirty="0">
                <a:latin typeface="Alata" panose="020B0604020202020204"/>
              </a:rPr>
              <a:t>Please read it carefully, assimilate the content, and conduct a preliminary analysis before the workshop.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GB" sz="2400" noProof="0" dirty="0">
              <a:latin typeface="Alata" panose="020B0604020202020204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2400" b="1" noProof="0" dirty="0">
                <a:latin typeface="Alata" panose="020B0604020202020204"/>
              </a:rPr>
              <a:t>Organise yourselves within your group.</a:t>
            </a:r>
            <a:br>
              <a:rPr lang="en-GB" sz="2400" noProof="0" dirty="0">
                <a:latin typeface="Alata" panose="020B0604020202020204"/>
              </a:rPr>
            </a:br>
            <a:r>
              <a:rPr lang="en-GB" sz="2400" noProof="0" dirty="0">
                <a:latin typeface="Alata" panose="020B0604020202020204"/>
              </a:rPr>
              <a:t>Collaborate and work together outside of the scheduled workshops.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GB" sz="2400" noProof="0" dirty="0">
              <a:latin typeface="Alata" panose="020B0604020202020204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GB" sz="2400" noProof="0" dirty="0">
              <a:latin typeface="Alata" panose="020B0604020202020204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2400" b="1" noProof="0" dirty="0">
                <a:latin typeface="Alata" panose="020B0604020202020204"/>
              </a:rPr>
              <a:t>Make sure you understand each week’s theoretical themes.</a:t>
            </a:r>
            <a:endParaRPr lang="en-GB" sz="2400" noProof="0" dirty="0">
              <a:latin typeface="Alata" panose="020B0604020202020204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noProof="0" dirty="0">
                <a:latin typeface="Alata" panose="020B0604020202020204"/>
              </a:rPr>
              <a:t>The workshop will focus on application </a:t>
            </a:r>
            <a:endParaRPr lang="en-GB" sz="2400" b="1" noProof="0" dirty="0">
              <a:latin typeface="Alata" panose="020B0604020202020204"/>
            </a:endParaRPr>
          </a:p>
        </p:txBody>
      </p:sp>
      <p:pic>
        <p:nvPicPr>
          <p:cNvPr id="6" name="Graphique 5" descr="Vacances avec un remplissage uni">
            <a:extLst>
              <a:ext uri="{FF2B5EF4-FFF2-40B4-BE49-F238E27FC236}">
                <a16:creationId xmlns:a16="http://schemas.microsoft.com/office/drawing/2014/main" id="{B3E66B97-E291-9EE1-46CF-20E441CB1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1323" y="5915246"/>
            <a:ext cx="720000" cy="720000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90C01629-0102-5856-E7E2-124B7CD24FCA}"/>
              </a:ext>
            </a:extLst>
          </p:cNvPr>
          <p:cNvGrpSpPr/>
          <p:nvPr/>
        </p:nvGrpSpPr>
        <p:grpSpPr>
          <a:xfrm>
            <a:off x="10610081" y="1130798"/>
            <a:ext cx="900001" cy="3767258"/>
            <a:chOff x="608307" y="1548803"/>
            <a:chExt cx="900001" cy="3767258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3A0F8C87-4BE6-FDFE-C7A0-5FE460A0AF02}"/>
                </a:ext>
              </a:extLst>
            </p:cNvPr>
            <p:cNvGrpSpPr/>
            <p:nvPr/>
          </p:nvGrpSpPr>
          <p:grpSpPr>
            <a:xfrm>
              <a:off x="608307" y="1548803"/>
              <a:ext cx="900001" cy="3767258"/>
              <a:chOff x="460826" y="1548803"/>
              <a:chExt cx="900001" cy="3767258"/>
            </a:xfrm>
          </p:grpSpPr>
          <p:sp>
            <p:nvSpPr>
              <p:cNvPr id="13" name="Oval 39">
                <a:extLst>
                  <a:ext uri="{FF2B5EF4-FFF2-40B4-BE49-F238E27FC236}">
                    <a16:creationId xmlns:a16="http://schemas.microsoft.com/office/drawing/2014/main" id="{7A9C34F8-7FD8-31F4-71AB-9B4A09645211}"/>
                  </a:ext>
                </a:extLst>
              </p:cNvPr>
              <p:cNvSpPr/>
              <p:nvPr/>
            </p:nvSpPr>
            <p:spPr>
              <a:xfrm rot="16200000">
                <a:off x="460826" y="1548803"/>
                <a:ext cx="900000" cy="900000"/>
              </a:xfrm>
              <a:prstGeom prst="flowChartConnector">
                <a:avLst/>
              </a:prstGeom>
              <a:solidFill>
                <a:srgbClr val="E6D5CA"/>
              </a:solidFill>
              <a:ln>
                <a:solidFill>
                  <a:srgbClr val="E6D5C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Oval 39">
                <a:extLst>
                  <a:ext uri="{FF2B5EF4-FFF2-40B4-BE49-F238E27FC236}">
                    <a16:creationId xmlns:a16="http://schemas.microsoft.com/office/drawing/2014/main" id="{F60F9530-E466-6E23-E800-0FDAA3452CD7}"/>
                  </a:ext>
                </a:extLst>
              </p:cNvPr>
              <p:cNvSpPr/>
              <p:nvPr/>
            </p:nvSpPr>
            <p:spPr>
              <a:xfrm rot="16200000">
                <a:off x="460827" y="2982432"/>
                <a:ext cx="900000" cy="900000"/>
              </a:xfrm>
              <a:prstGeom prst="flowChartConnector">
                <a:avLst/>
              </a:prstGeom>
              <a:solidFill>
                <a:srgbClr val="E6D5CA"/>
              </a:solidFill>
              <a:ln>
                <a:solidFill>
                  <a:srgbClr val="E6D5C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" name="Oval 39">
                <a:extLst>
                  <a:ext uri="{FF2B5EF4-FFF2-40B4-BE49-F238E27FC236}">
                    <a16:creationId xmlns:a16="http://schemas.microsoft.com/office/drawing/2014/main" id="{8806C860-9D27-AAFE-9242-A618C2C69269}"/>
                  </a:ext>
                </a:extLst>
              </p:cNvPr>
              <p:cNvSpPr/>
              <p:nvPr/>
            </p:nvSpPr>
            <p:spPr>
              <a:xfrm rot="16200000">
                <a:off x="460826" y="4416061"/>
                <a:ext cx="900000" cy="900000"/>
              </a:xfrm>
              <a:prstGeom prst="flowChartConnector">
                <a:avLst/>
              </a:prstGeom>
              <a:solidFill>
                <a:srgbClr val="E6D5CA"/>
              </a:solidFill>
              <a:ln>
                <a:solidFill>
                  <a:srgbClr val="E6D5C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7" name="Graphique 6" descr="Ampoule et engrenage avec un remplissage uni">
              <a:extLst>
                <a:ext uri="{FF2B5EF4-FFF2-40B4-BE49-F238E27FC236}">
                  <a16:creationId xmlns:a16="http://schemas.microsoft.com/office/drawing/2014/main" id="{64410EFA-851C-B6F6-034D-1AA4D36E6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638" y="4513917"/>
              <a:ext cx="720000" cy="720000"/>
            </a:xfrm>
            <a:prstGeom prst="rect">
              <a:avLst/>
            </a:prstGeom>
          </p:spPr>
        </p:pic>
        <p:pic>
          <p:nvPicPr>
            <p:cNvPr id="8" name="Graphique 7" descr="Poignée de main avec un remplissage uni">
              <a:extLst>
                <a:ext uri="{FF2B5EF4-FFF2-40B4-BE49-F238E27FC236}">
                  <a16:creationId xmlns:a16="http://schemas.microsoft.com/office/drawing/2014/main" id="{AD2BCDFD-7332-7063-AD5A-E489D3292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1638" y="3104004"/>
              <a:ext cx="720000" cy="720000"/>
            </a:xfrm>
            <a:prstGeom prst="rect">
              <a:avLst/>
            </a:prstGeom>
          </p:spPr>
        </p:pic>
        <p:pic>
          <p:nvPicPr>
            <p:cNvPr id="9" name="Graphique 8" descr="Tête avec engrenages avec un remplissage uni">
              <a:extLst>
                <a:ext uri="{FF2B5EF4-FFF2-40B4-BE49-F238E27FC236}">
                  <a16:creationId xmlns:a16="http://schemas.microsoft.com/office/drawing/2014/main" id="{570A0894-BE0D-EEBF-9D62-050E8DB3B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8027" y="1648993"/>
              <a:ext cx="720000" cy="720000"/>
            </a:xfrm>
            <a:prstGeom prst="rect">
              <a:avLst/>
            </a:prstGeom>
          </p:spPr>
        </p:pic>
      </p:grpSp>
      <p:sp>
        <p:nvSpPr>
          <p:cNvPr id="12" name="TextBox 39">
            <a:extLst>
              <a:ext uri="{FF2B5EF4-FFF2-40B4-BE49-F238E27FC236}">
                <a16:creationId xmlns:a16="http://schemas.microsoft.com/office/drawing/2014/main" id="{2A25D999-FE8B-36F7-AD6D-76FF79544F24}"/>
              </a:ext>
            </a:extLst>
          </p:cNvPr>
          <p:cNvSpPr txBox="1"/>
          <p:nvPr/>
        </p:nvSpPr>
        <p:spPr>
          <a:xfrm>
            <a:off x="1129521" y="5200852"/>
            <a:ext cx="9722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noProof="0" dirty="0">
                <a:latin typeface="Alata" panose="020B0604020202020204"/>
              </a:rPr>
              <a:t>Come prepared to the workshops! Academic tourism not allowed!</a:t>
            </a:r>
          </a:p>
        </p:txBody>
      </p:sp>
      <p:pic>
        <p:nvPicPr>
          <p:cNvPr id="3074" name="Picture 2" descr="2+ Thousand Student Raising Hand Icon Royalty-Free Images ...">
            <a:extLst>
              <a:ext uri="{FF2B5EF4-FFF2-40B4-BE49-F238E27FC236}">
                <a16:creationId xmlns:a16="http://schemas.microsoft.com/office/drawing/2014/main" id="{41C0BE3A-8C42-564A-D43A-C0AEB4E227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857" b="81429" l="9662" r="89372">
                        <a14:foregroundMark x1="56039" y1="35000" x2="56039" y2="35000"/>
                        <a14:foregroundMark x1="61836" y1="77857" x2="61836" y2="77857"/>
                        <a14:foregroundMark x1="31401" y1="81429" x2="31401" y2="8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7253"/>
          <a:stretch>
            <a:fillRect/>
          </a:stretch>
        </p:blipFill>
        <p:spPr bwMode="auto">
          <a:xfrm>
            <a:off x="3255222" y="5781832"/>
            <a:ext cx="771915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que 9" descr="Fermer avec un remplissage uni">
            <a:extLst>
              <a:ext uri="{FF2B5EF4-FFF2-40B4-BE49-F238E27FC236}">
                <a16:creationId xmlns:a16="http://schemas.microsoft.com/office/drawing/2014/main" id="{D4CA7076-DA20-67CE-0875-34BC6F51C9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92761" y="6032320"/>
            <a:ext cx="540000" cy="540000"/>
          </a:xfrm>
          <a:prstGeom prst="rect">
            <a:avLst/>
          </a:prstGeom>
        </p:spPr>
      </p:pic>
      <p:pic>
        <p:nvPicPr>
          <p:cNvPr id="18" name="Graphique 17" descr="Coche avec un remplissage uni">
            <a:extLst>
              <a:ext uri="{FF2B5EF4-FFF2-40B4-BE49-F238E27FC236}">
                <a16:creationId xmlns:a16="http://schemas.microsoft.com/office/drawing/2014/main" id="{3227F015-BC10-4998-0857-617BA3356E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20397" y="6034140"/>
            <a:ext cx="540000" cy="540000"/>
          </a:xfrm>
          <a:prstGeom prst="rect">
            <a:avLst/>
          </a:prstGeom>
        </p:spPr>
      </p:pic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F5900868-B227-9B60-43B8-33B356678F39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800" dirty="0">
                <a:solidFill>
                  <a:srgbClr val="0F1726"/>
                </a:solidFill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800" dirty="0">
              <a:solidFill>
                <a:srgbClr val="0F1726"/>
              </a:solidFill>
              <a:latin typeface="Alata" panose="020B0604020202020204"/>
              <a:ea typeface="Ebrima"/>
              <a:cs typeface="Ebrima"/>
            </a:endParaRPr>
          </a:p>
        </p:txBody>
      </p:sp>
    </p:spTree>
    <p:extLst>
      <p:ext uri="{BB962C8B-B14F-4D97-AF65-F5344CB8AC3E}">
        <p14:creationId xmlns:p14="http://schemas.microsoft.com/office/powerpoint/2010/main" val="2097502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36E1-EC99-83EF-C452-315DB4E0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39">
            <a:extLst>
              <a:ext uri="{FF2B5EF4-FFF2-40B4-BE49-F238E27FC236}">
                <a16:creationId xmlns:a16="http://schemas.microsoft.com/office/drawing/2014/main" id="{AD1E0A13-ED28-B5DE-EB2E-985D3A0F6FA3}"/>
              </a:ext>
            </a:extLst>
          </p:cNvPr>
          <p:cNvSpPr/>
          <p:nvPr/>
        </p:nvSpPr>
        <p:spPr>
          <a:xfrm rot="16200000">
            <a:off x="8269260" y="39238"/>
            <a:ext cx="900000" cy="900000"/>
          </a:xfrm>
          <a:prstGeom prst="flowChartConnector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11A41D03-C669-1B94-A15E-732325B014F3}"/>
              </a:ext>
            </a:extLst>
          </p:cNvPr>
          <p:cNvSpPr txBox="1">
            <a:spLocks/>
          </p:cNvSpPr>
          <p:nvPr/>
        </p:nvSpPr>
        <p:spPr>
          <a:xfrm>
            <a:off x="546911" y="6598879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BE" sz="800" dirty="0">
                <a:solidFill>
                  <a:srgbClr val="0F1726"/>
                </a:solidFill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lang="fr-FR" sz="800" dirty="0">
              <a:solidFill>
                <a:srgbClr val="0F1726"/>
              </a:solidFill>
              <a:latin typeface="Alata" panose="020B0604020202020204"/>
              <a:ea typeface="Ebrima"/>
              <a:cs typeface="Ebrima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278369A-9290-09D5-9BCD-B533D58B0413}"/>
              </a:ext>
            </a:extLst>
          </p:cNvPr>
          <p:cNvSpPr txBox="1">
            <a:spLocks/>
          </p:cNvSpPr>
          <p:nvPr/>
        </p:nvSpPr>
        <p:spPr>
          <a:xfrm>
            <a:off x="397345" y="259121"/>
            <a:ext cx="11079163" cy="777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noProof="0" dirty="0">
                <a:solidFill>
                  <a:schemeClr val="tx1">
                    <a:lumMod val="50000"/>
                  </a:schemeClr>
                </a:solidFill>
                <a:latin typeface="Alata" panose="020B0604020202020204"/>
              </a:rPr>
              <a:t>Theoretical Pre-requisite</a:t>
            </a:r>
            <a:endParaRPr lang="en-US" noProof="0" dirty="0">
              <a:solidFill>
                <a:schemeClr val="tx1">
                  <a:lumMod val="50000"/>
                </a:schemeClr>
              </a:solidFill>
              <a:latin typeface="Alata" panose="020B0604020202020204"/>
              <a:ea typeface="Ebrima"/>
              <a:cs typeface="Ebrim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7A7659-282E-998B-1A84-AB73CAE89335}"/>
              </a:ext>
            </a:extLst>
          </p:cNvPr>
          <p:cNvSpPr/>
          <p:nvPr/>
        </p:nvSpPr>
        <p:spPr>
          <a:xfrm>
            <a:off x="-5080" y="259121"/>
            <a:ext cx="310029" cy="993120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sp>
        <p:nvSpPr>
          <p:cNvPr id="5" name="TextBox 39">
            <a:extLst>
              <a:ext uri="{FF2B5EF4-FFF2-40B4-BE49-F238E27FC236}">
                <a16:creationId xmlns:a16="http://schemas.microsoft.com/office/drawing/2014/main" id="{5E2811A2-232D-9AA1-7AFF-5F7BC7A1131C}"/>
              </a:ext>
            </a:extLst>
          </p:cNvPr>
          <p:cNvSpPr txBox="1"/>
          <p:nvPr/>
        </p:nvSpPr>
        <p:spPr>
          <a:xfrm>
            <a:off x="397345" y="953638"/>
            <a:ext cx="1147794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lata" panose="020B0604020202020204"/>
              </a:rPr>
              <a:t>Students should ideally possess the following foundational knowledge:</a:t>
            </a:r>
          </a:p>
          <a:p>
            <a:endParaRPr lang="en-US" sz="2000" dirty="0">
              <a:latin typeface="Alata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Alata" panose="020B0604020202020204"/>
              </a:rPr>
              <a:t>End-to-End Order-to-Delivery </a:t>
            </a:r>
            <a:r>
              <a:rPr lang="en-US" sz="2000" dirty="0">
                <a:latin typeface="Alata" panose="020B0604020202020204"/>
              </a:rPr>
              <a:t>: a clear understanding of the O2D process, including order entry, planning, production, distribution, and delivery. Students should be able to view performance from an end-to-end perspective rather than through isolated functional lenses.</a:t>
            </a:r>
          </a:p>
          <a:p>
            <a:pPr marL="457200" indent="-457200">
              <a:buAutoNum type="arabicPeriod"/>
            </a:pPr>
            <a:endParaRPr lang="en-US" sz="2000" b="1" dirty="0">
              <a:latin typeface="Alata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Alata" panose="020B0604020202020204"/>
              </a:rPr>
              <a:t>KPI Interpretation and Performance Analysis</a:t>
            </a:r>
            <a:r>
              <a:rPr lang="en-US" sz="2000" dirty="0">
                <a:latin typeface="Alata" panose="020B0604020202020204"/>
              </a:rPr>
              <a:t>: Ability to interpret and analyze key supply chain indicators such as OTIF, backorders, forecast accuracy, inventory turns, lead times, and capacity utilization.</a:t>
            </a:r>
          </a:p>
          <a:p>
            <a:pPr marL="457200" indent="-457200">
              <a:buAutoNum type="arabicPeriod"/>
            </a:pPr>
            <a:endParaRPr lang="en-US" sz="2000" b="1" dirty="0">
              <a:latin typeface="Alata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Alata" panose="020B0604020202020204"/>
              </a:rPr>
              <a:t>Basic Planning Concepts</a:t>
            </a:r>
            <a:r>
              <a:rPr lang="en-US" sz="2000" dirty="0">
                <a:latin typeface="Alata" panose="020B0604020202020204"/>
              </a:rPr>
              <a:t>: Familiarity with Make-to-Stock vs. Make-to-Order models, safety stock logic, lead times, minimum order quantities, and capacity constraints.</a:t>
            </a:r>
          </a:p>
          <a:p>
            <a:pPr marL="457200" indent="-457200">
              <a:buAutoNum type="arabicPeriod"/>
            </a:pPr>
            <a:endParaRPr lang="en-US" sz="2000" b="1" dirty="0">
              <a:latin typeface="Alata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Alata" panose="020B0604020202020204"/>
              </a:rPr>
              <a:t>S&amp;OP / IBP Conceptual Framework</a:t>
            </a:r>
            <a:r>
              <a:rPr lang="en-US" sz="2000" dirty="0">
                <a:latin typeface="Alata" panose="020B0604020202020204"/>
              </a:rPr>
              <a:t>: a high-level understanding of S&amp;OP as a decision-making forum and IBP as a multi-year anticipation mechanism linking strategy, planning, and execution.</a:t>
            </a:r>
          </a:p>
          <a:p>
            <a:pPr marL="457200" indent="-457200">
              <a:buAutoNum type="arabicPeriod"/>
            </a:pPr>
            <a:endParaRPr lang="en-US" sz="2000" b="1" dirty="0">
              <a:latin typeface="Alata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Alata" panose="020B0604020202020204"/>
              </a:rPr>
              <a:t>Basic Network Design Awareness</a:t>
            </a:r>
            <a:r>
              <a:rPr lang="en-US" sz="2000" dirty="0">
                <a:latin typeface="Alata" panose="020B0604020202020204"/>
              </a:rPr>
              <a:t>: understanding of distribution center roles, trade-offs between cost and service, and centralization vs. decentralization dynamics</a:t>
            </a:r>
          </a:p>
        </p:txBody>
      </p:sp>
      <p:pic>
        <p:nvPicPr>
          <p:cNvPr id="7" name="Graphique 6" descr="Livres avec un remplissage uni">
            <a:extLst>
              <a:ext uri="{FF2B5EF4-FFF2-40B4-BE49-F238E27FC236}">
                <a16:creationId xmlns:a16="http://schemas.microsoft.com/office/drawing/2014/main" id="{42917567-B0D6-5AC0-B71B-45E31C06F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9260" y="12369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00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BFD61-DBFF-EB89-10D9-9CEBE186C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CEDF6685-6120-4A86-7B98-D9418CC0E90E}"/>
              </a:ext>
            </a:extLst>
          </p:cNvPr>
          <p:cNvSpPr txBox="1">
            <a:spLocks/>
          </p:cNvSpPr>
          <p:nvPr/>
        </p:nvSpPr>
        <p:spPr>
          <a:xfrm>
            <a:off x="546911" y="6172200"/>
            <a:ext cx="3434291" cy="203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fr-BE" sz="800" b="1" i="0" u="none" strike="noStrike" kern="1200" cap="none" spc="0" normalizeH="0" baseline="0" noProof="0" dirty="0">
                <a:ln>
                  <a:noFill/>
                </a:ln>
                <a:solidFill>
                  <a:srgbClr val="0F1726"/>
                </a:solidFill>
                <a:effectLst/>
                <a:uLnTx/>
                <a:uFillTx/>
                <a:latin typeface="Alata" panose="020B0604020202020204"/>
                <a:ea typeface="Calibri"/>
                <a:cs typeface="Calibri"/>
              </a:rPr>
              <a:t>Business Case -2026 Edition</a:t>
            </a:r>
            <a:endParaRPr kumimoji="0" lang="fr-FR" sz="800" b="1" i="0" u="none" strike="noStrike" kern="1200" cap="none" spc="0" normalizeH="0" baseline="0" noProof="0" dirty="0">
              <a:ln>
                <a:noFill/>
              </a:ln>
              <a:solidFill>
                <a:srgbClr val="0F1726"/>
              </a:solidFill>
              <a:effectLst/>
              <a:uLnTx/>
              <a:uFillTx/>
              <a:latin typeface="Alata" panose="020B0604020202020204"/>
              <a:ea typeface="Ebrima"/>
              <a:cs typeface="Ebrima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386BACC-C2DE-7F76-323B-AC2FF7E2D220}"/>
              </a:ext>
            </a:extLst>
          </p:cNvPr>
          <p:cNvSpPr txBox="1">
            <a:spLocks/>
          </p:cNvSpPr>
          <p:nvPr/>
        </p:nvSpPr>
        <p:spPr>
          <a:xfrm>
            <a:off x="305087" y="-209"/>
            <a:ext cx="11079163" cy="777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b="1" kern="1200">
                <a:solidFill>
                  <a:srgbClr val="3C3C3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Ebrima" panose="02000000000000000000" pitchFamily="2" charset="0"/>
              <a:buChar char="–"/>
              <a:defRPr sz="2000" b="1" kern="1200">
                <a:solidFill>
                  <a:srgbClr val="8C8478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Ebrima" panose="02000000000000000000" pitchFamily="2" charset="0"/>
              <a:buChar char="–"/>
              <a:defRPr sz="1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Alata" panose="020B0604020202020204"/>
              </a:rPr>
              <a:t>ULB/Intys - Workshop Roadmap 2026</a:t>
            </a:r>
            <a:endParaRPr lang="fr-FR" sz="2000" dirty="0">
              <a:solidFill>
                <a:schemeClr val="tx1">
                  <a:lumMod val="50000"/>
                </a:schemeClr>
              </a:solidFill>
              <a:latin typeface="Alata" panose="020B0604020202020204"/>
              <a:ea typeface="Ebrima"/>
              <a:cs typeface="Ebrima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05DBCBE-43D6-8C43-059E-C8BC5CF3F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737444"/>
              </p:ext>
            </p:extLst>
          </p:nvPr>
        </p:nvGraphicFramePr>
        <p:xfrm>
          <a:off x="786723" y="348555"/>
          <a:ext cx="10115889" cy="6509445"/>
        </p:xfrm>
        <a:graphic>
          <a:graphicData uri="http://schemas.openxmlformats.org/drawingml/2006/table">
            <a:tbl>
              <a:tblPr/>
              <a:tblGrid>
                <a:gridCol w="2013073">
                  <a:extLst>
                    <a:ext uri="{9D8B030D-6E8A-4147-A177-3AD203B41FA5}">
                      <a16:colId xmlns:a16="http://schemas.microsoft.com/office/drawing/2014/main" val="588717422"/>
                    </a:ext>
                  </a:extLst>
                </a:gridCol>
                <a:gridCol w="3471822">
                  <a:extLst>
                    <a:ext uri="{9D8B030D-6E8A-4147-A177-3AD203B41FA5}">
                      <a16:colId xmlns:a16="http://schemas.microsoft.com/office/drawing/2014/main" val="575055785"/>
                    </a:ext>
                  </a:extLst>
                </a:gridCol>
                <a:gridCol w="4630994">
                  <a:extLst>
                    <a:ext uri="{9D8B030D-6E8A-4147-A177-3AD203B41FA5}">
                      <a16:colId xmlns:a16="http://schemas.microsoft.com/office/drawing/2014/main" val="463079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B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53" marR="5453" marT="5453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Objectives</a:t>
                      </a:r>
                      <a:endParaRPr lang="fr-B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36128"/>
                  </a:ext>
                </a:extLst>
              </a:tr>
              <a:tr h="6901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Kick off and program framing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1 - 20/02/2026 (2h)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Present the program framework and expectations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Introduce the Intys Methodology and the business case 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100039"/>
                  </a:ext>
                </a:extLst>
              </a:tr>
              <a:tr h="627867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Define</a:t>
                      </a:r>
                      <a:r>
                        <a:rPr lang="fr-B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 </a:t>
                      </a:r>
                      <a:r>
                        <a:rPr lang="fr-B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Problem</a:t>
                      </a:r>
                      <a:endParaRPr lang="fr-BE" sz="1600" b="1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2 - 27/02/2026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</a:t>
                      </a:r>
                      <a:r>
                        <a:rPr lang="en-US" sz="1400" b="0" i="0" u="none" strike="noStrike" dirty="0">
                          <a:solidFill>
                            <a:srgbClr val="FFFF00"/>
                          </a:solidFill>
                          <a:effectLst/>
                          <a:latin typeface="Alata" panose="020B0604020202020204"/>
                        </a:rPr>
                        <a:t>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Application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Isolv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 1/2/3/4</a:t>
                      </a:r>
                      <a:br>
                        <a:rPr lang="en-US" sz="1400" b="0" i="0" u="none" strike="sng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Working time in groups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Presentation &amp; Feedback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608623"/>
                  </a:ext>
                </a:extLst>
              </a:tr>
              <a:tr h="627867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3  - 06/03/2026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Application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Isolv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 1/2/3/4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Working time in groups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Presentation &amp; Feedback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34139"/>
                  </a:ext>
                </a:extLst>
              </a:tr>
              <a:tr h="627867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4 -  13/03/2026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Application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Isolv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 1/2/3/4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Working time in groups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Presentation &amp; Feedback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06394"/>
                  </a:ext>
                </a:extLst>
              </a:tr>
              <a:tr h="212825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5 - 20/03/2026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BE" sz="1400" b="0" i="0" u="none" strike="noStrike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Diagnostic group presentation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75587"/>
                  </a:ext>
                </a:extLst>
              </a:tr>
              <a:tr h="627867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Define</a:t>
                      </a:r>
                      <a:r>
                        <a:rPr lang="fr-B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 Solution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6 - 01/04/2026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Application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Isolv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 5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Working time in groups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Presentation &amp; Feedback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554562"/>
                  </a:ext>
                </a:extLst>
              </a:tr>
              <a:tr h="627867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7 - 08/04/2026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Application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Isolv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 6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Working time in groups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Presentation &amp; Feedback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725227"/>
                  </a:ext>
                </a:extLst>
              </a:tr>
              <a:tr h="810642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8 - 16/04/2026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Application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Isolv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 6/7/8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Working time in groups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Presentation &amp; Feedback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50782"/>
                  </a:ext>
                </a:extLst>
              </a:tr>
              <a:tr h="212825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HOLIDAYS 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848333"/>
                  </a:ext>
                </a:extLst>
              </a:tr>
              <a:tr h="212825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Fine Tuning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9 - 06/05/2026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Q&amp;A</a:t>
                      </a: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979380"/>
                  </a:ext>
                </a:extLst>
              </a:tr>
              <a:tr h="212825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10 - 13/05/2026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​Presentation skills - tips and tricks​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781143"/>
                  </a:ext>
                </a:extLst>
              </a:tr>
              <a:tr h="212825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Week 11 - 22/05/2026 (4h)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Dry run of final presentations</a:t>
                      </a:r>
                      <a:endParaRPr lang="fr-BE" sz="1400" b="0" i="0" u="none" strike="noStrike" dirty="0">
                        <a:solidFill>
                          <a:srgbClr val="000000"/>
                        </a:solidFill>
                        <a:effectLst/>
                        <a:latin typeface="Alata" panose="020B0604020202020204"/>
                      </a:endParaRPr>
                    </a:p>
                  </a:txBody>
                  <a:tcPr marL="108000" marR="5453" marT="54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C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0891"/>
                  </a:ext>
                </a:extLst>
              </a:tr>
              <a:tr h="2128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EXAM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C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08/06/26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C2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Written reports</a:t>
                      </a:r>
                    </a:p>
                  </a:txBody>
                  <a:tcPr marL="108000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854524"/>
                  </a:ext>
                </a:extLst>
              </a:tr>
              <a:tr h="2128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EXAM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C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16/06/26</a:t>
                      </a:r>
                    </a:p>
                  </a:txBody>
                  <a:tcPr marL="5453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C2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B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lata" panose="020B0604020202020204"/>
                        </a:rPr>
                        <a:t>• Final presentations</a:t>
                      </a:r>
                    </a:p>
                  </a:txBody>
                  <a:tcPr marL="108000" marR="5453" marT="545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573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070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0599499F-A7FE-F6AF-90AF-E7A86B7AEFF0}"/>
              </a:ext>
            </a:extLst>
          </p:cNvPr>
          <p:cNvSpPr txBox="1">
            <a:spLocks/>
          </p:cNvSpPr>
          <p:nvPr/>
        </p:nvSpPr>
        <p:spPr>
          <a:xfrm>
            <a:off x="6484487" y="708542"/>
            <a:ext cx="4711480" cy="1242789"/>
          </a:xfrm>
          <a:prstGeom prst="rect">
            <a:avLst/>
          </a:prstGeom>
        </p:spPr>
        <p:txBody>
          <a:bodyPr vert="horz" lIns="60960" tIns="30480" rIns="60960" bIns="30480" rtlCol="0" anchor="t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400" b="1" dirty="0"/>
              <a:t>Questions ?</a:t>
            </a:r>
            <a:endParaRPr lang="en-US" sz="6400" b="1" dirty="0">
              <a:ea typeface="Calibri"/>
              <a:cs typeface="Calibri"/>
            </a:endParaRPr>
          </a:p>
          <a:p>
            <a:pPr algn="ctr"/>
            <a:endParaRPr lang="en-US" sz="2400"/>
          </a:p>
          <a:p>
            <a:pPr algn="ctr"/>
            <a:endParaRPr lang="en-US" sz="5000"/>
          </a:p>
          <a:p>
            <a:endParaRPr lang="fr-BE" sz="800"/>
          </a:p>
        </p:txBody>
      </p:sp>
      <p:pic>
        <p:nvPicPr>
          <p:cNvPr id="8" name="Picture 2" descr="Image result for ULB png">
            <a:extLst>
              <a:ext uri="{FF2B5EF4-FFF2-40B4-BE49-F238E27FC236}">
                <a16:creationId xmlns:a16="http://schemas.microsoft.com/office/drawing/2014/main" id="{9B1EC5AE-431C-D4C6-4755-F8F89F49B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" y="6086593"/>
            <a:ext cx="2119086" cy="78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97FCAD8-82C8-A5A2-DB46-6FD3EADD6B2A}"/>
              </a:ext>
            </a:extLst>
          </p:cNvPr>
          <p:cNvSpPr/>
          <p:nvPr/>
        </p:nvSpPr>
        <p:spPr>
          <a:xfrm>
            <a:off x="-5080" y="2400959"/>
            <a:ext cx="608650" cy="2053741"/>
          </a:xfrm>
          <a:prstGeom prst="rect">
            <a:avLst/>
          </a:prstGeom>
          <a:solidFill>
            <a:srgbClr val="E6D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800"/>
          </a:p>
        </p:txBody>
      </p:sp>
      <p:pic>
        <p:nvPicPr>
          <p:cNvPr id="9" name="Image 8" descr="Une image contenant Police, Graphique, logo, blanc&#10;&#10;Description générée automatiquement">
            <a:extLst>
              <a:ext uri="{FF2B5EF4-FFF2-40B4-BE49-F238E27FC236}">
                <a16:creationId xmlns:a16="http://schemas.microsoft.com/office/drawing/2014/main" id="{C881E67B-D440-B690-63F0-CD63C954F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3156" y="6131175"/>
            <a:ext cx="1738438" cy="7416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8312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60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B8703-4E1F-F2C8-A4E8-512899A6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AC87B74-0702-438A-A4B8-E06CDDC5C56A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8B55372-4580-B28A-D585-1255AE0D61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11" y="6646333"/>
            <a:ext cx="3434291" cy="203200"/>
          </a:xfrm>
        </p:spPr>
        <p:txBody>
          <a:bodyPr>
            <a:normAutofit fontScale="92500" lnSpcReduction="20000"/>
          </a:bodyPr>
          <a:lstStyle/>
          <a:p>
            <a:endParaRPr lang="en-BE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822E35D-428A-D016-118D-54AA7AC024FD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4239CB5-D1EF-611A-DCAE-68A85BA17ADB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A7BD7A1-448C-4261-2E42-BA44A53C9D50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BF5999C2-318C-7D56-633A-536B649736B6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970B437-A80E-7865-32AC-BB2BC6E13D88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882C9238-C608-1947-7786-3EA0E9F71461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854D41BC-21D9-56DA-ABA7-0343DE8EA965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1B805A01-D62F-1F82-0A07-AA7C54B67E06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91CFE34E-398D-310B-5C48-6917665BE438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A879F8AE-893C-8E5E-59B2-5D5822EE8B52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117" name="Graphic 116" descr="Information outline">
              <a:extLst>
                <a:ext uri="{FF2B5EF4-FFF2-40B4-BE49-F238E27FC236}">
                  <a16:creationId xmlns:a16="http://schemas.microsoft.com/office/drawing/2014/main" id="{39AB7428-9934-9F4D-7B5F-7B3754706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118" name="Graphic 117" descr="Abacus outline">
              <a:extLst>
                <a:ext uri="{FF2B5EF4-FFF2-40B4-BE49-F238E27FC236}">
                  <a16:creationId xmlns:a16="http://schemas.microsoft.com/office/drawing/2014/main" id="{13CD3061-AD09-66F0-3544-095DC4A2D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119" name="Graphic 118" descr="Target outline">
              <a:extLst>
                <a:ext uri="{FF2B5EF4-FFF2-40B4-BE49-F238E27FC236}">
                  <a16:creationId xmlns:a16="http://schemas.microsoft.com/office/drawing/2014/main" id="{174E0EF2-CAE8-3E82-84C0-A474E2170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120" name="Graphic 119" descr="Clipboard Mixed outline">
              <a:extLst>
                <a:ext uri="{FF2B5EF4-FFF2-40B4-BE49-F238E27FC236}">
                  <a16:creationId xmlns:a16="http://schemas.microsoft.com/office/drawing/2014/main" id="{5C8F83F7-4F66-63DD-CF0B-A5CA34BD1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21" name="Graphic 120" descr="Gears outline">
              <a:extLst>
                <a:ext uri="{FF2B5EF4-FFF2-40B4-BE49-F238E27FC236}">
                  <a16:creationId xmlns:a16="http://schemas.microsoft.com/office/drawing/2014/main" id="{EC7E3DFF-657E-F993-6D82-9C0615B89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2" name="Graphic 121" descr="Bar graph with upward trend outline">
              <a:extLst>
                <a:ext uri="{FF2B5EF4-FFF2-40B4-BE49-F238E27FC236}">
                  <a16:creationId xmlns:a16="http://schemas.microsoft.com/office/drawing/2014/main" id="{31BDCACA-8142-B5E3-3531-308263783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23" name="Graphic 122" descr="Classroom outline">
              <a:extLst>
                <a:ext uri="{FF2B5EF4-FFF2-40B4-BE49-F238E27FC236}">
                  <a16:creationId xmlns:a16="http://schemas.microsoft.com/office/drawing/2014/main" id="{F3BD0AC5-6592-4FEB-D3B9-3C9EAB2C3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25" name="Graphic 124" descr="Question Mark outline">
              <a:extLst>
                <a:ext uri="{FF2B5EF4-FFF2-40B4-BE49-F238E27FC236}">
                  <a16:creationId xmlns:a16="http://schemas.microsoft.com/office/drawing/2014/main" id="{00721E3F-7411-24C8-0FED-3F1C6810C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132" name="Circle: Hollow 131">
            <a:extLst>
              <a:ext uri="{FF2B5EF4-FFF2-40B4-BE49-F238E27FC236}">
                <a16:creationId xmlns:a16="http://schemas.microsoft.com/office/drawing/2014/main" id="{4D1EF92C-10A8-35A7-067B-9E1B43CD9EB7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CE4197F5-1AD5-C555-964E-267107097BC0}"/>
              </a:ext>
            </a:extLst>
          </p:cNvPr>
          <p:cNvSpPr/>
          <p:nvPr/>
        </p:nvSpPr>
        <p:spPr>
          <a:xfrm rot="10800000">
            <a:off x="7360787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F6E33B-4690-22C7-24D7-48A2CB520033}"/>
              </a:ext>
            </a:extLst>
          </p:cNvPr>
          <p:cNvSpPr/>
          <p:nvPr/>
        </p:nvSpPr>
        <p:spPr>
          <a:xfrm>
            <a:off x="1827843" y="6313719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6D6A5D3-2C1B-3BDC-555D-AE79689324CF}"/>
              </a:ext>
            </a:extLst>
          </p:cNvPr>
          <p:cNvSpPr txBox="1">
            <a:spLocks/>
          </p:cNvSpPr>
          <p:nvPr/>
        </p:nvSpPr>
        <p:spPr>
          <a:xfrm>
            <a:off x="317204" y="282097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What is the vision ?</a:t>
            </a:r>
            <a:endParaRPr lang="en-BE" sz="2933">
              <a:solidFill>
                <a:prstClr val="black"/>
              </a:solidFill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463E3287-430D-D8A2-EEE1-844B111E0A01}"/>
              </a:ext>
            </a:extLst>
          </p:cNvPr>
          <p:cNvSpPr/>
          <p:nvPr/>
        </p:nvSpPr>
        <p:spPr>
          <a:xfrm>
            <a:off x="1275783" y="4620987"/>
            <a:ext cx="3707211" cy="529139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US" sz="2133" noProof="1">
                <a:solidFill>
                  <a:prstClr val="black"/>
                </a:solidFill>
                <a:latin typeface="Alata" panose="020B0604020202020204" charset="0"/>
              </a:rPr>
              <a:t>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5C5C1-7A5D-726B-0C90-25395B53DCC5}"/>
              </a:ext>
            </a:extLst>
          </p:cNvPr>
          <p:cNvSpPr txBox="1"/>
          <p:nvPr/>
        </p:nvSpPr>
        <p:spPr>
          <a:xfrm>
            <a:off x="1275783" y="3466561"/>
            <a:ext cx="3532905" cy="73482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2133" i="0" dirty="0">
                <a:solidFill>
                  <a:prstClr val="black"/>
                </a:solidFill>
              </a:rPr>
              <a:t>Company’s long-term promise / value proposition</a:t>
            </a:r>
            <a:endParaRPr lang="en-BE" sz="2133" b="1" i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EA687D-1A58-9C74-50B6-983568BB8A2D}"/>
              </a:ext>
            </a:extLst>
          </p:cNvPr>
          <p:cNvSpPr txBox="1"/>
          <p:nvPr/>
        </p:nvSpPr>
        <p:spPr>
          <a:xfrm>
            <a:off x="1275785" y="5268059"/>
            <a:ext cx="3532903" cy="999526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2133" i="0">
                <a:solidFill>
                  <a:prstClr val="black"/>
                </a:solidFill>
              </a:rPr>
              <a:t>What the company </a:t>
            </a:r>
            <a:br>
              <a:rPr lang="en-US" sz="2133" i="0">
                <a:solidFill>
                  <a:prstClr val="black"/>
                </a:solidFill>
              </a:rPr>
            </a:br>
            <a:r>
              <a:rPr lang="en-US" sz="2133" i="0">
                <a:solidFill>
                  <a:prstClr val="black"/>
                </a:solidFill>
              </a:rPr>
              <a:t>does concretely to deliver that vision</a:t>
            </a:r>
            <a:endParaRPr lang="en-BE" sz="2133" b="1" i="0">
              <a:solidFill>
                <a:prstClr val="black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65E183-6491-22B2-4C11-71111EC1AB38}"/>
              </a:ext>
            </a:extLst>
          </p:cNvPr>
          <p:cNvSpPr txBox="1"/>
          <p:nvPr/>
        </p:nvSpPr>
        <p:spPr>
          <a:xfrm>
            <a:off x="7255101" y="3459537"/>
            <a:ext cx="3809510" cy="74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/>
            <a:r>
              <a:rPr lang="en-US" sz="2133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Be </a:t>
            </a:r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The world’s</a:t>
            </a:r>
            <a:r>
              <a:rPr lang="en-US" sz="2133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 most reliable &amp; customer-centric company </a:t>
            </a:r>
            <a:endParaRPr lang="en-BE" sz="2133" dirty="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79EB25-B96E-326B-9A0A-611D2486A91D}"/>
              </a:ext>
            </a:extLst>
          </p:cNvPr>
          <p:cNvSpPr/>
          <p:nvPr/>
        </p:nvSpPr>
        <p:spPr>
          <a:xfrm>
            <a:off x="1275783" y="2812653"/>
            <a:ext cx="3707214" cy="529139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US" sz="2133" noProof="1">
                <a:solidFill>
                  <a:prstClr val="black"/>
                </a:solidFill>
                <a:latin typeface="Alata" panose="020B0604020202020204" charset="0"/>
              </a:rPr>
              <a:t>Vision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3360FB-3914-3095-2D9F-F49D8CFC5544}"/>
              </a:ext>
            </a:extLst>
          </p:cNvPr>
          <p:cNvCxnSpPr>
            <a:cxnSpLocks/>
          </p:cNvCxnSpPr>
          <p:nvPr/>
        </p:nvCxnSpPr>
        <p:spPr>
          <a:xfrm flipV="1">
            <a:off x="6095043" y="2995347"/>
            <a:ext cx="0" cy="235943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C561D15-6704-BEC9-2D83-838D89BB67A3}"/>
              </a:ext>
            </a:extLst>
          </p:cNvPr>
          <p:cNvSpPr txBox="1"/>
          <p:nvPr/>
        </p:nvSpPr>
        <p:spPr>
          <a:xfrm>
            <a:off x="6955855" y="5268059"/>
            <a:ext cx="4518433" cy="10770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latin typeface="Alata" pitchFamily="2" charset="0"/>
                <a:cs typeface="Alata" pitchFamily="2" charset="0"/>
              </a:defRPr>
            </a:lvl1pPr>
          </a:lstStyle>
          <a:p>
            <a:pPr defTabSz="609630"/>
            <a:r>
              <a:rPr lang="en-US" sz="2133">
                <a:solidFill>
                  <a:prstClr val="black"/>
                </a:solidFill>
              </a:rPr>
              <a:t>Offering the </a:t>
            </a:r>
            <a:r>
              <a:rPr lang="en-US" sz="2133" dirty="0">
                <a:solidFill>
                  <a:prstClr val="black"/>
                </a:solidFill>
              </a:rPr>
              <a:t>lowest possible prices, the best available selection, and the utmost convenience</a:t>
            </a:r>
            <a:r>
              <a:rPr lang="en-US" sz="2133">
                <a:solidFill>
                  <a:prstClr val="black"/>
                </a:solidFill>
              </a:rPr>
              <a:t>.</a:t>
            </a:r>
            <a:endParaRPr lang="en-BE" sz="2133" dirty="0">
              <a:solidFill>
                <a:prstClr val="black"/>
              </a:solidFill>
            </a:endParaRPr>
          </a:p>
        </p:txBody>
      </p:sp>
      <p:sp>
        <p:nvSpPr>
          <p:cNvPr id="32" name="Rectangle: Rounded Corners 15">
            <a:extLst>
              <a:ext uri="{FF2B5EF4-FFF2-40B4-BE49-F238E27FC236}">
                <a16:creationId xmlns:a16="http://schemas.microsoft.com/office/drawing/2014/main" id="{209BE4A8-3CC3-B2A7-D629-F4F814B3805B}"/>
              </a:ext>
            </a:extLst>
          </p:cNvPr>
          <p:cNvSpPr/>
          <p:nvPr/>
        </p:nvSpPr>
        <p:spPr>
          <a:xfrm>
            <a:off x="7360787" y="4620987"/>
            <a:ext cx="3643090" cy="52913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US" sz="2133" noProof="1">
                <a:solidFill>
                  <a:prstClr val="black"/>
                </a:solidFill>
                <a:latin typeface="Alata" panose="020B0604020202020204" charset="0"/>
              </a:rPr>
              <a:t>Mission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E80C5507-A170-6EEB-6F73-2D451EBE03D4}"/>
              </a:ext>
            </a:extLst>
          </p:cNvPr>
          <p:cNvSpPr txBox="1">
            <a:spLocks/>
          </p:cNvSpPr>
          <p:nvPr/>
        </p:nvSpPr>
        <p:spPr>
          <a:xfrm>
            <a:off x="2451819" y="1954702"/>
            <a:ext cx="1180833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133" dirty="0">
                <a:solidFill>
                  <a:prstClr val="black"/>
                </a:solidFill>
              </a:rPr>
              <a:t>Theory</a:t>
            </a:r>
            <a:r>
              <a:rPr lang="en-US" sz="2267" dirty="0">
                <a:solidFill>
                  <a:prstClr val="black"/>
                </a:solidFill>
              </a:rPr>
              <a:t> </a:t>
            </a:r>
            <a:endParaRPr lang="en-BE" sz="2267" dirty="0">
              <a:solidFill>
                <a:prstClr val="black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92EE3F-48E5-4D53-69BB-95621166EA83}"/>
              </a:ext>
            </a:extLst>
          </p:cNvPr>
          <p:cNvSpPr txBox="1"/>
          <p:nvPr/>
        </p:nvSpPr>
        <p:spPr>
          <a:xfrm>
            <a:off x="7296665" y="1944395"/>
            <a:ext cx="3555809" cy="608991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133" dirty="0">
                <a:solidFill>
                  <a:prstClr val="black"/>
                </a:solidFill>
              </a:rPr>
              <a:t>Application : </a:t>
            </a:r>
            <a:r>
              <a:rPr lang="en-US" sz="2133" dirty="0" err="1">
                <a:solidFill>
                  <a:prstClr val="black"/>
                </a:solidFill>
              </a:rPr>
              <a:t>Emazon</a:t>
            </a:r>
            <a:r>
              <a:rPr lang="en-US" sz="2133" dirty="0">
                <a:solidFill>
                  <a:prstClr val="black"/>
                </a:solidFill>
              </a:rPr>
              <a:t> </a:t>
            </a:r>
            <a:endParaRPr lang="en-BE" sz="2133" dirty="0">
              <a:solidFill>
                <a:prstClr val="black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E88839-3FCE-26A5-6F0E-FDE4DA01C519}"/>
              </a:ext>
            </a:extLst>
          </p:cNvPr>
          <p:cNvSpPr/>
          <p:nvPr/>
        </p:nvSpPr>
        <p:spPr>
          <a:xfrm>
            <a:off x="2931842" y="1088012"/>
            <a:ext cx="7430401" cy="4425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GB" sz="2133">
                <a:solidFill>
                  <a:prstClr val="black"/>
                </a:solidFill>
                <a:latin typeface="Alata" panose="020B0604020202020204" charset="0"/>
              </a:rPr>
              <a:t>It sets the direction and defines what success means.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F2B7F-D10F-4FDE-5A13-6491E6985538}"/>
              </a:ext>
            </a:extLst>
          </p:cNvPr>
          <p:cNvSpPr/>
          <p:nvPr/>
        </p:nvSpPr>
        <p:spPr>
          <a:xfrm>
            <a:off x="344162" y="1088013"/>
            <a:ext cx="2588461" cy="442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lnSpc>
                <a:spcPct val="90000"/>
              </a:lnSpc>
              <a:spcBef>
                <a:spcPts val="667"/>
              </a:spcBef>
            </a:pPr>
            <a:r>
              <a:rPr lang="en-GB" sz="2133">
                <a:solidFill>
                  <a:prstClr val="black"/>
                </a:solidFill>
                <a:latin typeface="Alata" panose="020B0604020202020204" charset="0"/>
              </a:rPr>
              <a:t>     Why it matters: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FEA3FD-A10C-1AD3-6195-9C519CD6D22A}"/>
              </a:ext>
            </a:extLst>
          </p:cNvPr>
          <p:cNvSpPr txBox="1"/>
          <p:nvPr/>
        </p:nvSpPr>
        <p:spPr>
          <a:xfrm>
            <a:off x="604300" y="3761490"/>
            <a:ext cx="451413" cy="442533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2133" b="1" i="0">
                <a:solidFill>
                  <a:prstClr val="black"/>
                </a:solidFill>
              </a:rPr>
              <a:t>by</a:t>
            </a:r>
            <a:endParaRPr lang="en-BE" sz="2133" b="1" i="0">
              <a:solidFill>
                <a:prstClr val="black"/>
              </a:solidFill>
            </a:endParaRP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3A60F892-DE09-0988-E6DC-4A3CE0CB8286}"/>
              </a:ext>
            </a:extLst>
          </p:cNvPr>
          <p:cNvCxnSpPr>
            <a:cxnSpLocks/>
            <a:stCxn id="16" idx="1"/>
            <a:endCxn id="10" idx="0"/>
          </p:cNvCxnSpPr>
          <p:nvPr/>
        </p:nvCxnSpPr>
        <p:spPr>
          <a:xfrm rot="10800000" flipV="1">
            <a:off x="830007" y="3077223"/>
            <a:ext cx="445776" cy="684267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83DE6D28-9157-001A-58DD-ED424BDFFFD4}"/>
              </a:ext>
            </a:extLst>
          </p:cNvPr>
          <p:cNvCxnSpPr>
            <a:cxnSpLocks/>
            <a:stCxn id="10" idx="2"/>
            <a:endCxn id="5" idx="1"/>
          </p:cNvCxnSpPr>
          <p:nvPr/>
        </p:nvCxnSpPr>
        <p:spPr>
          <a:xfrm rot="16200000" flipH="1">
            <a:off x="712128" y="4321901"/>
            <a:ext cx="681533" cy="445776"/>
          </a:xfrm>
          <a:prstGeom prst="curvedConnector2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4C69F4-1997-AEC0-9FFA-E79D5F79D215}"/>
              </a:ext>
            </a:extLst>
          </p:cNvPr>
          <p:cNvSpPr txBox="1"/>
          <p:nvPr/>
        </p:nvSpPr>
        <p:spPr>
          <a:xfrm>
            <a:off x="6689304" y="3710776"/>
            <a:ext cx="451413" cy="442533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2133" b="1" i="0">
                <a:solidFill>
                  <a:prstClr val="black"/>
                </a:solidFill>
              </a:rPr>
              <a:t>by</a:t>
            </a:r>
            <a:endParaRPr lang="en-BE" sz="2133" b="1" i="0">
              <a:solidFill>
                <a:prstClr val="black"/>
              </a:solidFill>
            </a:endParaRPr>
          </a:p>
        </p:txBody>
      </p:sp>
      <p:cxnSp>
        <p:nvCxnSpPr>
          <p:cNvPr id="9" name="Curved Connector 21">
            <a:extLst>
              <a:ext uri="{FF2B5EF4-FFF2-40B4-BE49-F238E27FC236}">
                <a16:creationId xmlns:a16="http://schemas.microsoft.com/office/drawing/2014/main" id="{42C11828-8D07-D2D2-EB23-59D247412097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6915011" y="3026509"/>
            <a:ext cx="445776" cy="684267"/>
          </a:xfrm>
          <a:prstGeom prst="curvedConnector2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urved Connector 25">
            <a:extLst>
              <a:ext uri="{FF2B5EF4-FFF2-40B4-BE49-F238E27FC236}">
                <a16:creationId xmlns:a16="http://schemas.microsoft.com/office/drawing/2014/main" id="{5B72767B-5FC0-F048-88E7-7563289E81DD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6797132" y="4271187"/>
            <a:ext cx="681533" cy="445776"/>
          </a:xfrm>
          <a:prstGeom prst="curvedConnector2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15">
            <a:extLst>
              <a:ext uri="{FF2B5EF4-FFF2-40B4-BE49-F238E27FC236}">
                <a16:creationId xmlns:a16="http://schemas.microsoft.com/office/drawing/2014/main" id="{BD3803C7-012D-5BAA-16FA-E3ADB9B74020}"/>
              </a:ext>
            </a:extLst>
          </p:cNvPr>
          <p:cNvSpPr/>
          <p:nvPr/>
        </p:nvSpPr>
        <p:spPr>
          <a:xfrm>
            <a:off x="7296665" y="2826525"/>
            <a:ext cx="3707214" cy="52913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US" sz="2133" noProof="1">
                <a:solidFill>
                  <a:prstClr val="black"/>
                </a:solidFill>
                <a:latin typeface="Alata" panose="020B0604020202020204" charset="0"/>
              </a:rPr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167965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4" grpId="0"/>
      <p:bldP spid="29" grpId="0"/>
      <p:bldP spid="16" grpId="0" animBg="1"/>
      <p:bldP spid="31" grpId="0"/>
      <p:bldP spid="32" grpId="0" animBg="1"/>
      <p:bldP spid="14" grpId="0"/>
      <p:bldP spid="39" grpId="0"/>
      <p:bldP spid="2" grpId="0" animBg="1"/>
      <p:bldP spid="3" grpId="0" animBg="1"/>
      <p:bldP spid="10" grpId="0"/>
      <p:bldP spid="7" grpId="0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D0C07-54FD-9BF7-292D-210DF814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8E31CF6-ED20-E15D-3636-96EEE7D15491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33CF960C-9168-257E-BAC1-18E76B0711B5}"/>
              </a:ext>
            </a:extLst>
          </p:cNvPr>
          <p:cNvSpPr/>
          <p:nvPr/>
        </p:nvSpPr>
        <p:spPr>
          <a:xfrm>
            <a:off x="374613" y="1347805"/>
            <a:ext cx="10168877" cy="489112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defRPr/>
            </a:pPr>
            <a:r>
              <a:rPr lang="en-US" sz="2133" dirty="0">
                <a:solidFill>
                  <a:prstClr val="black"/>
                </a:solidFill>
                <a:latin typeface="Alata" panose="020B0604020202020204" charset="0"/>
              </a:rPr>
              <a:t> Purpose : Align with stakeholders on a fact-based definition of the problem.  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645B841-4715-CFB6-FF7E-245EA5387DFD}"/>
              </a:ext>
            </a:extLst>
          </p:cNvPr>
          <p:cNvSpPr txBox="1">
            <a:spLocks/>
          </p:cNvSpPr>
          <p:nvPr/>
        </p:nvSpPr>
        <p:spPr>
          <a:xfrm>
            <a:off x="317204" y="698365"/>
            <a:ext cx="623966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 dirty="0">
                <a:solidFill>
                  <a:prstClr val="black"/>
                </a:solidFill>
              </a:rPr>
              <a:t>Step 1: Clarify the problem </a:t>
            </a:r>
            <a:endParaRPr lang="en-BE" sz="2933">
              <a:solidFill>
                <a:prstClr val="black"/>
              </a:solidFill>
            </a:endParaRP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78D6C01F-6793-7A71-779E-58034203D8E7}"/>
              </a:ext>
            </a:extLst>
          </p:cNvPr>
          <p:cNvSpPr txBox="1">
            <a:spLocks/>
          </p:cNvSpPr>
          <p:nvPr/>
        </p:nvSpPr>
        <p:spPr>
          <a:xfrm>
            <a:off x="7775851" y="3502088"/>
            <a:ext cx="3962762" cy="769425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1867" dirty="0">
                <a:solidFill>
                  <a:prstClr val="black"/>
                </a:solidFill>
              </a:rPr>
              <a:t>“What do we want to achieve to contribute to the vision?” </a:t>
            </a:r>
            <a:endParaRPr lang="en-BE" sz="1867">
              <a:solidFill>
                <a:prstClr val="black"/>
              </a:solidFill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0864FFE-1AFB-009C-C353-0671944DE9F0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8D78B21-E163-F6D7-62CA-2849257349BE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008B5540-FCDC-F250-D9ED-9621AAD11C11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A8B76B5-FC8E-E895-DB95-CB7F76F12B9D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91139A79-57AF-885F-A154-4C72C609144E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F5E9F-3380-0CE9-B4F7-EE3645797537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C23A7309-8CD3-C1DA-91F3-899300598E6E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4C12CDF-CEEC-4387-19B1-EF39BD55C503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D3781DE-DA2E-8C56-2C46-DCDBDA0273D1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EB090143-3E86-D93D-04B4-371E9644DAA6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117" name="Graphic 116" descr="Information outline">
              <a:extLst>
                <a:ext uri="{FF2B5EF4-FFF2-40B4-BE49-F238E27FC236}">
                  <a16:creationId xmlns:a16="http://schemas.microsoft.com/office/drawing/2014/main" id="{8313031C-A28A-5DDF-8520-0A43DA5FE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118" name="Graphic 117" descr="Abacus outline">
              <a:extLst>
                <a:ext uri="{FF2B5EF4-FFF2-40B4-BE49-F238E27FC236}">
                  <a16:creationId xmlns:a16="http://schemas.microsoft.com/office/drawing/2014/main" id="{BAE39D9B-2478-E04A-D502-1949851E0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119" name="Graphic 118" descr="Target outline">
              <a:extLst>
                <a:ext uri="{FF2B5EF4-FFF2-40B4-BE49-F238E27FC236}">
                  <a16:creationId xmlns:a16="http://schemas.microsoft.com/office/drawing/2014/main" id="{F6A96A5C-27E8-2A34-0AD1-1D4F0A6DD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120" name="Graphic 119" descr="Clipboard Mixed outline">
              <a:extLst>
                <a:ext uri="{FF2B5EF4-FFF2-40B4-BE49-F238E27FC236}">
                  <a16:creationId xmlns:a16="http://schemas.microsoft.com/office/drawing/2014/main" id="{4EE2F567-B6A7-8CA2-72CC-AD0349514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21" name="Graphic 120" descr="Gears outline">
              <a:extLst>
                <a:ext uri="{FF2B5EF4-FFF2-40B4-BE49-F238E27FC236}">
                  <a16:creationId xmlns:a16="http://schemas.microsoft.com/office/drawing/2014/main" id="{BE7B2F0E-BE76-AA9D-5C48-5AAEA2982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2" name="Graphic 121" descr="Bar graph with upward trend outline">
              <a:extLst>
                <a:ext uri="{FF2B5EF4-FFF2-40B4-BE49-F238E27FC236}">
                  <a16:creationId xmlns:a16="http://schemas.microsoft.com/office/drawing/2014/main" id="{4DAF1762-F454-3E1C-AB14-BC164D4D7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23" name="Graphic 122" descr="Classroom outline">
              <a:extLst>
                <a:ext uri="{FF2B5EF4-FFF2-40B4-BE49-F238E27FC236}">
                  <a16:creationId xmlns:a16="http://schemas.microsoft.com/office/drawing/2014/main" id="{C4DE031A-23AE-E364-8A99-61CE559FD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25" name="Graphic 124" descr="Question Mark outline">
              <a:extLst>
                <a:ext uri="{FF2B5EF4-FFF2-40B4-BE49-F238E27FC236}">
                  <a16:creationId xmlns:a16="http://schemas.microsoft.com/office/drawing/2014/main" id="{CEBE91C0-59F8-1BFA-F11C-A12D8D734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132" name="Circle: Hollow 131">
            <a:extLst>
              <a:ext uri="{FF2B5EF4-FFF2-40B4-BE49-F238E27FC236}">
                <a16:creationId xmlns:a16="http://schemas.microsoft.com/office/drawing/2014/main" id="{99CECE17-2EA0-BB8F-085D-C848490C8CE0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F3DB10-F5F6-AA8B-E5B2-167E67D944C1}"/>
              </a:ext>
            </a:extLst>
          </p:cNvPr>
          <p:cNvGrpSpPr/>
          <p:nvPr/>
        </p:nvGrpSpPr>
        <p:grpSpPr>
          <a:xfrm>
            <a:off x="4260165" y="3379798"/>
            <a:ext cx="3367763" cy="848045"/>
            <a:chOff x="1555202" y="3382358"/>
            <a:chExt cx="5491442" cy="76852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F83840E-0D4C-AF6D-BA62-9FAE8AB4DCDB}"/>
                </a:ext>
              </a:extLst>
            </p:cNvPr>
            <p:cNvSpPr/>
            <p:nvPr/>
          </p:nvSpPr>
          <p:spPr>
            <a:xfrm>
              <a:off x="1555202" y="3382358"/>
              <a:ext cx="5491442" cy="768522"/>
            </a:xfrm>
            <a:prstGeom prst="roundRect">
              <a:avLst/>
            </a:prstGeom>
            <a:solidFill>
              <a:srgbClr val="E6D5CA"/>
            </a:solidFill>
            <a:ln w="28575"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09630"/>
              <a:endParaRPr lang="en-BE" sz="1200" b="1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Text Placeholder 2">
              <a:extLst>
                <a:ext uri="{FF2B5EF4-FFF2-40B4-BE49-F238E27FC236}">
                  <a16:creationId xmlns:a16="http://schemas.microsoft.com/office/drawing/2014/main" id="{409B1579-A403-EBE9-AFC9-F6C3998EE62C}"/>
                </a:ext>
              </a:extLst>
            </p:cNvPr>
            <p:cNvSpPr txBox="1">
              <a:spLocks/>
            </p:cNvSpPr>
            <p:nvPr/>
          </p:nvSpPr>
          <p:spPr>
            <a:xfrm>
              <a:off x="2032534" y="3510218"/>
              <a:ext cx="4536776" cy="528464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 fontScale="92500" lnSpcReduction="2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>
                <a:spcBef>
                  <a:spcPts val="667"/>
                </a:spcBef>
              </a:pPr>
              <a:r>
                <a:rPr lang="en-US" sz="2133" b="1">
                  <a:solidFill>
                    <a:prstClr val="black"/>
                  </a:solidFill>
                </a:rPr>
                <a:t>GAP</a:t>
              </a:r>
            </a:p>
            <a:p>
              <a:pPr algn="ctr" defTabSz="609630">
                <a:spcBef>
                  <a:spcPts val="667"/>
                </a:spcBef>
              </a:pPr>
              <a:r>
                <a:rPr lang="en-US" sz="2133" b="1">
                  <a:solidFill>
                    <a:prstClr val="black"/>
                  </a:solidFill>
                </a:rPr>
                <a:t>(</a:t>
              </a:r>
              <a:r>
                <a:rPr lang="en-US" sz="2133" b="1" u="sng">
                  <a:solidFill>
                    <a:prstClr val="black"/>
                  </a:solidFill>
                </a:rPr>
                <a:t>Problem</a:t>
              </a:r>
              <a:r>
                <a:rPr lang="en-US" sz="2133" b="1">
                  <a:solidFill>
                    <a:prstClr val="black"/>
                  </a:solidFill>
                </a:rPr>
                <a:t>)</a:t>
              </a:r>
            </a:p>
            <a:p>
              <a:pPr algn="ctr" defTabSz="609630">
                <a:spcBef>
                  <a:spcPts val="667"/>
                </a:spcBef>
              </a:pPr>
              <a:endParaRPr lang="en-BE" sz="2133" b="1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2F0CFFE-7694-F90C-F1B1-420C463E3287}"/>
              </a:ext>
            </a:extLst>
          </p:cNvPr>
          <p:cNvSpPr txBox="1">
            <a:spLocks/>
          </p:cNvSpPr>
          <p:nvPr/>
        </p:nvSpPr>
        <p:spPr>
          <a:xfrm>
            <a:off x="527776" y="3592200"/>
            <a:ext cx="3366681" cy="4654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1867" dirty="0">
                <a:solidFill>
                  <a:prstClr val="black"/>
                </a:solidFill>
              </a:rPr>
              <a:t>“Where are we right now?”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5D54B1F-E5B8-EBC1-818E-80C8E2AD5F79}"/>
              </a:ext>
            </a:extLst>
          </p:cNvPr>
          <p:cNvSpPr txBox="1">
            <a:spLocks/>
          </p:cNvSpPr>
          <p:nvPr/>
        </p:nvSpPr>
        <p:spPr>
          <a:xfrm>
            <a:off x="4297742" y="4255906"/>
            <a:ext cx="3438462" cy="38342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1867" dirty="0">
                <a:solidFill>
                  <a:prstClr val="black"/>
                </a:solidFill>
              </a:rPr>
              <a:t>“What is stopping us from getting to the ideal situation?”  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7F60DFF-64D6-98B2-F7E0-E7A10370D552}"/>
              </a:ext>
            </a:extLst>
          </p:cNvPr>
          <p:cNvSpPr/>
          <p:nvPr/>
        </p:nvSpPr>
        <p:spPr>
          <a:xfrm>
            <a:off x="3040674" y="5129229"/>
            <a:ext cx="5951217" cy="47987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33" name="Isosceles Triangle 134">
            <a:extLst>
              <a:ext uri="{FF2B5EF4-FFF2-40B4-BE49-F238E27FC236}">
                <a16:creationId xmlns:a16="http://schemas.microsoft.com/office/drawing/2014/main" id="{85FBF464-485F-6A2D-DE48-1C735E031012}"/>
              </a:ext>
            </a:extLst>
          </p:cNvPr>
          <p:cNvSpPr/>
          <p:nvPr/>
        </p:nvSpPr>
        <p:spPr>
          <a:xfrm rot="10800000">
            <a:off x="7360787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872574-5B72-9476-09E9-401600E97E35}"/>
              </a:ext>
            </a:extLst>
          </p:cNvPr>
          <p:cNvSpPr txBox="1">
            <a:spLocks/>
          </p:cNvSpPr>
          <p:nvPr/>
        </p:nvSpPr>
        <p:spPr>
          <a:xfrm>
            <a:off x="4493600" y="5187327"/>
            <a:ext cx="1990751" cy="696000"/>
          </a:xfrm>
          <a:prstGeom prst="rect">
            <a:avLst/>
          </a:prstGeom>
        </p:spPr>
        <p:txBody>
          <a:bodyPr vert="horz" wrap="square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2133" b="1">
                <a:solidFill>
                  <a:prstClr val="black"/>
                </a:solidFill>
              </a:rPr>
              <a:t>Ideal situation</a:t>
            </a:r>
            <a:endParaRPr lang="en-BE" sz="2133" b="1">
              <a:solidFill>
                <a:prstClr val="black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05F1D21-9797-D5B9-B2E1-2D46063CDCE3}"/>
              </a:ext>
            </a:extLst>
          </p:cNvPr>
          <p:cNvSpPr txBox="1">
            <a:spLocks/>
          </p:cNvSpPr>
          <p:nvPr/>
        </p:nvSpPr>
        <p:spPr>
          <a:xfrm>
            <a:off x="6630432" y="5183551"/>
            <a:ext cx="2312643" cy="696000"/>
          </a:xfrm>
          <a:prstGeom prst="rect">
            <a:avLst/>
          </a:prstGeom>
        </p:spPr>
        <p:txBody>
          <a:bodyPr vert="horz" wrap="square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2133" b="1">
                <a:solidFill>
                  <a:prstClr val="black"/>
                </a:solidFill>
              </a:rPr>
              <a:t>Current situation</a:t>
            </a:r>
            <a:endParaRPr lang="en-BE" sz="2133" b="1">
              <a:solidFill>
                <a:prstClr val="black"/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0E2F809-3E13-BBF6-C07A-5EC2EC785D06}"/>
              </a:ext>
            </a:extLst>
          </p:cNvPr>
          <p:cNvSpPr txBox="1">
            <a:spLocks/>
          </p:cNvSpPr>
          <p:nvPr/>
        </p:nvSpPr>
        <p:spPr>
          <a:xfrm>
            <a:off x="6449925" y="5161023"/>
            <a:ext cx="263824" cy="383723"/>
          </a:xfrm>
          <a:prstGeom prst="rect">
            <a:avLst/>
          </a:prstGeom>
        </p:spPr>
        <p:txBody>
          <a:bodyPr vert="horz" wrap="square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-</a:t>
            </a:r>
            <a:endParaRPr lang="en-BE" sz="2133">
              <a:solidFill>
                <a:prstClr val="black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0F4596-BC53-248A-B315-537F3481AD2C}"/>
              </a:ext>
            </a:extLst>
          </p:cNvPr>
          <p:cNvGrpSpPr/>
          <p:nvPr/>
        </p:nvGrpSpPr>
        <p:grpSpPr>
          <a:xfrm>
            <a:off x="-80818" y="-44236"/>
            <a:ext cx="1479263" cy="570514"/>
            <a:chOff x="-121228" y="-66354"/>
            <a:chExt cx="2218895" cy="85577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09BC4FC-0FFC-1928-BC1E-EB0C84CD1AFE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5" name="Text Placeholder 11">
              <a:extLst>
                <a:ext uri="{FF2B5EF4-FFF2-40B4-BE49-F238E27FC236}">
                  <a16:creationId xmlns:a16="http://schemas.microsoft.com/office/drawing/2014/main" id="{73E6916D-C19B-9F40-35A1-C159F5B11F89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Theory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3E4535C-3A47-5DE9-328A-38FBED1162B7}"/>
              </a:ext>
            </a:extLst>
          </p:cNvPr>
          <p:cNvGrpSpPr/>
          <p:nvPr/>
        </p:nvGrpSpPr>
        <p:grpSpPr>
          <a:xfrm>
            <a:off x="828030" y="2789896"/>
            <a:ext cx="2905589" cy="874045"/>
            <a:chOff x="306293" y="-90545"/>
            <a:chExt cx="1876835" cy="879962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4131481-E2C3-B44A-4181-847C6BBC15F7}"/>
                </a:ext>
              </a:extLst>
            </p:cNvPr>
            <p:cNvSpPr/>
            <p:nvPr/>
          </p:nvSpPr>
          <p:spPr>
            <a:xfrm flipH="1" flipV="1">
              <a:off x="306293" y="-90545"/>
              <a:ext cx="1868069" cy="59389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9" name="Text Placeholder 11">
              <a:extLst>
                <a:ext uri="{FF2B5EF4-FFF2-40B4-BE49-F238E27FC236}">
                  <a16:creationId xmlns:a16="http://schemas.microsoft.com/office/drawing/2014/main" id="{155310C7-CC1B-F3CF-1AFB-A3D89CE61985}"/>
                </a:ext>
              </a:extLst>
            </p:cNvPr>
            <p:cNvSpPr txBox="1">
              <a:spLocks/>
            </p:cNvSpPr>
            <p:nvPr/>
          </p:nvSpPr>
          <p:spPr>
            <a:xfrm>
              <a:off x="344857" y="14784"/>
              <a:ext cx="1838271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133" dirty="0">
                  <a:solidFill>
                    <a:prstClr val="black"/>
                  </a:solidFill>
                </a:rPr>
                <a:t>CURRENT SITUATION   </a:t>
              </a:r>
              <a:endParaRPr lang="en-BE" sz="2133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B7B173-1AEA-809F-4A10-33A57BF9236D}"/>
              </a:ext>
            </a:extLst>
          </p:cNvPr>
          <p:cNvGrpSpPr/>
          <p:nvPr/>
        </p:nvGrpSpPr>
        <p:grpSpPr>
          <a:xfrm>
            <a:off x="8240361" y="2789896"/>
            <a:ext cx="2905589" cy="874045"/>
            <a:chOff x="306293" y="-90545"/>
            <a:chExt cx="1876835" cy="87996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B75F801-739D-DB66-8FCC-FB9A25C4754D}"/>
                </a:ext>
              </a:extLst>
            </p:cNvPr>
            <p:cNvSpPr/>
            <p:nvPr/>
          </p:nvSpPr>
          <p:spPr>
            <a:xfrm flipH="1" flipV="1">
              <a:off x="306293" y="-90545"/>
              <a:ext cx="1868069" cy="59389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" name="Text Placeholder 11">
              <a:extLst>
                <a:ext uri="{FF2B5EF4-FFF2-40B4-BE49-F238E27FC236}">
                  <a16:creationId xmlns:a16="http://schemas.microsoft.com/office/drawing/2014/main" id="{F06DA7E7-06C3-A571-055E-8FBB9815F162}"/>
                </a:ext>
              </a:extLst>
            </p:cNvPr>
            <p:cNvSpPr txBox="1">
              <a:spLocks/>
            </p:cNvSpPr>
            <p:nvPr/>
          </p:nvSpPr>
          <p:spPr>
            <a:xfrm>
              <a:off x="344857" y="14784"/>
              <a:ext cx="1838271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>
                <a:spcBef>
                  <a:spcPts val="667"/>
                </a:spcBef>
              </a:pPr>
              <a:r>
                <a:rPr lang="en-US" sz="2133">
                  <a:solidFill>
                    <a:prstClr val="black"/>
                  </a:solidFill>
                </a:rPr>
                <a:t>IDEAL SITUATION   </a:t>
              </a:r>
              <a:endParaRPr lang="en-BE" sz="2133">
                <a:solidFill>
                  <a:prstClr val="black"/>
                </a:solidFill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C7246B0-53E9-6B46-28A9-98E8966231F4}"/>
              </a:ext>
            </a:extLst>
          </p:cNvPr>
          <p:cNvCxnSpPr>
            <a:cxnSpLocks/>
          </p:cNvCxnSpPr>
          <p:nvPr/>
        </p:nvCxnSpPr>
        <p:spPr>
          <a:xfrm flipH="1">
            <a:off x="296096" y="4212903"/>
            <a:ext cx="3855643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EA7470C-E5E9-B937-724A-6E6EA4F1F339}"/>
              </a:ext>
            </a:extLst>
          </p:cNvPr>
          <p:cNvCxnSpPr>
            <a:cxnSpLocks/>
          </p:cNvCxnSpPr>
          <p:nvPr/>
        </p:nvCxnSpPr>
        <p:spPr>
          <a:xfrm flipV="1">
            <a:off x="4151739" y="2900055"/>
            <a:ext cx="149" cy="132778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15CCC46-890E-92CE-B10B-53CEFD553E83}"/>
              </a:ext>
            </a:extLst>
          </p:cNvPr>
          <p:cNvCxnSpPr>
            <a:cxnSpLocks/>
          </p:cNvCxnSpPr>
          <p:nvPr/>
        </p:nvCxnSpPr>
        <p:spPr>
          <a:xfrm flipH="1">
            <a:off x="7736204" y="4212903"/>
            <a:ext cx="4126585" cy="0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B536D5D-CDA7-DE5F-B394-FFD73CCA4579}"/>
              </a:ext>
            </a:extLst>
          </p:cNvPr>
          <p:cNvCxnSpPr>
            <a:cxnSpLocks/>
          </p:cNvCxnSpPr>
          <p:nvPr/>
        </p:nvCxnSpPr>
        <p:spPr>
          <a:xfrm flipV="1">
            <a:off x="7736204" y="2900055"/>
            <a:ext cx="149" cy="1327789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39E8C7D-D9CC-1B9B-609C-C2615F0C4F43}"/>
              </a:ext>
            </a:extLst>
          </p:cNvPr>
          <p:cNvCxnSpPr>
            <a:cxnSpLocks/>
          </p:cNvCxnSpPr>
          <p:nvPr/>
        </p:nvCxnSpPr>
        <p:spPr>
          <a:xfrm>
            <a:off x="4237714" y="3279229"/>
            <a:ext cx="3403489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ysDot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A2E4E71-ED3A-FC56-93F1-E6B36849EDD3}"/>
              </a:ext>
            </a:extLst>
          </p:cNvPr>
          <p:cNvGrpSpPr/>
          <p:nvPr/>
        </p:nvGrpSpPr>
        <p:grpSpPr>
          <a:xfrm rot="5400000" flipV="1">
            <a:off x="5620504" y="110208"/>
            <a:ext cx="445776" cy="4812709"/>
            <a:chOff x="1245010" y="4615833"/>
            <a:chExt cx="668664" cy="2712501"/>
          </a:xfrm>
        </p:grpSpPr>
        <p:cxnSp>
          <p:nvCxnSpPr>
            <p:cNvPr id="59" name="Curved Connector 21">
              <a:extLst>
                <a:ext uri="{FF2B5EF4-FFF2-40B4-BE49-F238E27FC236}">
                  <a16:creationId xmlns:a16="http://schemas.microsoft.com/office/drawing/2014/main" id="{5AB052F9-89CC-4C55-EE64-51F31D61C03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45010" y="4615833"/>
              <a:ext cx="668664" cy="1026401"/>
            </a:xfrm>
            <a:prstGeom prst="curvedConnector2">
              <a:avLst/>
            </a:prstGeom>
            <a:ln w="635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urved Connector 25">
              <a:extLst>
                <a:ext uri="{FF2B5EF4-FFF2-40B4-BE49-F238E27FC236}">
                  <a16:creationId xmlns:a16="http://schemas.microsoft.com/office/drawing/2014/main" id="{B669EFDE-6D68-98E1-509B-86CD08A5C93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068192" y="6482852"/>
              <a:ext cx="1022300" cy="668664"/>
            </a:xfrm>
            <a:prstGeom prst="curvedConnector2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E1298DAF-0970-846E-713E-E3407173FC44}"/>
              </a:ext>
            </a:extLst>
          </p:cNvPr>
          <p:cNvSpPr txBox="1">
            <a:spLocks/>
          </p:cNvSpPr>
          <p:nvPr/>
        </p:nvSpPr>
        <p:spPr>
          <a:xfrm>
            <a:off x="4089868" y="2085164"/>
            <a:ext cx="3438462" cy="38342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2133" b="1">
                <a:solidFill>
                  <a:prstClr val="black"/>
                </a:solidFill>
              </a:rPr>
              <a:t>To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B17515FF-05D3-1DC1-9564-3EE7C238D6EC}"/>
              </a:ext>
            </a:extLst>
          </p:cNvPr>
          <p:cNvSpPr txBox="1">
            <a:spLocks/>
          </p:cNvSpPr>
          <p:nvPr/>
        </p:nvSpPr>
        <p:spPr>
          <a:xfrm>
            <a:off x="2975325" y="5185644"/>
            <a:ext cx="1643632" cy="457037"/>
          </a:xfrm>
          <a:prstGeom prst="rect">
            <a:avLst/>
          </a:prstGeom>
        </p:spPr>
        <p:txBody>
          <a:bodyPr vert="horz" wrap="square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2133" b="1">
                <a:solidFill>
                  <a:prstClr val="black"/>
                </a:solidFill>
              </a:rPr>
              <a:t>Problem  =</a:t>
            </a:r>
            <a:endParaRPr lang="en-BE" sz="2133" b="1">
              <a:solidFill>
                <a:prstClr val="black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0A1BC70-72C4-FD95-2E8A-CA0F7FC834C3}"/>
              </a:ext>
            </a:extLst>
          </p:cNvPr>
          <p:cNvCxnSpPr>
            <a:cxnSpLocks/>
          </p:cNvCxnSpPr>
          <p:nvPr/>
        </p:nvCxnSpPr>
        <p:spPr>
          <a:xfrm>
            <a:off x="5939457" y="4876800"/>
            <a:ext cx="0" cy="24668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20F868F-EBA1-E70D-8DBE-1D8257A45BA5}"/>
              </a:ext>
            </a:extLst>
          </p:cNvPr>
          <p:cNvSpPr/>
          <p:nvPr/>
        </p:nvSpPr>
        <p:spPr>
          <a:xfrm>
            <a:off x="1699092" y="5842237"/>
            <a:ext cx="10163697" cy="6693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/>
            <a:r>
              <a:rPr lang="en-GB" sz="2133" dirty="0">
                <a:solidFill>
                  <a:prstClr val="black"/>
                </a:solidFill>
                <a:latin typeface="Alata" panose="020B0604020202020204" charset="0"/>
              </a:rPr>
              <a:t> A clear problem statement that describes the gap between current and ideal situation.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A581E6F-818D-56A1-47E0-5C8B35A01CAB}"/>
              </a:ext>
            </a:extLst>
          </p:cNvPr>
          <p:cNvSpPr/>
          <p:nvPr/>
        </p:nvSpPr>
        <p:spPr>
          <a:xfrm>
            <a:off x="463533" y="5842236"/>
            <a:ext cx="1235559" cy="669302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Output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469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8FE7-66E6-718E-F681-965FE400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AEB719D-B516-CF06-C7C2-792A8101076D}"/>
              </a:ext>
            </a:extLst>
          </p:cNvPr>
          <p:cNvSpPr/>
          <p:nvPr/>
        </p:nvSpPr>
        <p:spPr>
          <a:xfrm>
            <a:off x="558800" y="1379885"/>
            <a:ext cx="5622545" cy="529139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endParaRPr lang="en-US" sz="1867" noProof="1">
              <a:solidFill>
                <a:prstClr val="black"/>
              </a:solidFill>
              <a:latin typeface="Alata" panose="020B060402020202020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4160D2-514C-EE1C-0668-12A66B191893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ircle: Hollow 28">
            <a:extLst>
              <a:ext uri="{FF2B5EF4-FFF2-40B4-BE49-F238E27FC236}">
                <a16:creationId xmlns:a16="http://schemas.microsoft.com/office/drawing/2014/main" id="{9934591C-0206-BD94-C2D9-F4134338F3C8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Graphic 18" descr="Books with solid fill">
            <a:extLst>
              <a:ext uri="{FF2B5EF4-FFF2-40B4-BE49-F238E27FC236}">
                <a16:creationId xmlns:a16="http://schemas.microsoft.com/office/drawing/2014/main" id="{EA657AFA-91C8-7496-C155-D5C86CBBC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634" y="1412728"/>
            <a:ext cx="434502" cy="43450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BC91120-68A9-5268-9B1E-77CD120DC893}"/>
              </a:ext>
            </a:extLst>
          </p:cNvPr>
          <p:cNvSpPr txBox="1">
            <a:spLocks/>
          </p:cNvSpPr>
          <p:nvPr/>
        </p:nvSpPr>
        <p:spPr>
          <a:xfrm>
            <a:off x="1136676" y="1423661"/>
            <a:ext cx="4959325" cy="441584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Success criteria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6EA355-D22C-5021-4B05-D79C8F08C05D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6EED070-BC42-D038-D615-D107BC7EC312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5B09673-B6E0-722F-C316-7124D6919A16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94083C7-F046-86A0-290C-9F43906D497F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57436DF-A60B-7289-A968-3257F8B87D5E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3E62408-ADC7-2852-D70C-3BB303AD418D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AC8D8E7-86B3-090A-82F2-4A325564899C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F99FD6E-97B8-757D-D309-201DF00ED137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28BC8F6-AA65-EE0C-DFB1-A09E1A4CCDE7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07944E7-0D6B-AF8E-9B81-E13C50E45302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6" name="Graphic 5" descr="Information outline">
              <a:extLst>
                <a:ext uri="{FF2B5EF4-FFF2-40B4-BE49-F238E27FC236}">
                  <a16:creationId xmlns:a16="http://schemas.microsoft.com/office/drawing/2014/main" id="{6177C247-271F-DC87-C3A1-872E94F8F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" name="Graphic 6" descr="Abacus outline">
              <a:extLst>
                <a:ext uri="{FF2B5EF4-FFF2-40B4-BE49-F238E27FC236}">
                  <a16:creationId xmlns:a16="http://schemas.microsoft.com/office/drawing/2014/main" id="{8BDB511D-FB13-1296-A1B7-F2A8711B7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8" name="Graphic 7" descr="Target outline">
              <a:extLst>
                <a:ext uri="{FF2B5EF4-FFF2-40B4-BE49-F238E27FC236}">
                  <a16:creationId xmlns:a16="http://schemas.microsoft.com/office/drawing/2014/main" id="{2F13F5B8-60A9-9E92-AEDF-38DDA1425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" name="Graphic 8" descr="Clipboard Mixed outline">
              <a:extLst>
                <a:ext uri="{FF2B5EF4-FFF2-40B4-BE49-F238E27FC236}">
                  <a16:creationId xmlns:a16="http://schemas.microsoft.com/office/drawing/2014/main" id="{89CD9EF4-32D5-F47F-FD94-54D3ABCC7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0" name="Graphic 9" descr="Gears outline">
              <a:extLst>
                <a:ext uri="{FF2B5EF4-FFF2-40B4-BE49-F238E27FC236}">
                  <a16:creationId xmlns:a16="http://schemas.microsoft.com/office/drawing/2014/main" id="{020D3207-8D04-1FCC-593C-3E0FB30E1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" name="Graphic 11" descr="Bar graph with upward trend outline">
              <a:extLst>
                <a:ext uri="{FF2B5EF4-FFF2-40B4-BE49-F238E27FC236}">
                  <a16:creationId xmlns:a16="http://schemas.microsoft.com/office/drawing/2014/main" id="{A2805D88-9938-0405-EE16-3326EEEEC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3" name="Graphic 12" descr="Classroom outline">
              <a:extLst>
                <a:ext uri="{FF2B5EF4-FFF2-40B4-BE49-F238E27FC236}">
                  <a16:creationId xmlns:a16="http://schemas.microsoft.com/office/drawing/2014/main" id="{9E13ACA7-BC71-4EF2-48CC-FEDD0F527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FC4EF83B-8FE7-DD5C-A01C-3F7B84EAD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7E55C80-8DB9-D912-2A59-71CF0ED8D6E0}"/>
              </a:ext>
            </a:extLst>
          </p:cNvPr>
          <p:cNvSpPr txBox="1"/>
          <p:nvPr/>
        </p:nvSpPr>
        <p:spPr>
          <a:xfrm>
            <a:off x="705448" y="1918732"/>
            <a:ext cx="10779190" cy="380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Ideal &amp; Current are measurable </a:t>
            </a:r>
          </a:p>
          <a:p>
            <a:pPr marL="495325" indent="-495325" defTabSz="6096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Using the gap as reference, make your final mission statement using the 5W2H method 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Gap is quantified (time, %, €, volume)  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Focus on the facts, not opinions </a:t>
            </a:r>
            <a:endParaRPr lang="en-BE" sz="240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1C0EA4-04C8-CCD5-A951-2915AFB2D7B4}"/>
              </a:ext>
            </a:extLst>
          </p:cNvPr>
          <p:cNvSpPr txBox="1"/>
          <p:nvPr/>
        </p:nvSpPr>
        <p:spPr>
          <a:xfrm>
            <a:off x="3293696" y="3578701"/>
            <a:ext cx="53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16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(What, Who, Why, Where, When, How &amp; How much)</a:t>
            </a:r>
            <a:endParaRPr lang="en-BE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98AE008-D9DF-2F0E-3DAF-DB208DF0E554}"/>
              </a:ext>
            </a:extLst>
          </p:cNvPr>
          <p:cNvSpPr/>
          <p:nvPr/>
        </p:nvSpPr>
        <p:spPr>
          <a:xfrm>
            <a:off x="1827843" y="6209959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Isosceles Triangle 134">
            <a:extLst>
              <a:ext uri="{FF2B5EF4-FFF2-40B4-BE49-F238E27FC236}">
                <a16:creationId xmlns:a16="http://schemas.microsoft.com/office/drawing/2014/main" id="{C81C30C1-A5A3-E3A1-D005-12555D161B75}"/>
              </a:ext>
            </a:extLst>
          </p:cNvPr>
          <p:cNvSpPr/>
          <p:nvPr/>
        </p:nvSpPr>
        <p:spPr>
          <a:xfrm rot="10800000">
            <a:off x="7360787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42D95DFC-D63B-AB28-9CDB-01227E25D92E}"/>
              </a:ext>
            </a:extLst>
          </p:cNvPr>
          <p:cNvSpPr txBox="1">
            <a:spLocks/>
          </p:cNvSpPr>
          <p:nvPr/>
        </p:nvSpPr>
        <p:spPr>
          <a:xfrm>
            <a:off x="382661" y="718099"/>
            <a:ext cx="7192550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1: Clarify the problem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2D1E2D-1289-F799-203D-DD0085D87765}"/>
              </a:ext>
            </a:extLst>
          </p:cNvPr>
          <p:cNvGrpSpPr/>
          <p:nvPr/>
        </p:nvGrpSpPr>
        <p:grpSpPr>
          <a:xfrm>
            <a:off x="-80819" y="-44236"/>
            <a:ext cx="2932876" cy="617260"/>
            <a:chOff x="-121228" y="-66354"/>
            <a:chExt cx="2218895" cy="85577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80429D6-2EA7-49D1-9E95-961F69F994D7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Text Placeholder 11">
              <a:extLst>
                <a:ext uri="{FF2B5EF4-FFF2-40B4-BE49-F238E27FC236}">
                  <a16:creationId xmlns:a16="http://schemas.microsoft.com/office/drawing/2014/main" id="{559C111F-6362-38FD-E5CF-D2BE9A848919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Best Practices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12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EE831-9701-8485-0F90-20B0FDCB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5C45841-9177-5BE0-B64B-F104652A1929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1DF9E36-1C6C-9E03-8442-7138E7D25D29}"/>
              </a:ext>
            </a:extLst>
          </p:cNvPr>
          <p:cNvGrpSpPr/>
          <p:nvPr/>
        </p:nvGrpSpPr>
        <p:grpSpPr>
          <a:xfrm>
            <a:off x="7223348" y="279018"/>
            <a:ext cx="4639441" cy="575000"/>
            <a:chOff x="5677807" y="418528"/>
            <a:chExt cx="6215923" cy="7578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3C82E9D-3658-0646-21CF-85078B3FDB19}"/>
                </a:ext>
              </a:extLst>
            </p:cNvPr>
            <p:cNvGrpSpPr/>
            <p:nvPr/>
          </p:nvGrpSpPr>
          <p:grpSpPr>
            <a:xfrm>
              <a:off x="5690113" y="444434"/>
              <a:ext cx="6203617" cy="685834"/>
              <a:chOff x="995673" y="8188180"/>
              <a:chExt cx="9681199" cy="1057407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80AD7B4-7758-F8B7-177C-67E7B7D006A4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03909D-1B94-6942-7FCE-02B0D52B6DD2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1AD7035-8290-0D7D-02C3-B80B92EDE719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AC5401B-6E9E-4293-FD70-3B0A8A3CD0C2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061A119-B6AF-D388-8365-B09CF3ED4C35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7B4610B-363C-BE53-FF74-676C0C9C1F92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16061AA-73D0-B886-9D78-6F4B60B08C6A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3937282-86E3-32A4-8B59-5AFA9989EB36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7" name="Graphic 6" descr="Information outline">
              <a:extLst>
                <a:ext uri="{FF2B5EF4-FFF2-40B4-BE49-F238E27FC236}">
                  <a16:creationId xmlns:a16="http://schemas.microsoft.com/office/drawing/2014/main" id="{A5830F88-BA97-43AB-2D1C-CC65BCEA5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8" name="Graphic 7" descr="Abacus outline">
              <a:extLst>
                <a:ext uri="{FF2B5EF4-FFF2-40B4-BE49-F238E27FC236}">
                  <a16:creationId xmlns:a16="http://schemas.microsoft.com/office/drawing/2014/main" id="{57DECF9E-99BA-2AE1-5B06-C455BB8E8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9" name="Graphic 8" descr="Target outline">
              <a:extLst>
                <a:ext uri="{FF2B5EF4-FFF2-40B4-BE49-F238E27FC236}">
                  <a16:creationId xmlns:a16="http://schemas.microsoft.com/office/drawing/2014/main" id="{2EBCCF87-4462-122E-0757-D0DF309CE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12" name="Graphic 11" descr="Clipboard Mixed outline">
              <a:extLst>
                <a:ext uri="{FF2B5EF4-FFF2-40B4-BE49-F238E27FC236}">
                  <a16:creationId xmlns:a16="http://schemas.microsoft.com/office/drawing/2014/main" id="{7E4BC084-67EC-6285-8E19-D7D3BCBBA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3" name="Graphic 12" descr="Gears outline">
              <a:extLst>
                <a:ext uri="{FF2B5EF4-FFF2-40B4-BE49-F238E27FC236}">
                  <a16:creationId xmlns:a16="http://schemas.microsoft.com/office/drawing/2014/main" id="{063D3A55-6903-5FC4-9D29-F1B00F6D2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6" name="Graphic 15" descr="Bar graph with upward trend outline">
              <a:extLst>
                <a:ext uri="{FF2B5EF4-FFF2-40B4-BE49-F238E27FC236}">
                  <a16:creationId xmlns:a16="http://schemas.microsoft.com/office/drawing/2014/main" id="{F37912CC-DE76-C01D-188C-F35A9FE7D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8" name="Graphic 17" descr="Classroom outline">
              <a:extLst>
                <a:ext uri="{FF2B5EF4-FFF2-40B4-BE49-F238E27FC236}">
                  <a16:creationId xmlns:a16="http://schemas.microsoft.com/office/drawing/2014/main" id="{5C475DF4-F3FA-07E4-CC75-CF50818AA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20" name="Graphic 19" descr="Question Mark outline">
              <a:extLst>
                <a:ext uri="{FF2B5EF4-FFF2-40B4-BE49-F238E27FC236}">
                  <a16:creationId xmlns:a16="http://schemas.microsoft.com/office/drawing/2014/main" id="{B118D530-9498-2207-1E70-CD17B71BE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2584F738-BE0A-72D7-6685-F92C010C9B1F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Graphic 30" descr="Postit Notes with solid fill">
            <a:extLst>
              <a:ext uri="{FF2B5EF4-FFF2-40B4-BE49-F238E27FC236}">
                <a16:creationId xmlns:a16="http://schemas.microsoft.com/office/drawing/2014/main" id="{9FF960C0-894F-C39C-844E-690C0A8E654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1011" y="1111589"/>
            <a:ext cx="633009" cy="633009"/>
          </a:xfrm>
          <a:prstGeom prst="rect">
            <a:avLst/>
          </a:prstGeom>
        </p:spPr>
      </p:pic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4D8876B8-14C7-1522-CD1C-B7AAB7F0E797}"/>
              </a:ext>
            </a:extLst>
          </p:cNvPr>
          <p:cNvSpPr txBox="1">
            <a:spLocks/>
          </p:cNvSpPr>
          <p:nvPr/>
        </p:nvSpPr>
        <p:spPr>
          <a:xfrm>
            <a:off x="752292" y="1144541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endParaRPr lang="en-BE" sz="2400">
              <a:solidFill>
                <a:prstClr val="black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223B7E-40A7-94DE-E077-535A8304D818}"/>
              </a:ext>
            </a:extLst>
          </p:cNvPr>
          <p:cNvSpPr/>
          <p:nvPr/>
        </p:nvSpPr>
        <p:spPr>
          <a:xfrm>
            <a:off x="4155299" y="3180513"/>
            <a:ext cx="3906301" cy="1532109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DA3477-1811-54BA-F19B-CFE75A9912F2}"/>
              </a:ext>
            </a:extLst>
          </p:cNvPr>
          <p:cNvSpPr/>
          <p:nvPr/>
        </p:nvSpPr>
        <p:spPr>
          <a:xfrm>
            <a:off x="8262840" y="2748204"/>
            <a:ext cx="3734255" cy="209080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AF0E43-4149-4E05-0AB4-0E6CE8318F7D}"/>
              </a:ext>
            </a:extLst>
          </p:cNvPr>
          <p:cNvGrpSpPr/>
          <p:nvPr/>
        </p:nvGrpSpPr>
        <p:grpSpPr>
          <a:xfrm>
            <a:off x="8326801" y="2358755"/>
            <a:ext cx="3561763" cy="512348"/>
            <a:chOff x="1555202" y="3382358"/>
            <a:chExt cx="5491442" cy="768522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C7F2011-420D-7C40-C047-325DB9007835}"/>
                </a:ext>
              </a:extLst>
            </p:cNvPr>
            <p:cNvSpPr/>
            <p:nvPr/>
          </p:nvSpPr>
          <p:spPr>
            <a:xfrm>
              <a:off x="1555202" y="3382358"/>
              <a:ext cx="5491442" cy="768522"/>
            </a:xfrm>
            <a:prstGeom prst="roundRect">
              <a:avLst/>
            </a:prstGeom>
            <a:grpFill/>
            <a:ln w="2857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5B30938A-4C94-4BC0-EC5C-7F3CDBD4ADE1}"/>
                </a:ext>
              </a:extLst>
            </p:cNvPr>
            <p:cNvSpPr txBox="1">
              <a:spLocks/>
            </p:cNvSpPr>
            <p:nvPr/>
          </p:nvSpPr>
          <p:spPr>
            <a:xfrm>
              <a:off x="2032535" y="3517526"/>
              <a:ext cx="4536776" cy="618181"/>
            </a:xfrm>
            <a:prstGeom prst="rect">
              <a:avLst/>
            </a:prstGeom>
            <a:grp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>
                <a:spcBef>
                  <a:spcPts val="667"/>
                </a:spcBef>
              </a:pPr>
              <a:r>
                <a:rPr lang="en-US" sz="2133" dirty="0">
                  <a:solidFill>
                    <a:prstClr val="black"/>
                  </a:solidFill>
                </a:rPr>
                <a:t>IDEAL SITUATION </a:t>
              </a:r>
              <a:endParaRPr lang="en-BE" sz="2133" dirty="0">
                <a:solidFill>
                  <a:prstClr val="black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5D73282-FC08-600C-4917-4F1FB5170012}"/>
              </a:ext>
            </a:extLst>
          </p:cNvPr>
          <p:cNvSpPr txBox="1"/>
          <p:nvPr/>
        </p:nvSpPr>
        <p:spPr>
          <a:xfrm>
            <a:off x="261011" y="5031980"/>
            <a:ext cx="11736084" cy="153995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l" defTabSz="609630">
              <a:spcBef>
                <a:spcPts val="667"/>
              </a:spcBef>
            </a:pPr>
            <a:r>
              <a:rPr lang="en-US" sz="2133" b="1" i="0" u="sng" dirty="0">
                <a:solidFill>
                  <a:prstClr val="black"/>
                </a:solidFill>
              </a:rPr>
              <a:t>Problem statement:</a:t>
            </a:r>
            <a:r>
              <a:rPr lang="en-US" sz="2133" i="0" dirty="0">
                <a:solidFill>
                  <a:prstClr val="black"/>
                </a:solidFill>
              </a:rPr>
              <a:t> </a:t>
            </a:r>
          </a:p>
          <a:p>
            <a:pPr algn="l" defTabSz="609630">
              <a:spcBef>
                <a:spcPts val="667"/>
              </a:spcBef>
            </a:pPr>
            <a:r>
              <a:rPr lang="en-US" sz="2133" i="0" dirty="0" err="1">
                <a:solidFill>
                  <a:prstClr val="black"/>
                </a:solidFill>
              </a:rPr>
              <a:t>Emazon’s</a:t>
            </a:r>
            <a:r>
              <a:rPr lang="en-US" sz="2133" i="0" dirty="0">
                <a:solidFill>
                  <a:prstClr val="black"/>
                </a:solidFill>
              </a:rPr>
              <a:t> on-time delivery performance is currently lagging behind industry benchmarks by </a:t>
            </a:r>
            <a:r>
              <a:rPr lang="en-US" sz="2133" b="1" i="0" dirty="0">
                <a:solidFill>
                  <a:prstClr val="black"/>
                </a:solidFill>
              </a:rPr>
              <a:t>15 percentage points</a:t>
            </a:r>
            <a:r>
              <a:rPr lang="en-US" sz="2133" i="0" dirty="0">
                <a:solidFill>
                  <a:prstClr val="black"/>
                </a:solidFill>
              </a:rPr>
              <a:t> compared to the ≤3% gap typically seen in the industry. </a:t>
            </a:r>
            <a:endParaRPr lang="en-US" sz="1867" i="0" dirty="0">
              <a:solidFill>
                <a:prstClr val="black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B0F552B-7A1B-D63B-F13D-92DE0ED66CB6}"/>
              </a:ext>
            </a:extLst>
          </p:cNvPr>
          <p:cNvGrpSpPr/>
          <p:nvPr/>
        </p:nvGrpSpPr>
        <p:grpSpPr>
          <a:xfrm>
            <a:off x="4227209" y="2763355"/>
            <a:ext cx="3720859" cy="512348"/>
            <a:chOff x="1555202" y="3382358"/>
            <a:chExt cx="5491442" cy="768522"/>
          </a:xfrm>
          <a:solidFill>
            <a:schemeClr val="bg1">
              <a:lumMod val="85000"/>
            </a:schemeClr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3437075-1BC0-4D6E-DE24-5146FF3A522C}"/>
                </a:ext>
              </a:extLst>
            </p:cNvPr>
            <p:cNvSpPr/>
            <p:nvPr/>
          </p:nvSpPr>
          <p:spPr>
            <a:xfrm>
              <a:off x="1555202" y="3382358"/>
              <a:ext cx="5491442" cy="768522"/>
            </a:xfrm>
            <a:prstGeom prst="roundRect">
              <a:avLst/>
            </a:prstGeom>
            <a:grp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09630"/>
              <a:endParaRPr lang="en-BE" sz="12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" name="Text Placeholder 2">
              <a:extLst>
                <a:ext uri="{FF2B5EF4-FFF2-40B4-BE49-F238E27FC236}">
                  <a16:creationId xmlns:a16="http://schemas.microsoft.com/office/drawing/2014/main" id="{07365EEE-2B98-6676-B9D4-195F1D97BFBE}"/>
                </a:ext>
              </a:extLst>
            </p:cNvPr>
            <p:cNvSpPr txBox="1">
              <a:spLocks/>
            </p:cNvSpPr>
            <p:nvPr/>
          </p:nvSpPr>
          <p:spPr>
            <a:xfrm>
              <a:off x="2032535" y="3517526"/>
              <a:ext cx="4536776" cy="618181"/>
            </a:xfrm>
            <a:prstGeom prst="rect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>
                <a:spcBef>
                  <a:spcPts val="667"/>
                </a:spcBef>
              </a:pPr>
              <a:r>
                <a:rPr lang="en-US" sz="2133" b="1" dirty="0">
                  <a:solidFill>
                    <a:prstClr val="black"/>
                  </a:solidFill>
                </a:rPr>
                <a:t>GAP</a:t>
              </a:r>
              <a:endParaRPr lang="en-BE" sz="2133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5F3C442-B959-55D4-90D6-75FFBBE7ED4C}"/>
              </a:ext>
            </a:extLst>
          </p:cNvPr>
          <p:cNvSpPr/>
          <p:nvPr/>
        </p:nvSpPr>
        <p:spPr>
          <a:xfrm>
            <a:off x="143626" y="2620808"/>
            <a:ext cx="3852093" cy="2210049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EDBB872-2BF2-1831-FC4E-F930AF1BABD3}"/>
              </a:ext>
            </a:extLst>
          </p:cNvPr>
          <p:cNvGrpSpPr/>
          <p:nvPr/>
        </p:nvGrpSpPr>
        <p:grpSpPr>
          <a:xfrm>
            <a:off x="179778" y="2272498"/>
            <a:ext cx="3772026" cy="512348"/>
            <a:chOff x="1555202" y="3382358"/>
            <a:chExt cx="5491442" cy="768522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9CCAD1D-7697-D883-363E-08E6B0A33EAB}"/>
                </a:ext>
              </a:extLst>
            </p:cNvPr>
            <p:cNvSpPr/>
            <p:nvPr/>
          </p:nvSpPr>
          <p:spPr>
            <a:xfrm>
              <a:off x="1555202" y="3382358"/>
              <a:ext cx="5491442" cy="768522"/>
            </a:xfrm>
            <a:prstGeom prst="roundRect">
              <a:avLst/>
            </a:prstGeom>
            <a:grp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09630"/>
              <a:endParaRPr lang="en-BE" sz="12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9" name="Text Placeholder 2">
              <a:extLst>
                <a:ext uri="{FF2B5EF4-FFF2-40B4-BE49-F238E27FC236}">
                  <a16:creationId xmlns:a16="http://schemas.microsoft.com/office/drawing/2014/main" id="{676EC68D-AC6B-9875-B8E9-A3241123EC75}"/>
                </a:ext>
              </a:extLst>
            </p:cNvPr>
            <p:cNvSpPr txBox="1">
              <a:spLocks/>
            </p:cNvSpPr>
            <p:nvPr/>
          </p:nvSpPr>
          <p:spPr>
            <a:xfrm>
              <a:off x="2032535" y="3517526"/>
              <a:ext cx="4536776" cy="618181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>
                <a:spcBef>
                  <a:spcPts val="667"/>
                </a:spcBef>
              </a:pPr>
              <a:r>
                <a:rPr lang="en-US" sz="2133" dirty="0">
                  <a:solidFill>
                    <a:prstClr val="black"/>
                  </a:solidFill>
                </a:rPr>
                <a:t>CURRENT SITUATION</a:t>
              </a:r>
              <a:endParaRPr lang="en-BE" sz="2133" dirty="0">
                <a:solidFill>
                  <a:prstClr val="black"/>
                </a:solidFill>
              </a:endParaRPr>
            </a:p>
          </p:txBody>
        </p:sp>
      </p:grp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EBF34E0-307B-1CB8-EF6F-3B40F183532F}"/>
              </a:ext>
            </a:extLst>
          </p:cNvPr>
          <p:cNvSpPr txBox="1">
            <a:spLocks/>
          </p:cNvSpPr>
          <p:nvPr/>
        </p:nvSpPr>
        <p:spPr>
          <a:xfrm>
            <a:off x="4356539" y="2198192"/>
            <a:ext cx="3367763" cy="108512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endParaRPr lang="en-BE" sz="2133">
              <a:solidFill>
                <a:prstClr val="black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6764AE6-23D1-EF42-1906-54977B44F059}"/>
              </a:ext>
            </a:extLst>
          </p:cNvPr>
          <p:cNvGrpSpPr/>
          <p:nvPr/>
        </p:nvGrpSpPr>
        <p:grpSpPr>
          <a:xfrm>
            <a:off x="12613091" y="2358755"/>
            <a:ext cx="2077020" cy="460836"/>
            <a:chOff x="12337830" y="4181031"/>
            <a:chExt cx="3115530" cy="691254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DE62313-4985-1CEE-2CFF-53133D688738}"/>
                </a:ext>
              </a:extLst>
            </p:cNvPr>
            <p:cNvCxnSpPr>
              <a:cxnSpLocks/>
            </p:cNvCxnSpPr>
            <p:nvPr/>
          </p:nvCxnSpPr>
          <p:spPr>
            <a:xfrm>
              <a:off x="12337830" y="4181031"/>
              <a:ext cx="3115530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8AF4792-99CE-A73F-F94D-985BB968E47E}"/>
                </a:ext>
              </a:extLst>
            </p:cNvPr>
            <p:cNvCxnSpPr>
              <a:cxnSpLocks/>
            </p:cNvCxnSpPr>
            <p:nvPr/>
          </p:nvCxnSpPr>
          <p:spPr>
            <a:xfrm>
              <a:off x="15453360" y="4181031"/>
              <a:ext cx="0" cy="691254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906FEE2B-4FB4-A088-3327-2FF964E6C4C3}"/>
              </a:ext>
            </a:extLst>
          </p:cNvPr>
          <p:cNvSpPr txBox="1">
            <a:spLocks/>
          </p:cNvSpPr>
          <p:nvPr/>
        </p:nvSpPr>
        <p:spPr>
          <a:xfrm>
            <a:off x="8338691" y="2956777"/>
            <a:ext cx="3720859" cy="249429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815" indent="-304815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Benchmark:</a:t>
            </a: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&lt;</a:t>
            </a:r>
            <a:r>
              <a:rPr lang="en-US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=</a:t>
            </a: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3% late deliveries</a:t>
            </a:r>
          </a:p>
          <a:p>
            <a:pPr marL="304815" indent="-304815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Benchmark: 120k complaints</a:t>
            </a:r>
            <a:endParaRPr lang="en-BE" altLang="en-BE" sz="1867" dirty="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  <a:p>
            <a:pPr marL="304815" indent="-304815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Stable operations</a:t>
            </a:r>
          </a:p>
          <a:p>
            <a:pPr marL="304815" indent="-304815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No firefighting</a:t>
            </a:r>
          </a:p>
          <a:p>
            <a:pPr marL="304815" indent="-304815" defTabSz="60963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Proactive decisions</a:t>
            </a:r>
          </a:p>
          <a:p>
            <a:pPr marL="304815" indent="-304815" algn="ctr" defTabSz="609630">
              <a:lnSpc>
                <a:spcPct val="100000"/>
              </a:lnSpc>
              <a:spcBef>
                <a:spcPts val="667"/>
              </a:spcBef>
              <a:buFont typeface="Arial" panose="020B0604020202020204" pitchFamily="34" charset="0"/>
              <a:buChar char="•"/>
            </a:pPr>
            <a:endParaRPr lang="en-BE" sz="1867" dirty="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67" name="Rectangle 2">
            <a:extLst>
              <a:ext uri="{FF2B5EF4-FFF2-40B4-BE49-F238E27FC236}">
                <a16:creationId xmlns:a16="http://schemas.microsoft.com/office/drawing/2014/main" id="{EED49828-76A1-AAC8-7909-9EC97BCBA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65" y="2970817"/>
            <a:ext cx="3326863" cy="1703030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/>
          <a:p>
            <a:pPr marL="304815" indent="-304815" defTabSz="6096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18% late deliveries</a:t>
            </a:r>
          </a:p>
          <a:p>
            <a:pPr marL="304815" indent="-304815" defTabSz="6096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420k complaints</a:t>
            </a:r>
          </a:p>
          <a:p>
            <a:pPr marL="304815" indent="-304815" defTabSz="6096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Complaint volume x3.5</a:t>
            </a:r>
          </a:p>
          <a:p>
            <a:pPr marL="304815" indent="-304815" defTabSz="6096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Reactive operations</a:t>
            </a:r>
          </a:p>
          <a:p>
            <a:pPr marL="304815" indent="-304815" defTabSz="60963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BE" altLang="en-BE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Capacity not saturated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A4B454-8C9F-AC62-D5D2-B35D6130B233}"/>
              </a:ext>
            </a:extLst>
          </p:cNvPr>
          <p:cNvSpPr txBox="1"/>
          <p:nvPr/>
        </p:nvSpPr>
        <p:spPr>
          <a:xfrm>
            <a:off x="4356539" y="3360563"/>
            <a:ext cx="3896596" cy="120517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04815" indent="-304815" algn="l" defTabSz="609630">
              <a:spcBef>
                <a:spcPts val="667"/>
              </a:spcBef>
              <a:buFont typeface="Arial" panose="020B0604020202020204" pitchFamily="34" charset="0"/>
              <a:buChar char="•"/>
            </a:pPr>
            <a:r>
              <a:rPr lang="en-US" sz="1867" i="0" dirty="0">
                <a:solidFill>
                  <a:prstClr val="black"/>
                </a:solidFill>
              </a:rPr>
              <a:t>Late deliveries:  </a:t>
            </a:r>
            <a:r>
              <a:rPr lang="en-US" sz="1867" b="1" i="0" dirty="0">
                <a:solidFill>
                  <a:prstClr val="black"/>
                </a:solidFill>
              </a:rPr>
              <a:t>+15% (percentage points)</a:t>
            </a:r>
          </a:p>
          <a:p>
            <a:pPr marL="304815" indent="-304815" algn="l" defTabSz="609630">
              <a:spcBef>
                <a:spcPts val="667"/>
              </a:spcBef>
              <a:buFont typeface="Arial" panose="020B0604020202020204" pitchFamily="34" charset="0"/>
              <a:buChar char="•"/>
            </a:pPr>
            <a:r>
              <a:rPr lang="en-US" sz="1867" i="0" dirty="0">
                <a:solidFill>
                  <a:prstClr val="black"/>
                </a:solidFill>
              </a:rPr>
              <a:t>Complaints: </a:t>
            </a:r>
            <a:r>
              <a:rPr lang="en-US" sz="1867" b="1" i="0" dirty="0">
                <a:solidFill>
                  <a:prstClr val="black"/>
                </a:solidFill>
              </a:rPr>
              <a:t>+300,000 extra complaints</a:t>
            </a:r>
          </a:p>
          <a:p>
            <a:pPr algn="l" defTabSz="609630">
              <a:spcBef>
                <a:spcPts val="667"/>
              </a:spcBef>
            </a:pPr>
            <a:endParaRPr lang="en-BE" sz="1867" i="0" dirty="0">
              <a:solidFill>
                <a:prstClr val="black"/>
              </a:solidFill>
            </a:endParaRPr>
          </a:p>
        </p:txBody>
      </p:sp>
      <p:sp>
        <p:nvSpPr>
          <p:cNvPr id="41" name="Isosceles Triangle 134">
            <a:extLst>
              <a:ext uri="{FF2B5EF4-FFF2-40B4-BE49-F238E27FC236}">
                <a16:creationId xmlns:a16="http://schemas.microsoft.com/office/drawing/2014/main" id="{ED91F74F-1D7C-398C-3E07-D643459DABB6}"/>
              </a:ext>
            </a:extLst>
          </p:cNvPr>
          <p:cNvSpPr/>
          <p:nvPr/>
        </p:nvSpPr>
        <p:spPr>
          <a:xfrm rot="10800000">
            <a:off x="7360787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34978F5C-90B7-91F3-3AB0-18A934E9C320}"/>
              </a:ext>
            </a:extLst>
          </p:cNvPr>
          <p:cNvSpPr txBox="1">
            <a:spLocks/>
          </p:cNvSpPr>
          <p:nvPr/>
        </p:nvSpPr>
        <p:spPr>
          <a:xfrm>
            <a:off x="366092" y="632496"/>
            <a:ext cx="7890970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1: Clarify the problem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BEEB3A7-2303-BC1D-F509-419FF3F247E3}"/>
              </a:ext>
            </a:extLst>
          </p:cNvPr>
          <p:cNvGrpSpPr/>
          <p:nvPr/>
        </p:nvGrpSpPr>
        <p:grpSpPr>
          <a:xfrm>
            <a:off x="-80819" y="-44236"/>
            <a:ext cx="3884817" cy="703552"/>
            <a:chOff x="-121228" y="-66354"/>
            <a:chExt cx="2218895" cy="912229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0F63EF94-CDD5-05FC-B10E-04D2916C3C8B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8" name="Text Placeholder 11">
              <a:extLst>
                <a:ext uri="{FF2B5EF4-FFF2-40B4-BE49-F238E27FC236}">
                  <a16:creationId xmlns:a16="http://schemas.microsoft.com/office/drawing/2014/main" id="{12182168-4D0A-3EBF-5EC6-5DE65FBAA6F9}"/>
                </a:ext>
              </a:extLst>
            </p:cNvPr>
            <p:cNvSpPr txBox="1">
              <a:spLocks/>
            </p:cNvSpPr>
            <p:nvPr/>
          </p:nvSpPr>
          <p:spPr>
            <a:xfrm>
              <a:off x="-14818" y="71242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 dirty="0">
                  <a:solidFill>
                    <a:prstClr val="black"/>
                  </a:solidFill>
                </a:rPr>
                <a:t>Application : </a:t>
              </a:r>
              <a:r>
                <a:rPr lang="en-US" sz="2400" dirty="0" err="1">
                  <a:solidFill>
                    <a:prstClr val="black"/>
                  </a:solidFill>
                </a:rPr>
                <a:t>Emazon</a:t>
              </a:r>
              <a:r>
                <a:rPr lang="en-US" sz="2400" dirty="0">
                  <a:solidFill>
                    <a:prstClr val="black"/>
                  </a:solidFill>
                </a:rPr>
                <a:t>  </a:t>
              </a:r>
              <a:endParaRPr lang="en-BE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C31439AF-C085-0083-CD9B-D2431CF385FD}"/>
              </a:ext>
            </a:extLst>
          </p:cNvPr>
          <p:cNvSpPr txBox="1">
            <a:spLocks/>
          </p:cNvSpPr>
          <p:nvPr/>
        </p:nvSpPr>
        <p:spPr>
          <a:xfrm>
            <a:off x="949732" y="1234064"/>
            <a:ext cx="2758229" cy="48492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Proposed solution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1E7365-4707-4213-F6D4-57BD833E92D2}"/>
              </a:ext>
            </a:extLst>
          </p:cNvPr>
          <p:cNvGrpSpPr/>
          <p:nvPr/>
        </p:nvGrpSpPr>
        <p:grpSpPr>
          <a:xfrm rot="5400000" flipV="1">
            <a:off x="5967403" y="-445992"/>
            <a:ext cx="445776" cy="4812709"/>
            <a:chOff x="1245010" y="4615833"/>
            <a:chExt cx="668664" cy="2712501"/>
          </a:xfrm>
        </p:grpSpPr>
        <p:cxnSp>
          <p:nvCxnSpPr>
            <p:cNvPr id="30" name="Curved Connector 21">
              <a:extLst>
                <a:ext uri="{FF2B5EF4-FFF2-40B4-BE49-F238E27FC236}">
                  <a16:creationId xmlns:a16="http://schemas.microsoft.com/office/drawing/2014/main" id="{8A6E943A-5D90-7102-7F2E-6E90832876B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245010" y="4615833"/>
              <a:ext cx="668664" cy="1026401"/>
            </a:xfrm>
            <a:prstGeom prst="curvedConnector2">
              <a:avLst/>
            </a:prstGeom>
            <a:ln w="635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urved Connector 25">
              <a:extLst>
                <a:ext uri="{FF2B5EF4-FFF2-40B4-BE49-F238E27FC236}">
                  <a16:creationId xmlns:a16="http://schemas.microsoft.com/office/drawing/2014/main" id="{DB21BAEF-55E7-D65D-D284-DB790A1508A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068192" y="6482852"/>
              <a:ext cx="1022300" cy="668664"/>
            </a:xfrm>
            <a:prstGeom prst="curvedConnector2">
              <a:avLst/>
            </a:prstGeom>
            <a:ln w="635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802F4833-EBBD-2B52-2140-C7E713169E12}"/>
              </a:ext>
            </a:extLst>
          </p:cNvPr>
          <p:cNvSpPr txBox="1">
            <a:spLocks/>
          </p:cNvSpPr>
          <p:nvPr/>
        </p:nvSpPr>
        <p:spPr>
          <a:xfrm>
            <a:off x="4436766" y="1528964"/>
            <a:ext cx="3438462" cy="38342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ct val="100000"/>
              </a:lnSpc>
              <a:spcBef>
                <a:spcPts val="667"/>
              </a:spcBef>
            </a:pPr>
            <a:r>
              <a:rPr lang="en-US" sz="2133" b="1" dirty="0">
                <a:solidFill>
                  <a:prstClr val="black"/>
                </a:solidFill>
              </a:rPr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337249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9" grpId="0"/>
      <p:bldP spid="36" grpId="0" animBg="1"/>
      <p:bldP spid="40" grpId="0"/>
      <p:bldP spid="65" grpId="0"/>
      <p:bldP spid="6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38D26-6CDA-7C01-093C-387ECDBF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36DFB4A-7CC0-CC8A-C6E9-B20CD5B30628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2" name="Circle: Hollow 131">
            <a:extLst>
              <a:ext uri="{FF2B5EF4-FFF2-40B4-BE49-F238E27FC236}">
                <a16:creationId xmlns:a16="http://schemas.microsoft.com/office/drawing/2014/main" id="{AC86CEEB-B808-6296-3DBD-204731B0E075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71BDBD1C-D4E6-DB08-9959-8D1CBC73249A}"/>
              </a:ext>
            </a:extLst>
          </p:cNvPr>
          <p:cNvSpPr/>
          <p:nvPr/>
        </p:nvSpPr>
        <p:spPr>
          <a:xfrm rot="10800000">
            <a:off x="7936992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53EC1D-A096-3C5D-0EF6-D87DB4B92FD4}"/>
              </a:ext>
            </a:extLst>
          </p:cNvPr>
          <p:cNvSpPr/>
          <p:nvPr/>
        </p:nvSpPr>
        <p:spPr>
          <a:xfrm>
            <a:off x="441372" y="1196722"/>
            <a:ext cx="7977106" cy="553267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defRPr/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 Purpose : Decompose the problem and make it manageable.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07F8AC-F219-0206-FBC9-697234EF8B18}"/>
              </a:ext>
            </a:extLst>
          </p:cNvPr>
          <p:cNvGrpSpPr/>
          <p:nvPr/>
        </p:nvGrpSpPr>
        <p:grpSpPr>
          <a:xfrm>
            <a:off x="7223348" y="279018"/>
            <a:ext cx="4639441" cy="575000"/>
            <a:chOff x="5677807" y="418528"/>
            <a:chExt cx="6215923" cy="75781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2272341-5BCC-50D8-0D9E-81C7F34AFCB4}"/>
                </a:ext>
              </a:extLst>
            </p:cNvPr>
            <p:cNvGrpSpPr/>
            <p:nvPr/>
          </p:nvGrpSpPr>
          <p:grpSpPr>
            <a:xfrm>
              <a:off x="5690113" y="444434"/>
              <a:ext cx="6203617" cy="685834"/>
              <a:chOff x="995673" y="8188180"/>
              <a:chExt cx="9681199" cy="105740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056535B-3486-EACC-1CAC-61A8BC7E2168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7E5DF76-FC71-27AB-D0CB-58047620E059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A7A23BA-EF6E-8568-0E3F-13C9A73E6BF0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0B1611E-E21A-42DF-E6F8-83A84A3B081B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8D00665-2C2E-0B22-0527-717D2D9A8709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8973586-3314-9255-0453-11290B8C6600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33DE6F9-E71E-4817-89F6-549C39137CCC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6483377-DF32-AC7A-07EC-8498F1611632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8" name="Graphic 7" descr="Information outline">
              <a:extLst>
                <a:ext uri="{FF2B5EF4-FFF2-40B4-BE49-F238E27FC236}">
                  <a16:creationId xmlns:a16="http://schemas.microsoft.com/office/drawing/2014/main" id="{0DE93DC9-5F57-2AAA-C094-E9152E253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9" name="Graphic 8" descr="Abacus outline">
              <a:extLst>
                <a:ext uri="{FF2B5EF4-FFF2-40B4-BE49-F238E27FC236}">
                  <a16:creationId xmlns:a16="http://schemas.microsoft.com/office/drawing/2014/main" id="{7114F929-DC65-B964-836F-EDEF88373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10" name="Graphic 9" descr="Target outline">
              <a:extLst>
                <a:ext uri="{FF2B5EF4-FFF2-40B4-BE49-F238E27FC236}">
                  <a16:creationId xmlns:a16="http://schemas.microsoft.com/office/drawing/2014/main" id="{78DE7081-A75E-9A2D-4BB4-8710D37F0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11" name="Graphic 10" descr="Clipboard Mixed outline">
              <a:extLst>
                <a:ext uri="{FF2B5EF4-FFF2-40B4-BE49-F238E27FC236}">
                  <a16:creationId xmlns:a16="http://schemas.microsoft.com/office/drawing/2014/main" id="{0D85255D-825C-CFC7-B449-3A71824C8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2" name="Graphic 11" descr="Gears outline">
              <a:extLst>
                <a:ext uri="{FF2B5EF4-FFF2-40B4-BE49-F238E27FC236}">
                  <a16:creationId xmlns:a16="http://schemas.microsoft.com/office/drawing/2014/main" id="{76E9FE44-D937-5C41-AA04-4D0AFFF8A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3" name="Graphic 12" descr="Bar graph with upward trend outline">
              <a:extLst>
                <a:ext uri="{FF2B5EF4-FFF2-40B4-BE49-F238E27FC236}">
                  <a16:creationId xmlns:a16="http://schemas.microsoft.com/office/drawing/2014/main" id="{4413B8AE-397E-D833-78AA-F8D91ACE2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4" name="Graphic 13" descr="Classroom outline">
              <a:extLst>
                <a:ext uri="{FF2B5EF4-FFF2-40B4-BE49-F238E27FC236}">
                  <a16:creationId xmlns:a16="http://schemas.microsoft.com/office/drawing/2014/main" id="{3DEB580A-B2D8-645D-D82E-B3B12A911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968B3493-7064-5700-24E8-07F854C02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BB5FA69-1022-326E-53DF-02CA06A2147E}"/>
              </a:ext>
            </a:extLst>
          </p:cNvPr>
          <p:cNvSpPr txBox="1">
            <a:spLocks/>
          </p:cNvSpPr>
          <p:nvPr/>
        </p:nvSpPr>
        <p:spPr>
          <a:xfrm>
            <a:off x="317204" y="611279"/>
            <a:ext cx="6518305" cy="71629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2: Breakdown of the problem </a:t>
            </a:r>
            <a:endParaRPr lang="en-BE" sz="2933">
              <a:solidFill>
                <a:prstClr val="black"/>
              </a:solidFill>
            </a:endParaRPr>
          </a:p>
        </p:txBody>
      </p:sp>
      <p:sp>
        <p:nvSpPr>
          <p:cNvPr id="31" name="Rectangle: Rounded Corners 29">
            <a:extLst>
              <a:ext uri="{FF2B5EF4-FFF2-40B4-BE49-F238E27FC236}">
                <a16:creationId xmlns:a16="http://schemas.microsoft.com/office/drawing/2014/main" id="{D8D59E8D-6E55-0A89-DD9E-11AD4F788979}"/>
              </a:ext>
            </a:extLst>
          </p:cNvPr>
          <p:cNvSpPr/>
          <p:nvPr/>
        </p:nvSpPr>
        <p:spPr>
          <a:xfrm rot="10800000" flipH="1" flipV="1">
            <a:off x="615628" y="1965576"/>
            <a:ext cx="6102943" cy="528598"/>
          </a:xfrm>
          <a:prstGeom prst="roundRect">
            <a:avLst/>
          </a:prstGeom>
          <a:solidFill>
            <a:srgbClr val="E6D5C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609630">
              <a:spcBef>
                <a:spcPts val="667"/>
              </a:spcBef>
              <a:defRPr/>
            </a:pPr>
            <a:r>
              <a:rPr lang="en-US" sz="1867" b="1">
                <a:solidFill>
                  <a:prstClr val="black"/>
                </a:solidFill>
                <a:latin typeface="Alata" panose="020B0604020202020204" charset="0"/>
              </a:rPr>
              <a:t>Large Problem</a:t>
            </a:r>
          </a:p>
        </p:txBody>
      </p:sp>
      <p:sp>
        <p:nvSpPr>
          <p:cNvPr id="49" name="Rectangle: Rounded Corners 29">
            <a:extLst>
              <a:ext uri="{FF2B5EF4-FFF2-40B4-BE49-F238E27FC236}">
                <a16:creationId xmlns:a16="http://schemas.microsoft.com/office/drawing/2014/main" id="{6909296B-C99A-2923-4C9C-8B4FA938BD97}"/>
              </a:ext>
            </a:extLst>
          </p:cNvPr>
          <p:cNvSpPr/>
          <p:nvPr/>
        </p:nvSpPr>
        <p:spPr>
          <a:xfrm rot="10800000" flipH="1" flipV="1">
            <a:off x="615627" y="3568203"/>
            <a:ext cx="1795960" cy="703740"/>
          </a:xfrm>
          <a:prstGeom prst="roundRect">
            <a:avLst/>
          </a:prstGeom>
          <a:solidFill>
            <a:srgbClr val="E6D5C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609630">
              <a:spcBef>
                <a:spcPts val="667"/>
              </a:spcBef>
              <a:defRPr/>
            </a:pPr>
            <a:r>
              <a:rPr lang="en-US" sz="1867" b="1" dirty="0">
                <a:solidFill>
                  <a:prstClr val="black"/>
                </a:solidFill>
                <a:latin typeface="Alata" panose="020B0604020202020204" charset="0"/>
              </a:rPr>
              <a:t>Category 1</a:t>
            </a:r>
            <a:endParaRPr lang="en-US" sz="1867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50" name="Rectangle: Rounded Corners 29">
            <a:extLst>
              <a:ext uri="{FF2B5EF4-FFF2-40B4-BE49-F238E27FC236}">
                <a16:creationId xmlns:a16="http://schemas.microsoft.com/office/drawing/2014/main" id="{CCCA89EE-E729-76BD-38EF-198F92407135}"/>
              </a:ext>
            </a:extLst>
          </p:cNvPr>
          <p:cNvSpPr/>
          <p:nvPr/>
        </p:nvSpPr>
        <p:spPr>
          <a:xfrm rot="10800000" flipH="1" flipV="1">
            <a:off x="2849458" y="3554417"/>
            <a:ext cx="1676043" cy="703739"/>
          </a:xfrm>
          <a:prstGeom prst="roundRect">
            <a:avLst/>
          </a:prstGeom>
          <a:solidFill>
            <a:srgbClr val="E6D5C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609630">
              <a:spcBef>
                <a:spcPts val="667"/>
              </a:spcBef>
              <a:defRPr/>
            </a:pPr>
            <a:r>
              <a:rPr lang="en-US" sz="1867" b="1" dirty="0">
                <a:solidFill>
                  <a:prstClr val="black"/>
                </a:solidFill>
                <a:latin typeface="Alata" panose="020B0604020202020204" charset="0"/>
              </a:rPr>
              <a:t>Category 2 </a:t>
            </a:r>
            <a:endParaRPr lang="en-US" sz="1867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51" name="Rectangle: Rounded Corners 29">
            <a:extLst>
              <a:ext uri="{FF2B5EF4-FFF2-40B4-BE49-F238E27FC236}">
                <a16:creationId xmlns:a16="http://schemas.microsoft.com/office/drawing/2014/main" id="{2D065FBB-EF5F-3949-E9B7-155BC46A5ED7}"/>
              </a:ext>
            </a:extLst>
          </p:cNvPr>
          <p:cNvSpPr/>
          <p:nvPr/>
        </p:nvSpPr>
        <p:spPr>
          <a:xfrm rot="10800000" flipH="1" flipV="1">
            <a:off x="5042528" y="3554416"/>
            <a:ext cx="1676043" cy="703739"/>
          </a:xfrm>
          <a:prstGeom prst="roundRect">
            <a:avLst/>
          </a:prstGeom>
          <a:solidFill>
            <a:srgbClr val="E6D5C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609630">
              <a:spcBef>
                <a:spcPts val="667"/>
              </a:spcBef>
              <a:defRPr/>
            </a:pPr>
            <a:r>
              <a:rPr lang="en-US" sz="1867" b="1" dirty="0">
                <a:solidFill>
                  <a:prstClr val="black"/>
                </a:solidFill>
                <a:latin typeface="Alata" panose="020B0604020202020204" charset="0"/>
              </a:rPr>
              <a:t>Category 3</a:t>
            </a:r>
            <a:endParaRPr lang="en-US" sz="1867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53" name="Rectangle: Rounded Corners 29">
            <a:extLst>
              <a:ext uri="{FF2B5EF4-FFF2-40B4-BE49-F238E27FC236}">
                <a16:creationId xmlns:a16="http://schemas.microsoft.com/office/drawing/2014/main" id="{A9E370EE-3B09-AAC6-A377-45103EC4ABE1}"/>
              </a:ext>
            </a:extLst>
          </p:cNvPr>
          <p:cNvSpPr/>
          <p:nvPr/>
        </p:nvSpPr>
        <p:spPr>
          <a:xfrm rot="10800000" flipH="1" flipV="1">
            <a:off x="615628" y="4994253"/>
            <a:ext cx="6102943" cy="564892"/>
          </a:xfrm>
          <a:prstGeom prst="roundRect">
            <a:avLst/>
          </a:prstGeom>
          <a:solidFill>
            <a:srgbClr val="E6D5CA"/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defTabSz="609630">
              <a:spcBef>
                <a:spcPts val="667"/>
              </a:spcBef>
              <a:defRPr/>
            </a:pPr>
            <a:r>
              <a:rPr lang="en-US" sz="1867" b="1" dirty="0">
                <a:solidFill>
                  <a:srgbClr val="C00000"/>
                </a:solidFill>
                <a:latin typeface="Alata" panose="020B0604020202020204" charset="0"/>
              </a:rPr>
              <a:t>Prioritized sub-problem (P1)</a:t>
            </a:r>
            <a:endParaRPr lang="en-US" sz="1867" dirty="0">
              <a:solidFill>
                <a:srgbClr val="C00000"/>
              </a:solidFill>
              <a:latin typeface="Alata" panose="020B0604020202020204" charset="0"/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4054B1F-BDAF-15C2-5D91-4733EFABD3CF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87479" y="2494175"/>
            <a:ext cx="0" cy="106024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01524176-2244-D017-9D49-9C9851FED020}"/>
              </a:ext>
            </a:extLst>
          </p:cNvPr>
          <p:cNvCxnSpPr>
            <a:cxnSpLocks/>
            <a:endCxn id="49" idx="0"/>
          </p:cNvCxnSpPr>
          <p:nvPr/>
        </p:nvCxnSpPr>
        <p:spPr>
          <a:xfrm rot="10800000" flipV="1">
            <a:off x="1513608" y="3199082"/>
            <a:ext cx="4317981" cy="369121"/>
          </a:xfrm>
          <a:prstGeom prst="bent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8D93A8B6-1CB8-A4D1-74C5-FEC6D7A8AEBA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386456" y="3200641"/>
            <a:ext cx="3494093" cy="353775"/>
          </a:xfrm>
          <a:prstGeom prst="bent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77BDB9B-1359-977D-B616-2B33065EC1ED}"/>
              </a:ext>
            </a:extLst>
          </p:cNvPr>
          <p:cNvGrpSpPr/>
          <p:nvPr/>
        </p:nvGrpSpPr>
        <p:grpSpPr>
          <a:xfrm>
            <a:off x="-80818" y="-44236"/>
            <a:ext cx="1479263" cy="570514"/>
            <a:chOff x="-121228" y="-66354"/>
            <a:chExt cx="2218895" cy="85577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1F40F6B-3D05-D163-3334-2060D440478B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" name="Text Placeholder 11">
              <a:extLst>
                <a:ext uri="{FF2B5EF4-FFF2-40B4-BE49-F238E27FC236}">
                  <a16:creationId xmlns:a16="http://schemas.microsoft.com/office/drawing/2014/main" id="{B60FC0C1-EBB5-7D53-13AE-2314A7A3DAC8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Theory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FDF35F0-ECA2-3ABA-AC5F-EB2615EDC565}"/>
              </a:ext>
            </a:extLst>
          </p:cNvPr>
          <p:cNvSpPr txBox="1"/>
          <p:nvPr/>
        </p:nvSpPr>
        <p:spPr>
          <a:xfrm>
            <a:off x="8270270" y="2591238"/>
            <a:ext cx="27414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2400" b="1" dirty="0">
                <a:solidFill>
                  <a:prstClr val="black"/>
                </a:solidFill>
                <a:latin typeface="Alata" panose="020B0604020202020204" charset="0"/>
              </a:rPr>
              <a:t>Decomposition </a:t>
            </a:r>
            <a:endParaRPr lang="en-BE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FB1C60A-AA1B-BD97-0B54-EEBB4476F171}"/>
              </a:ext>
            </a:extLst>
          </p:cNvPr>
          <p:cNvGrpSpPr/>
          <p:nvPr/>
        </p:nvGrpSpPr>
        <p:grpSpPr>
          <a:xfrm>
            <a:off x="7558871" y="2475167"/>
            <a:ext cx="711399" cy="608832"/>
            <a:chOff x="3459875" y="3463721"/>
            <a:chExt cx="1067098" cy="91324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493A5C7-933F-E1DB-CE03-4BA2B8340442}"/>
                </a:ext>
              </a:extLst>
            </p:cNvPr>
            <p:cNvSpPr/>
            <p:nvPr/>
          </p:nvSpPr>
          <p:spPr>
            <a:xfrm>
              <a:off x="3459875" y="3463721"/>
              <a:ext cx="883525" cy="913248"/>
            </a:xfrm>
            <a:prstGeom prst="ellipse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6D6E65E-6901-6E52-F356-1C90DA4B3710}"/>
                </a:ext>
              </a:extLst>
            </p:cNvPr>
            <p:cNvSpPr txBox="1"/>
            <p:nvPr/>
          </p:nvSpPr>
          <p:spPr>
            <a:xfrm>
              <a:off x="3749276" y="3641177"/>
              <a:ext cx="777697" cy="69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2400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1</a:t>
              </a:r>
              <a:endParaRPr lang="en-BE" sz="2400">
                <a:solidFill>
                  <a:prstClr val="black"/>
                </a:solidFill>
                <a:latin typeface="Alata" pitchFamily="2" charset="0"/>
                <a:cs typeface="Alata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E40EC3-AABD-8B76-8ABB-A81577282597}"/>
              </a:ext>
            </a:extLst>
          </p:cNvPr>
          <p:cNvGrpSpPr/>
          <p:nvPr/>
        </p:nvGrpSpPr>
        <p:grpSpPr>
          <a:xfrm>
            <a:off x="7629133" y="4385421"/>
            <a:ext cx="667856" cy="608832"/>
            <a:chOff x="3459875" y="3463721"/>
            <a:chExt cx="1001784" cy="91324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5A5AC4F-C287-1311-F614-7C3E7B2CE7F9}"/>
                </a:ext>
              </a:extLst>
            </p:cNvPr>
            <p:cNvSpPr/>
            <p:nvPr/>
          </p:nvSpPr>
          <p:spPr>
            <a:xfrm>
              <a:off x="3459875" y="3463721"/>
              <a:ext cx="883525" cy="913248"/>
            </a:xfrm>
            <a:prstGeom prst="ellipse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80F6140-70A6-B051-B37C-A045ACB2C68D}"/>
                </a:ext>
              </a:extLst>
            </p:cNvPr>
            <p:cNvSpPr txBox="1"/>
            <p:nvPr/>
          </p:nvSpPr>
          <p:spPr>
            <a:xfrm>
              <a:off x="3683961" y="3641177"/>
              <a:ext cx="777698" cy="69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2400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2</a:t>
              </a:r>
              <a:endParaRPr lang="en-BE" sz="2400">
                <a:solidFill>
                  <a:prstClr val="black"/>
                </a:solidFill>
                <a:latin typeface="Alata" pitchFamily="2" charset="0"/>
                <a:cs typeface="Alata" pitchFamily="2" charset="0"/>
              </a:endParaRPr>
            </a:p>
          </p:txBody>
        </p:sp>
      </p:grpSp>
      <p:sp>
        <p:nvSpPr>
          <p:cNvPr id="150" name="Arc 149">
            <a:extLst>
              <a:ext uri="{FF2B5EF4-FFF2-40B4-BE49-F238E27FC236}">
                <a16:creationId xmlns:a16="http://schemas.microsoft.com/office/drawing/2014/main" id="{0D8E1DCA-3B61-DD78-ABB0-B8FF3AA0D720}"/>
              </a:ext>
            </a:extLst>
          </p:cNvPr>
          <p:cNvSpPr/>
          <p:nvPr/>
        </p:nvSpPr>
        <p:spPr>
          <a:xfrm rot="6126702">
            <a:off x="5697148" y="2248563"/>
            <a:ext cx="1646309" cy="1514944"/>
          </a:xfrm>
          <a:prstGeom prst="arc">
            <a:avLst>
              <a:gd name="adj1" fmla="val 11041078"/>
              <a:gd name="adj2" fmla="val 19284447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1" name="Arc 150">
            <a:extLst>
              <a:ext uri="{FF2B5EF4-FFF2-40B4-BE49-F238E27FC236}">
                <a16:creationId xmlns:a16="http://schemas.microsoft.com/office/drawing/2014/main" id="{5D38ACC5-2C0B-51BC-274D-CB634C194F51}"/>
              </a:ext>
            </a:extLst>
          </p:cNvPr>
          <p:cNvSpPr/>
          <p:nvPr/>
        </p:nvSpPr>
        <p:spPr>
          <a:xfrm rot="6126702">
            <a:off x="5847931" y="3874743"/>
            <a:ext cx="1522525" cy="1599924"/>
          </a:xfrm>
          <a:prstGeom prst="arc">
            <a:avLst>
              <a:gd name="adj1" fmla="val 11041078"/>
              <a:gd name="adj2" fmla="val 19284447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F24832E-00AF-4301-F6B0-AABA66385C62}"/>
              </a:ext>
            </a:extLst>
          </p:cNvPr>
          <p:cNvSpPr txBox="1"/>
          <p:nvPr/>
        </p:nvSpPr>
        <p:spPr>
          <a:xfrm>
            <a:off x="8414652" y="4443186"/>
            <a:ext cx="2327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2400" b="1" dirty="0">
                <a:solidFill>
                  <a:prstClr val="black"/>
                </a:solidFill>
                <a:latin typeface="Alata" panose="020B0604020202020204" charset="0"/>
              </a:rPr>
              <a:t>Priorization  </a:t>
            </a:r>
            <a:endParaRPr lang="en-BE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5FF541B-E0BD-6398-B6ED-F09C92CE5780}"/>
              </a:ext>
            </a:extLst>
          </p:cNvPr>
          <p:cNvSpPr/>
          <p:nvPr/>
        </p:nvSpPr>
        <p:spPr>
          <a:xfrm>
            <a:off x="1851187" y="6014813"/>
            <a:ext cx="6563465" cy="4842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/>
            <a:r>
              <a:rPr lang="en-GB" sz="2133" dirty="0">
                <a:solidFill>
                  <a:prstClr val="black"/>
                </a:solidFill>
                <a:latin typeface="Alata" panose="020B0604020202020204" charset="0"/>
              </a:rPr>
              <a:t> A prioritized problem to focus on.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5389FAF-47E9-4177-2073-D3439C263FD5}"/>
              </a:ext>
            </a:extLst>
          </p:cNvPr>
          <p:cNvSpPr/>
          <p:nvPr/>
        </p:nvSpPr>
        <p:spPr>
          <a:xfrm>
            <a:off x="615628" y="6014813"/>
            <a:ext cx="1235559" cy="48420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Output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488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7AC6F-DE4D-B0AF-267F-58CA97309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7679EA0-B9C6-E7FA-C364-C3B4E8348165}"/>
              </a:ext>
            </a:extLst>
          </p:cNvPr>
          <p:cNvSpPr/>
          <p:nvPr/>
        </p:nvSpPr>
        <p:spPr>
          <a:xfrm>
            <a:off x="558800" y="1303112"/>
            <a:ext cx="5622545" cy="529139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endParaRPr lang="en-US" sz="1867" noProof="1">
              <a:solidFill>
                <a:prstClr val="black"/>
              </a:solidFill>
              <a:latin typeface="Alata" panose="020B0604020202020204" charset="0"/>
            </a:endParaRPr>
          </a:p>
        </p:txBody>
      </p:sp>
      <p:pic>
        <p:nvPicPr>
          <p:cNvPr id="19" name="Graphic 18" descr="Books with solid fill">
            <a:extLst>
              <a:ext uri="{FF2B5EF4-FFF2-40B4-BE49-F238E27FC236}">
                <a16:creationId xmlns:a16="http://schemas.microsoft.com/office/drawing/2014/main" id="{DF407674-60A6-A2F9-4F1A-509AE9109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634" y="1352639"/>
            <a:ext cx="434502" cy="43450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EFEA8460-7EAD-A493-2DCA-DC62FA4E97CA}"/>
              </a:ext>
            </a:extLst>
          </p:cNvPr>
          <p:cNvSpPr txBox="1">
            <a:spLocks/>
          </p:cNvSpPr>
          <p:nvPr/>
        </p:nvSpPr>
        <p:spPr>
          <a:xfrm>
            <a:off x="1119521" y="1352238"/>
            <a:ext cx="4253465" cy="430887"/>
          </a:xfrm>
          <a:prstGeom prst="rect">
            <a:avLst/>
          </a:prstGeom>
        </p:spPr>
        <p:txBody>
          <a:bodyPr vert="horz" wrap="squar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Success criteria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4F4839-2F39-4EDF-1AA5-EB7B52552748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492EBF3-D82A-47AA-3584-DC6F3FBEA79E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69672A3-E9EF-5C34-CB8F-B3DDDAF47939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FADD14E-7D71-E37F-4568-E132632D121A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DD955AD-5F96-1F5B-C3FC-7BABCC5CA9A2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9C7245E-EF77-6BF0-1BAB-544D5F12DFB7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FB54CA2-7633-C7AD-98DB-8F153FA08F40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E318AB3-ECA7-E9CB-0493-6B9AF838EDA2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6A2E736-F7B3-AF41-EB0F-5E9293FB4442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5DC859-2AF3-8B78-BE47-060F53C318D1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6" name="Graphic 5" descr="Information outline">
              <a:extLst>
                <a:ext uri="{FF2B5EF4-FFF2-40B4-BE49-F238E27FC236}">
                  <a16:creationId xmlns:a16="http://schemas.microsoft.com/office/drawing/2014/main" id="{9195187E-D67A-7ADF-2293-6D88281FB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" name="Graphic 6" descr="Abacus outline">
              <a:extLst>
                <a:ext uri="{FF2B5EF4-FFF2-40B4-BE49-F238E27FC236}">
                  <a16:creationId xmlns:a16="http://schemas.microsoft.com/office/drawing/2014/main" id="{3B6318BC-3DDB-8424-14D7-A6CDF0B89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8" name="Graphic 7" descr="Target outline">
              <a:extLst>
                <a:ext uri="{FF2B5EF4-FFF2-40B4-BE49-F238E27FC236}">
                  <a16:creationId xmlns:a16="http://schemas.microsoft.com/office/drawing/2014/main" id="{6E066823-54E9-7D68-2F12-2940DB6E7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" name="Graphic 8" descr="Clipboard Mixed outline">
              <a:extLst>
                <a:ext uri="{FF2B5EF4-FFF2-40B4-BE49-F238E27FC236}">
                  <a16:creationId xmlns:a16="http://schemas.microsoft.com/office/drawing/2014/main" id="{40DFE6D4-55E2-4CC6-74D8-DA45922D5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0" name="Graphic 9" descr="Gears outline">
              <a:extLst>
                <a:ext uri="{FF2B5EF4-FFF2-40B4-BE49-F238E27FC236}">
                  <a16:creationId xmlns:a16="http://schemas.microsoft.com/office/drawing/2014/main" id="{6579D031-AE63-3424-5AF1-6DBBA3BC3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" name="Graphic 11" descr="Bar graph with upward trend outline">
              <a:extLst>
                <a:ext uri="{FF2B5EF4-FFF2-40B4-BE49-F238E27FC236}">
                  <a16:creationId xmlns:a16="http://schemas.microsoft.com/office/drawing/2014/main" id="{8CBD3285-AFE5-FF04-0CE0-AC16C73D4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3" name="Graphic 12" descr="Classroom outline">
              <a:extLst>
                <a:ext uri="{FF2B5EF4-FFF2-40B4-BE49-F238E27FC236}">
                  <a16:creationId xmlns:a16="http://schemas.microsoft.com/office/drawing/2014/main" id="{A4104490-C498-E101-1C52-D6C928814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E8E35847-A438-895D-D397-33D4029F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0D5CDC-845F-9C71-6C79-E544BE5458E7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FA8EEA4-8F7D-2901-1FE6-EA730BCBD79C}"/>
              </a:ext>
            </a:extLst>
          </p:cNvPr>
          <p:cNvGrpSpPr/>
          <p:nvPr/>
        </p:nvGrpSpPr>
        <p:grpSpPr>
          <a:xfrm>
            <a:off x="7223364" y="279028"/>
            <a:ext cx="4639465" cy="575021"/>
            <a:chOff x="5677807" y="418528"/>
            <a:chExt cx="6215923" cy="75781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195B245-BC58-476A-A6BA-EFA134BF5212}"/>
                </a:ext>
              </a:extLst>
            </p:cNvPr>
            <p:cNvGrpSpPr/>
            <p:nvPr/>
          </p:nvGrpSpPr>
          <p:grpSpPr>
            <a:xfrm>
              <a:off x="5689764" y="447402"/>
              <a:ext cx="6203617" cy="686196"/>
              <a:chOff x="995673" y="8188180"/>
              <a:chExt cx="9681199" cy="1057407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38C2648-1DFE-59B2-1DDF-774C2B7E523F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E3CB5A7-59B6-AED7-8869-6245CDFBC707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A03C9E9-7AB6-3D73-D6B4-63000C6258FF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2D2DBC1-FC43-A844-B319-AEBA8DB05224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A9C07AF-5C34-0898-500D-00AE3E273ACF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7CAAFA6-F346-8833-60B1-E9CB29D9383B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973E5DF-4876-DB06-620B-73C5F4DF9335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9A1B561E-B6EF-E26F-D4D0-991A708959E7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34" name="Graphic 33" descr="Information outline">
              <a:extLst>
                <a:ext uri="{FF2B5EF4-FFF2-40B4-BE49-F238E27FC236}">
                  <a16:creationId xmlns:a16="http://schemas.microsoft.com/office/drawing/2014/main" id="{DEC023E4-75C0-B7FF-CFCB-224E7091C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35" name="Graphic 34" descr="Abacus outline">
              <a:extLst>
                <a:ext uri="{FF2B5EF4-FFF2-40B4-BE49-F238E27FC236}">
                  <a16:creationId xmlns:a16="http://schemas.microsoft.com/office/drawing/2014/main" id="{EC539996-AAC2-5387-A4FE-CC94ABFD4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40" name="Graphic 39" descr="Target outline">
              <a:extLst>
                <a:ext uri="{FF2B5EF4-FFF2-40B4-BE49-F238E27FC236}">
                  <a16:creationId xmlns:a16="http://schemas.microsoft.com/office/drawing/2014/main" id="{6B0733D5-5C4F-4703-68F6-C5CC03DAD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41" name="Graphic 40" descr="Clipboard Mixed outline">
              <a:extLst>
                <a:ext uri="{FF2B5EF4-FFF2-40B4-BE49-F238E27FC236}">
                  <a16:creationId xmlns:a16="http://schemas.microsoft.com/office/drawing/2014/main" id="{433C7E32-349E-FBC1-0C92-BA345A63D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42" name="Graphic 41" descr="Gears outline">
              <a:extLst>
                <a:ext uri="{FF2B5EF4-FFF2-40B4-BE49-F238E27FC236}">
                  <a16:creationId xmlns:a16="http://schemas.microsoft.com/office/drawing/2014/main" id="{602F0C88-62FD-D725-4CD6-E48E0A8E7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43" name="Graphic 42" descr="Bar graph with upward trend outline">
              <a:extLst>
                <a:ext uri="{FF2B5EF4-FFF2-40B4-BE49-F238E27FC236}">
                  <a16:creationId xmlns:a16="http://schemas.microsoft.com/office/drawing/2014/main" id="{11B785CE-4DBC-1C57-7B43-ACB6E56E8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44" name="Graphic 43" descr="Classroom outline">
              <a:extLst>
                <a:ext uri="{FF2B5EF4-FFF2-40B4-BE49-F238E27FC236}">
                  <a16:creationId xmlns:a16="http://schemas.microsoft.com/office/drawing/2014/main" id="{71AD9A16-DDF4-28A6-0EB2-283755578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45" name="Graphic 44" descr="Question Mark outline">
              <a:extLst>
                <a:ext uri="{FF2B5EF4-FFF2-40B4-BE49-F238E27FC236}">
                  <a16:creationId xmlns:a16="http://schemas.microsoft.com/office/drawing/2014/main" id="{9B77BE5E-1042-8BAE-7B1A-B2CE1E5AE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54" name="Circle: Hollow 53">
            <a:extLst>
              <a:ext uri="{FF2B5EF4-FFF2-40B4-BE49-F238E27FC236}">
                <a16:creationId xmlns:a16="http://schemas.microsoft.com/office/drawing/2014/main" id="{D525FB22-BC4A-CFD3-4C50-F2586F5654CD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809383-0DF4-DA7A-B91C-4190595A22A6}"/>
              </a:ext>
            </a:extLst>
          </p:cNvPr>
          <p:cNvSpPr/>
          <p:nvPr/>
        </p:nvSpPr>
        <p:spPr>
          <a:xfrm>
            <a:off x="1827843" y="6209959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6A37EE-47C1-0329-A542-8BADA0553B81}"/>
              </a:ext>
            </a:extLst>
          </p:cNvPr>
          <p:cNvSpPr txBox="1"/>
          <p:nvPr/>
        </p:nvSpPr>
        <p:spPr>
          <a:xfrm>
            <a:off x="558800" y="1857064"/>
            <a:ext cx="13216341" cy="4548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25" indent="-495325" defTabSz="609630">
              <a:lnSpc>
                <a:spcPct val="250000"/>
              </a:lnSpc>
              <a:buFont typeface="+mj-lt"/>
              <a:buAutoNum type="alphaUcPeriod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Use one clear lens to decompose using Problem tree or Fishbone method </a:t>
            </a:r>
          </a:p>
          <a:p>
            <a:pPr marL="495325" indent="-495325" defTabSz="609630">
              <a:lnSpc>
                <a:spcPct val="250000"/>
              </a:lnSpc>
              <a:buFont typeface="+mj-lt"/>
              <a:buAutoNum type="alphaUcPeriod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Prioritize using weighted scoring using Impact/Effort/Risk or Pareto method </a:t>
            </a:r>
          </a:p>
          <a:p>
            <a:pPr marL="495325" indent="-495325" defTabSz="609630">
              <a:lnSpc>
                <a:spcPct val="250000"/>
              </a:lnSpc>
              <a:buFont typeface="+mj-lt"/>
              <a:buAutoNum type="alphaUcPeriod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Select one primary focus before going deeper </a:t>
            </a:r>
          </a:p>
          <a:p>
            <a:pPr marL="190510" indent="-190510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  <a:p>
            <a:pPr marL="190510" indent="-190510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56" name="Isosceles Triangle 134">
            <a:extLst>
              <a:ext uri="{FF2B5EF4-FFF2-40B4-BE49-F238E27FC236}">
                <a16:creationId xmlns:a16="http://schemas.microsoft.com/office/drawing/2014/main" id="{D07C491D-E364-EB10-72C8-52B8CA20690B}"/>
              </a:ext>
            </a:extLst>
          </p:cNvPr>
          <p:cNvSpPr/>
          <p:nvPr/>
        </p:nvSpPr>
        <p:spPr>
          <a:xfrm rot="10800000">
            <a:off x="7936992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8F46FBCD-65B1-DF64-11EA-3DA4F8BF2B32}"/>
              </a:ext>
            </a:extLst>
          </p:cNvPr>
          <p:cNvSpPr txBox="1">
            <a:spLocks/>
          </p:cNvSpPr>
          <p:nvPr/>
        </p:nvSpPr>
        <p:spPr>
          <a:xfrm>
            <a:off x="513145" y="720136"/>
            <a:ext cx="6592664" cy="71629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2: Breakdown of the problem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7780F8-3E84-9CB9-12BE-7762FE6D996A}"/>
              </a:ext>
            </a:extLst>
          </p:cNvPr>
          <p:cNvGrpSpPr/>
          <p:nvPr/>
        </p:nvGrpSpPr>
        <p:grpSpPr>
          <a:xfrm>
            <a:off x="-80819" y="-44236"/>
            <a:ext cx="2932876" cy="617260"/>
            <a:chOff x="-121228" y="-66354"/>
            <a:chExt cx="2218895" cy="85577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323759B-8899-C069-0C34-5F28BB52F2B9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Text Placeholder 11">
              <a:extLst>
                <a:ext uri="{FF2B5EF4-FFF2-40B4-BE49-F238E27FC236}">
                  <a16:creationId xmlns:a16="http://schemas.microsoft.com/office/drawing/2014/main" id="{F6A26DC9-C51F-AC36-FE34-2BA123FDBB78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Best Practices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2551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BF1B-5D61-4561-2E8A-46FD2A26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E21F3D2-6ED6-5483-97DA-03B4D61822F8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29788281-26C7-55F4-2D8C-44A592479364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Graphic 30" descr="Postit Notes with solid fill">
            <a:extLst>
              <a:ext uri="{FF2B5EF4-FFF2-40B4-BE49-F238E27FC236}">
                <a16:creationId xmlns:a16="http://schemas.microsoft.com/office/drawing/2014/main" id="{074F4D0F-D769-B0B5-F0E0-7DA55C160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215" y="1159124"/>
            <a:ext cx="498988" cy="498988"/>
          </a:xfrm>
          <a:prstGeom prst="rect">
            <a:avLst/>
          </a:prstGeom>
        </p:spPr>
      </p:pic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29BC7141-B6B0-177E-3F61-00101EDD264C}"/>
              </a:ext>
            </a:extLst>
          </p:cNvPr>
          <p:cNvSpPr txBox="1">
            <a:spLocks/>
          </p:cNvSpPr>
          <p:nvPr/>
        </p:nvSpPr>
        <p:spPr>
          <a:xfrm>
            <a:off x="929853" y="1230029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Proposed solution 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BB9F0A-E19E-6C50-A626-25576ADC82FA}"/>
              </a:ext>
            </a:extLst>
          </p:cNvPr>
          <p:cNvGrpSpPr/>
          <p:nvPr/>
        </p:nvGrpSpPr>
        <p:grpSpPr>
          <a:xfrm>
            <a:off x="64311" y="1095680"/>
            <a:ext cx="11448261" cy="4682707"/>
            <a:chOff x="639804" y="1836349"/>
            <a:chExt cx="17172392" cy="702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5B50732-5906-2EA1-D138-35AAE6801C26}"/>
                </a:ext>
              </a:extLst>
            </p:cNvPr>
            <p:cNvSpPr/>
            <p:nvPr/>
          </p:nvSpPr>
          <p:spPr>
            <a:xfrm>
              <a:off x="639804" y="1836349"/>
              <a:ext cx="17172392" cy="702406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pPr defTabSz="609630"/>
              <a:endParaRPr lang="en-BE"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7787BAF-2C5C-9739-0BC1-5FB44D745E0F}"/>
                </a:ext>
              </a:extLst>
            </p:cNvPr>
            <p:cNvSpPr/>
            <p:nvPr/>
          </p:nvSpPr>
          <p:spPr>
            <a:xfrm>
              <a:off x="2877126" y="3128173"/>
              <a:ext cx="12526381" cy="1167284"/>
            </a:xfrm>
            <a:prstGeom prst="roundRect">
              <a:avLst/>
            </a:prstGeom>
            <a:solidFill>
              <a:schemeClr val="bg2"/>
            </a:solidFill>
            <a:ln w="28575">
              <a:solidFill>
                <a:prstClr val="black"/>
              </a:solidFill>
            </a:ln>
            <a:effectLst/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848" tIns="92848" rIns="92848" bIns="92848" numCol="1" spcCol="1270" anchor="ctr" anchorCtr="0">
              <a:noAutofit/>
            </a:bodyPr>
            <a:lstStyle/>
            <a:p>
              <a:pPr algn="ctr" defTabSz="7705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733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Late deliveries (+15% gap) </a:t>
              </a: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B4A99B3-5399-5FD9-1F89-1D49CD12B20A}"/>
                </a:ext>
              </a:extLst>
            </p:cNvPr>
            <p:cNvSpPr/>
            <p:nvPr/>
          </p:nvSpPr>
          <p:spPr>
            <a:xfrm>
              <a:off x="2877126" y="5558357"/>
              <a:ext cx="2896604" cy="1372945"/>
            </a:xfrm>
            <a:custGeom>
              <a:avLst/>
              <a:gdLst>
                <a:gd name="csX0" fmla="*/ 0 w 3765124"/>
                <a:gd name="csY0" fmla="*/ 137295 h 1372945"/>
                <a:gd name="csX1" fmla="*/ 137295 w 3765124"/>
                <a:gd name="csY1" fmla="*/ 0 h 1372945"/>
                <a:gd name="csX2" fmla="*/ 3627830 w 3765124"/>
                <a:gd name="csY2" fmla="*/ 0 h 1372945"/>
                <a:gd name="csX3" fmla="*/ 3765125 w 3765124"/>
                <a:gd name="csY3" fmla="*/ 137295 h 1372945"/>
                <a:gd name="csX4" fmla="*/ 3765124 w 3765124"/>
                <a:gd name="csY4" fmla="*/ 1235651 h 1372945"/>
                <a:gd name="csX5" fmla="*/ 3627829 w 3765124"/>
                <a:gd name="csY5" fmla="*/ 1372946 h 1372945"/>
                <a:gd name="csX6" fmla="*/ 137295 w 3765124"/>
                <a:gd name="csY6" fmla="*/ 1372945 h 1372945"/>
                <a:gd name="csX7" fmla="*/ 0 w 3765124"/>
                <a:gd name="csY7" fmla="*/ 1235650 h 1372945"/>
                <a:gd name="csX8" fmla="*/ 0 w 3765124"/>
                <a:gd name="csY8" fmla="*/ 137295 h 1372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65124" h="1372945">
                  <a:moveTo>
                    <a:pt x="0" y="137295"/>
                  </a:moveTo>
                  <a:cubicBezTo>
                    <a:pt x="0" y="61469"/>
                    <a:pt x="61469" y="0"/>
                    <a:pt x="137295" y="0"/>
                  </a:cubicBezTo>
                  <a:lnTo>
                    <a:pt x="3627830" y="0"/>
                  </a:lnTo>
                  <a:cubicBezTo>
                    <a:pt x="3703656" y="0"/>
                    <a:pt x="3765125" y="61469"/>
                    <a:pt x="3765125" y="137295"/>
                  </a:cubicBezTo>
                  <a:cubicBezTo>
                    <a:pt x="3765125" y="503414"/>
                    <a:pt x="3765124" y="869532"/>
                    <a:pt x="3765124" y="1235651"/>
                  </a:cubicBezTo>
                  <a:cubicBezTo>
                    <a:pt x="3765124" y="1311477"/>
                    <a:pt x="3703655" y="1372946"/>
                    <a:pt x="3627829" y="1372946"/>
                  </a:cubicBezTo>
                  <a:lnTo>
                    <a:pt x="137295" y="1372945"/>
                  </a:lnTo>
                  <a:cubicBezTo>
                    <a:pt x="61469" y="1372945"/>
                    <a:pt x="0" y="1311476"/>
                    <a:pt x="0" y="1235650"/>
                  </a:cubicBezTo>
                  <a:lnTo>
                    <a:pt x="0" y="137295"/>
                  </a:lnTo>
                  <a:close/>
                </a:path>
              </a:pathLst>
            </a:custGeom>
            <a:solidFill>
              <a:schemeClr val="bg2"/>
            </a:solidFill>
            <a:ln w="28575">
              <a:solidFill>
                <a:prstClr val="black"/>
              </a:solidFill>
            </a:ln>
            <a:effectLst/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2848" tIns="92848" rIns="92848" bIns="92848" numCol="1" spcCol="1270" anchor="ctr" anchorCtr="0">
              <a:noAutofit/>
            </a:bodyPr>
            <a:lstStyle/>
            <a:p>
              <a:pPr algn="ctr" defTabSz="7705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733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Excess orders</a:t>
              </a:r>
            </a:p>
            <a:p>
              <a:pPr algn="ctr" defTabSz="7705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733" b="1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(30%) </a:t>
              </a: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41F3283-5615-5CFC-04E3-E3670138FA1F}"/>
                </a:ext>
              </a:extLst>
            </p:cNvPr>
            <p:cNvSpPr/>
            <p:nvPr/>
          </p:nvSpPr>
          <p:spPr>
            <a:xfrm>
              <a:off x="7086230" y="5446461"/>
              <a:ext cx="4305907" cy="1496247"/>
            </a:xfrm>
            <a:custGeom>
              <a:avLst/>
              <a:gdLst>
                <a:gd name="csX0" fmla="*/ 0 w 3436484"/>
                <a:gd name="csY0" fmla="*/ 154006 h 1540056"/>
                <a:gd name="csX1" fmla="*/ 154006 w 3436484"/>
                <a:gd name="csY1" fmla="*/ 0 h 1540056"/>
                <a:gd name="csX2" fmla="*/ 3282478 w 3436484"/>
                <a:gd name="csY2" fmla="*/ 0 h 1540056"/>
                <a:gd name="csX3" fmla="*/ 3436484 w 3436484"/>
                <a:gd name="csY3" fmla="*/ 154006 h 1540056"/>
                <a:gd name="csX4" fmla="*/ 3436484 w 3436484"/>
                <a:gd name="csY4" fmla="*/ 1386050 h 1540056"/>
                <a:gd name="csX5" fmla="*/ 3282478 w 3436484"/>
                <a:gd name="csY5" fmla="*/ 1540056 h 1540056"/>
                <a:gd name="csX6" fmla="*/ 154006 w 3436484"/>
                <a:gd name="csY6" fmla="*/ 1540056 h 1540056"/>
                <a:gd name="csX7" fmla="*/ 0 w 3436484"/>
                <a:gd name="csY7" fmla="*/ 1386050 h 1540056"/>
                <a:gd name="csX8" fmla="*/ 0 w 3436484"/>
                <a:gd name="csY8" fmla="*/ 154006 h 15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36484" h="1540056">
                  <a:moveTo>
                    <a:pt x="0" y="154006"/>
                  </a:moveTo>
                  <a:cubicBezTo>
                    <a:pt x="0" y="68951"/>
                    <a:pt x="68951" y="0"/>
                    <a:pt x="154006" y="0"/>
                  </a:cubicBezTo>
                  <a:lnTo>
                    <a:pt x="3282478" y="0"/>
                  </a:lnTo>
                  <a:cubicBezTo>
                    <a:pt x="3367533" y="0"/>
                    <a:pt x="3436484" y="68951"/>
                    <a:pt x="3436484" y="154006"/>
                  </a:cubicBezTo>
                  <a:lnTo>
                    <a:pt x="3436484" y="1386050"/>
                  </a:lnTo>
                  <a:cubicBezTo>
                    <a:pt x="3436484" y="1471105"/>
                    <a:pt x="3367533" y="1540056"/>
                    <a:pt x="3282478" y="1540056"/>
                  </a:cubicBezTo>
                  <a:lnTo>
                    <a:pt x="154006" y="1540056"/>
                  </a:lnTo>
                  <a:cubicBezTo>
                    <a:pt x="68951" y="1540056"/>
                    <a:pt x="0" y="1471105"/>
                    <a:pt x="0" y="1386050"/>
                  </a:cubicBezTo>
                  <a:lnTo>
                    <a:pt x="0" y="154006"/>
                  </a:lnTo>
                  <a:close/>
                </a:path>
              </a:pathLst>
            </a:custGeom>
            <a:solidFill>
              <a:schemeClr val="bg2"/>
            </a:solidFill>
            <a:ln w="28575">
              <a:solidFill>
                <a:prstClr val="black"/>
              </a:solidFill>
            </a:ln>
            <a:effectLst/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6111" tIns="96111" rIns="96111" bIns="96111" numCol="1" spcCol="1270" anchor="ctr" anchorCtr="0">
              <a:noAutofit/>
            </a:bodyPr>
            <a:lstStyle/>
            <a:p>
              <a:pPr algn="ctr" defTabSz="7705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733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No clear rules to prioritize premium/urgent orders</a:t>
              </a:r>
            </a:p>
            <a:p>
              <a:pPr algn="ctr" defTabSz="7705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733" b="1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(50%)</a:t>
              </a: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C284709-BC66-04A4-1ACB-D14FF09D3006}"/>
                </a:ext>
              </a:extLst>
            </p:cNvPr>
            <p:cNvSpPr/>
            <p:nvPr/>
          </p:nvSpPr>
          <p:spPr>
            <a:xfrm>
              <a:off x="12831546" y="5560237"/>
              <a:ext cx="2951299" cy="1371065"/>
            </a:xfrm>
            <a:custGeom>
              <a:avLst/>
              <a:gdLst>
                <a:gd name="csX0" fmla="*/ 0 w 2732492"/>
                <a:gd name="csY0" fmla="*/ 154006 h 1540056"/>
                <a:gd name="csX1" fmla="*/ 154006 w 2732492"/>
                <a:gd name="csY1" fmla="*/ 0 h 1540056"/>
                <a:gd name="csX2" fmla="*/ 2578486 w 2732492"/>
                <a:gd name="csY2" fmla="*/ 0 h 1540056"/>
                <a:gd name="csX3" fmla="*/ 2732492 w 2732492"/>
                <a:gd name="csY3" fmla="*/ 154006 h 1540056"/>
                <a:gd name="csX4" fmla="*/ 2732492 w 2732492"/>
                <a:gd name="csY4" fmla="*/ 1386050 h 1540056"/>
                <a:gd name="csX5" fmla="*/ 2578486 w 2732492"/>
                <a:gd name="csY5" fmla="*/ 1540056 h 1540056"/>
                <a:gd name="csX6" fmla="*/ 154006 w 2732492"/>
                <a:gd name="csY6" fmla="*/ 1540056 h 1540056"/>
                <a:gd name="csX7" fmla="*/ 0 w 2732492"/>
                <a:gd name="csY7" fmla="*/ 1386050 h 1540056"/>
                <a:gd name="csX8" fmla="*/ 0 w 2732492"/>
                <a:gd name="csY8" fmla="*/ 154006 h 154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32492" h="1540056">
                  <a:moveTo>
                    <a:pt x="0" y="154006"/>
                  </a:moveTo>
                  <a:cubicBezTo>
                    <a:pt x="0" y="68951"/>
                    <a:pt x="68951" y="0"/>
                    <a:pt x="154006" y="0"/>
                  </a:cubicBezTo>
                  <a:lnTo>
                    <a:pt x="2578486" y="0"/>
                  </a:lnTo>
                  <a:cubicBezTo>
                    <a:pt x="2663541" y="0"/>
                    <a:pt x="2732492" y="68951"/>
                    <a:pt x="2732492" y="154006"/>
                  </a:cubicBezTo>
                  <a:lnTo>
                    <a:pt x="2732492" y="1386050"/>
                  </a:lnTo>
                  <a:cubicBezTo>
                    <a:pt x="2732492" y="1471105"/>
                    <a:pt x="2663541" y="1540056"/>
                    <a:pt x="2578486" y="1540056"/>
                  </a:cubicBezTo>
                  <a:lnTo>
                    <a:pt x="154006" y="1540056"/>
                  </a:lnTo>
                  <a:cubicBezTo>
                    <a:pt x="68951" y="1540056"/>
                    <a:pt x="0" y="1471105"/>
                    <a:pt x="0" y="1386050"/>
                  </a:cubicBezTo>
                  <a:lnTo>
                    <a:pt x="0" y="154006"/>
                  </a:lnTo>
                  <a:close/>
                </a:path>
              </a:pathLst>
            </a:custGeom>
            <a:solidFill>
              <a:schemeClr val="bg2"/>
            </a:solidFill>
            <a:ln w="28575">
              <a:solidFill>
                <a:prstClr val="black"/>
              </a:solidFill>
            </a:ln>
            <a:effectLst/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6111" tIns="96111" rIns="96111" bIns="96111" numCol="1" spcCol="1270" anchor="ctr" anchorCtr="0">
              <a:noAutofit/>
            </a:bodyPr>
            <a:lstStyle/>
            <a:p>
              <a:pPr algn="ctr" defTabSz="7705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733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Operational firefighting</a:t>
              </a:r>
            </a:p>
            <a:p>
              <a:pPr algn="ctr" defTabSz="77050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733" b="1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(20%)</a:t>
              </a:r>
            </a:p>
          </p:txBody>
        </p:sp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6444EFE-1696-95B9-994A-5205B3798FC7}"/>
              </a:ext>
            </a:extLst>
          </p:cNvPr>
          <p:cNvSpPr/>
          <p:nvPr/>
        </p:nvSpPr>
        <p:spPr>
          <a:xfrm rot="16200000">
            <a:off x="6350936" y="4648223"/>
            <a:ext cx="636071" cy="52957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DD8BCED-4C16-4EBE-2AC9-5177E3C6CBF9}"/>
              </a:ext>
            </a:extLst>
          </p:cNvPr>
          <p:cNvGrpSpPr/>
          <p:nvPr/>
        </p:nvGrpSpPr>
        <p:grpSpPr>
          <a:xfrm>
            <a:off x="7223348" y="279018"/>
            <a:ext cx="4639441" cy="575000"/>
            <a:chOff x="5677807" y="418528"/>
            <a:chExt cx="6215923" cy="75781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43ECB82-3F6B-3873-EB61-8FA89F119FAF}"/>
                </a:ext>
              </a:extLst>
            </p:cNvPr>
            <p:cNvGrpSpPr/>
            <p:nvPr/>
          </p:nvGrpSpPr>
          <p:grpSpPr>
            <a:xfrm>
              <a:off x="5690113" y="444434"/>
              <a:ext cx="6203617" cy="685834"/>
              <a:chOff x="995673" y="8188180"/>
              <a:chExt cx="9681199" cy="1057407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4F7AD26-985B-5547-0FB2-4323F91B7D5D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E0DE918-1C75-5D5D-5140-D04E9B1D9BCF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EBCFDEB-56E4-4908-5BC9-E5596EE4311F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FD294FEE-D525-28A7-525D-4576589CA568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ED182FE-91F5-D79F-6526-7151502EFF47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744E1E1-A311-084F-CA4D-205970107023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B926804-0D0B-8628-E0CD-A4CE372719ED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5EF3322-793E-F0E9-974F-798D46A29483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19" name="Graphic 18" descr="Information outline">
              <a:extLst>
                <a:ext uri="{FF2B5EF4-FFF2-40B4-BE49-F238E27FC236}">
                  <a16:creationId xmlns:a16="http://schemas.microsoft.com/office/drawing/2014/main" id="{86BB82DD-B885-8140-C370-81C85764C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33" name="Graphic 32" descr="Abacus outline">
              <a:extLst>
                <a:ext uri="{FF2B5EF4-FFF2-40B4-BE49-F238E27FC236}">
                  <a16:creationId xmlns:a16="http://schemas.microsoft.com/office/drawing/2014/main" id="{6FA7ACED-AB78-608F-23B3-6FBB6F2FB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34" name="Graphic 33" descr="Target outline">
              <a:extLst>
                <a:ext uri="{FF2B5EF4-FFF2-40B4-BE49-F238E27FC236}">
                  <a16:creationId xmlns:a16="http://schemas.microsoft.com/office/drawing/2014/main" id="{FD8B6167-1E24-560E-D01D-C7B2BB9B6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35" name="Graphic 34" descr="Clipboard Mixed outline">
              <a:extLst>
                <a:ext uri="{FF2B5EF4-FFF2-40B4-BE49-F238E27FC236}">
                  <a16:creationId xmlns:a16="http://schemas.microsoft.com/office/drawing/2014/main" id="{F89425FF-EF0B-769C-E177-450555082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36" name="Graphic 35" descr="Gears outline">
              <a:extLst>
                <a:ext uri="{FF2B5EF4-FFF2-40B4-BE49-F238E27FC236}">
                  <a16:creationId xmlns:a16="http://schemas.microsoft.com/office/drawing/2014/main" id="{89641830-F8E2-4BEE-A2BF-BD7E12339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37" name="Graphic 36" descr="Bar graph with upward trend outline">
              <a:extLst>
                <a:ext uri="{FF2B5EF4-FFF2-40B4-BE49-F238E27FC236}">
                  <a16:creationId xmlns:a16="http://schemas.microsoft.com/office/drawing/2014/main" id="{6EEC1499-6BDE-C87B-0F48-A0A7A7A57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38" name="Graphic 37" descr="Classroom outline">
              <a:extLst>
                <a:ext uri="{FF2B5EF4-FFF2-40B4-BE49-F238E27FC236}">
                  <a16:creationId xmlns:a16="http://schemas.microsoft.com/office/drawing/2014/main" id="{BD560D15-9ABF-7919-DD56-B87B01BDA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39" name="Graphic 38" descr="Question Mark outline">
              <a:extLst>
                <a:ext uri="{FF2B5EF4-FFF2-40B4-BE49-F238E27FC236}">
                  <a16:creationId xmlns:a16="http://schemas.microsoft.com/office/drawing/2014/main" id="{5809554A-B592-248F-E208-A4280A68D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48" name="Isosceles Triangle 134">
            <a:extLst>
              <a:ext uri="{FF2B5EF4-FFF2-40B4-BE49-F238E27FC236}">
                <a16:creationId xmlns:a16="http://schemas.microsoft.com/office/drawing/2014/main" id="{0BA48062-A375-3120-2816-577062E6B6E9}"/>
              </a:ext>
            </a:extLst>
          </p:cNvPr>
          <p:cNvSpPr/>
          <p:nvPr/>
        </p:nvSpPr>
        <p:spPr>
          <a:xfrm rot="10800000">
            <a:off x="7936992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E7191B6A-7487-8300-4791-E02055FAEB66}"/>
              </a:ext>
            </a:extLst>
          </p:cNvPr>
          <p:cNvSpPr txBox="1">
            <a:spLocks/>
          </p:cNvSpPr>
          <p:nvPr/>
        </p:nvSpPr>
        <p:spPr>
          <a:xfrm>
            <a:off x="317203" y="660049"/>
            <a:ext cx="6616558" cy="71629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2: Breakdown of the problem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667D054-A9FE-9958-F5A4-A4938E5B82F0}"/>
              </a:ext>
            </a:extLst>
          </p:cNvPr>
          <p:cNvGrpSpPr/>
          <p:nvPr/>
        </p:nvGrpSpPr>
        <p:grpSpPr>
          <a:xfrm>
            <a:off x="-80818" y="-44236"/>
            <a:ext cx="4060827" cy="703552"/>
            <a:chOff x="-121228" y="-66354"/>
            <a:chExt cx="2218895" cy="91222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E5EB4F1-5C40-8A37-9701-B327EC13F090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" name="Text Placeholder 11">
              <a:extLst>
                <a:ext uri="{FF2B5EF4-FFF2-40B4-BE49-F238E27FC236}">
                  <a16:creationId xmlns:a16="http://schemas.microsoft.com/office/drawing/2014/main" id="{9B8C83AF-01FB-1FF1-D338-D4EF6B1519DD}"/>
                </a:ext>
              </a:extLst>
            </p:cNvPr>
            <p:cNvSpPr txBox="1">
              <a:spLocks/>
            </p:cNvSpPr>
            <p:nvPr/>
          </p:nvSpPr>
          <p:spPr>
            <a:xfrm>
              <a:off x="-14818" y="71242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 dirty="0">
                  <a:solidFill>
                    <a:prstClr val="black"/>
                  </a:solidFill>
                </a:rPr>
                <a:t>Application : </a:t>
              </a:r>
              <a:r>
                <a:rPr lang="en-US" sz="2400" dirty="0" err="1">
                  <a:solidFill>
                    <a:prstClr val="black"/>
                  </a:solidFill>
                </a:rPr>
                <a:t>Emazon</a:t>
              </a:r>
              <a:r>
                <a:rPr lang="en-US" sz="2400" dirty="0">
                  <a:solidFill>
                    <a:prstClr val="black"/>
                  </a:solidFill>
                </a:rPr>
                <a:t>  </a:t>
              </a:r>
              <a:endParaRPr lang="en-BE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BE9E06C-681D-9523-D132-365DEDCB6B0D}"/>
              </a:ext>
            </a:extLst>
          </p:cNvPr>
          <p:cNvSpPr txBox="1"/>
          <p:nvPr/>
        </p:nvSpPr>
        <p:spPr>
          <a:xfrm>
            <a:off x="5944963" y="5309936"/>
            <a:ext cx="1448016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/>
            <a:r>
              <a:rPr lang="nl-BE" sz="1867" b="1">
                <a:solidFill>
                  <a:srgbClr val="C00000"/>
                </a:solidFill>
                <a:latin typeface="Alata" pitchFamily="2" charset="0"/>
                <a:cs typeface="Alata" pitchFamily="2" charset="0"/>
              </a:rPr>
              <a:t>Prioritized subproblem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A508A9-B94D-C367-8DEB-1EF1367BCF13}"/>
              </a:ext>
            </a:extLst>
          </p:cNvPr>
          <p:cNvSpPr txBox="1"/>
          <p:nvPr/>
        </p:nvSpPr>
        <p:spPr>
          <a:xfrm>
            <a:off x="4519965" y="4538567"/>
            <a:ext cx="2306759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 fontAlgn="t"/>
            <a:r>
              <a:rPr lang="en-US" sz="1867" b="1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Impact</a:t>
            </a:r>
            <a:r>
              <a:rPr lang="en-US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High</a:t>
            </a:r>
          </a:p>
          <a:p>
            <a:pPr defTabSz="609630" fontAlgn="t"/>
            <a:r>
              <a:rPr lang="en-US" sz="1867" b="1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Effort</a:t>
            </a:r>
            <a:r>
              <a:rPr lang="en-US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Medium</a:t>
            </a:r>
          </a:p>
          <a:p>
            <a:pPr defTabSz="609630" fontAlgn="t"/>
            <a:r>
              <a:rPr lang="en-US" sz="1867" b="1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Risk</a:t>
            </a:r>
            <a:r>
              <a:rPr lang="en-US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High</a:t>
            </a:r>
            <a:endParaRPr lang="en-BE" sz="1867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B66B5-0090-0C99-9B22-A29FF5C8C595}"/>
              </a:ext>
            </a:extLst>
          </p:cNvPr>
          <p:cNvSpPr txBox="1"/>
          <p:nvPr/>
        </p:nvSpPr>
        <p:spPr>
          <a:xfrm>
            <a:off x="8201799" y="4546272"/>
            <a:ext cx="2501954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 fontAlgn="t"/>
            <a:r>
              <a:rPr lang="en-US" sz="1867" b="1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Impact</a:t>
            </a:r>
            <a:r>
              <a:rPr lang="en-US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Medium</a:t>
            </a:r>
          </a:p>
          <a:p>
            <a:pPr defTabSz="609630" fontAlgn="t"/>
            <a:r>
              <a:rPr lang="en-US" sz="1867" b="1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Effort</a:t>
            </a:r>
            <a:r>
              <a:rPr lang="en-US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High</a:t>
            </a:r>
          </a:p>
          <a:p>
            <a:pPr defTabSz="609630" fontAlgn="t"/>
            <a:r>
              <a:rPr lang="en-US" sz="1867" b="1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Risk</a:t>
            </a:r>
            <a:r>
              <a:rPr lang="en-US" sz="1867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Medium</a:t>
            </a:r>
            <a:endParaRPr lang="en-BE" sz="1867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13934-C1B8-C407-68E4-5E5048FCA0DE}"/>
              </a:ext>
            </a:extLst>
          </p:cNvPr>
          <p:cNvSpPr txBox="1"/>
          <p:nvPr/>
        </p:nvSpPr>
        <p:spPr>
          <a:xfrm>
            <a:off x="1541985" y="4499919"/>
            <a:ext cx="2169160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 fontAlgn="t"/>
            <a:r>
              <a:rPr lang="en-US" sz="1867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Impact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Medium</a:t>
            </a:r>
          </a:p>
          <a:p>
            <a:pPr defTabSz="609630" fontAlgn="t"/>
            <a:r>
              <a:rPr lang="en-US" sz="1867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Effort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High</a:t>
            </a:r>
          </a:p>
          <a:p>
            <a:pPr defTabSz="609630" fontAlgn="t"/>
            <a:r>
              <a:rPr lang="en-US" sz="1867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Risk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Medium</a:t>
            </a:r>
            <a:endParaRPr lang="en-BE" sz="1867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964A2DA-1109-8422-A207-0FD86D326770}"/>
              </a:ext>
            </a:extLst>
          </p:cNvPr>
          <p:cNvCxnSpPr>
            <a:cxnSpLocks/>
          </p:cNvCxnSpPr>
          <p:nvPr/>
        </p:nvCxnSpPr>
        <p:spPr>
          <a:xfrm>
            <a:off x="5673345" y="2727103"/>
            <a:ext cx="0" cy="77531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141">
            <a:extLst>
              <a:ext uri="{FF2B5EF4-FFF2-40B4-BE49-F238E27FC236}">
                <a16:creationId xmlns:a16="http://schemas.microsoft.com/office/drawing/2014/main" id="{5E1C1B89-BE7D-477B-C4BB-0CE361D243F7}"/>
              </a:ext>
            </a:extLst>
          </p:cNvPr>
          <p:cNvCxnSpPr>
            <a:cxnSpLocks/>
          </p:cNvCxnSpPr>
          <p:nvPr/>
        </p:nvCxnSpPr>
        <p:spPr>
          <a:xfrm>
            <a:off x="5424190" y="3178882"/>
            <a:ext cx="3598316" cy="405417"/>
          </a:xfrm>
          <a:prstGeom prst="bent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138">
            <a:extLst>
              <a:ext uri="{FF2B5EF4-FFF2-40B4-BE49-F238E27FC236}">
                <a16:creationId xmlns:a16="http://schemas.microsoft.com/office/drawing/2014/main" id="{798BEF86-F428-78C7-AF25-6432601A36A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40369" y="3178884"/>
            <a:ext cx="3010775" cy="388309"/>
          </a:xfrm>
          <a:prstGeom prst="bentConnector3">
            <a:avLst>
              <a:gd name="adj1" fmla="val 99972"/>
            </a:avLst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27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41B9-A92E-E813-FF00-EA1160BC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1">
            <a:extLst>
              <a:ext uri="{FF2B5EF4-FFF2-40B4-BE49-F238E27FC236}">
                <a16:creationId xmlns:a16="http://schemas.microsoft.com/office/drawing/2014/main" id="{8F7ED346-2050-3AAF-D213-6C439938F695}"/>
              </a:ext>
            </a:extLst>
          </p:cNvPr>
          <p:cNvSpPr/>
          <p:nvPr/>
        </p:nvSpPr>
        <p:spPr>
          <a:xfrm>
            <a:off x="572196" y="1176758"/>
            <a:ext cx="10251771" cy="564885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defRPr/>
            </a:pPr>
            <a:r>
              <a:rPr lang="en-US" sz="2400">
                <a:solidFill>
                  <a:prstClr val="black"/>
                </a:solidFill>
                <a:latin typeface="Alata" panose="020B0604020202020204" charset="0"/>
              </a:rPr>
              <a:t> Purpose : Establish clear goals to guide actions and decisions.</a:t>
            </a:r>
            <a:endParaRPr lang="en-BE" sz="2400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82" name="Text Placeholder 11">
            <a:extLst>
              <a:ext uri="{FF2B5EF4-FFF2-40B4-BE49-F238E27FC236}">
                <a16:creationId xmlns:a16="http://schemas.microsoft.com/office/drawing/2014/main" id="{5E163E22-2E3A-3964-DF37-9A05DD8B7867}"/>
              </a:ext>
            </a:extLst>
          </p:cNvPr>
          <p:cNvSpPr txBox="1">
            <a:spLocks/>
          </p:cNvSpPr>
          <p:nvPr/>
        </p:nvSpPr>
        <p:spPr>
          <a:xfrm>
            <a:off x="658813" y="4757538"/>
            <a:ext cx="3370781" cy="5182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(Alignment meeting )</a:t>
            </a:r>
          </a:p>
          <a:p>
            <a:pPr defTabSz="609630">
              <a:spcBef>
                <a:spcPts val="667"/>
              </a:spcBef>
            </a:pPr>
            <a:endParaRPr lang="en-US" sz="2400">
              <a:solidFill>
                <a:prstClr val="black"/>
              </a:solidFill>
            </a:endParaRPr>
          </a:p>
        </p:txBody>
      </p:sp>
      <p:pic>
        <p:nvPicPr>
          <p:cNvPr id="84" name="Graphic 83" descr="Warning with solid fill">
            <a:extLst>
              <a:ext uri="{FF2B5EF4-FFF2-40B4-BE49-F238E27FC236}">
                <a16:creationId xmlns:a16="http://schemas.microsoft.com/office/drawing/2014/main" id="{2DFEE29B-C625-DD5E-5575-E4634BBAB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602" y="4202652"/>
            <a:ext cx="615763" cy="615763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A944E33F-0506-454D-3A00-7E95B4C1F5DD}"/>
              </a:ext>
            </a:extLst>
          </p:cNvPr>
          <p:cNvSpPr txBox="1"/>
          <p:nvPr/>
        </p:nvSpPr>
        <p:spPr>
          <a:xfrm>
            <a:off x="-223897" y="5143521"/>
            <a:ext cx="4804781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/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Crucial to have this meeting with all stakeholders 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5014190-1FE6-2294-F8FE-8820A23F77A2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103D60A-5C1F-24FA-2817-15C1612F2480}"/>
              </a:ext>
            </a:extLst>
          </p:cNvPr>
          <p:cNvGrpSpPr/>
          <p:nvPr/>
        </p:nvGrpSpPr>
        <p:grpSpPr>
          <a:xfrm>
            <a:off x="7223360" y="279033"/>
            <a:ext cx="4639465" cy="575029"/>
            <a:chOff x="5677807" y="418528"/>
            <a:chExt cx="6215923" cy="757818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0AE1EC3-D0B0-D8E8-BD56-EE611689D575}"/>
                </a:ext>
              </a:extLst>
            </p:cNvPr>
            <p:cNvGrpSpPr/>
            <p:nvPr/>
          </p:nvGrpSpPr>
          <p:grpSpPr>
            <a:xfrm>
              <a:off x="5689660" y="448258"/>
              <a:ext cx="6203617" cy="686300"/>
              <a:chOff x="995673" y="8188180"/>
              <a:chExt cx="9681199" cy="1057407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12C806C3-86FD-C9E3-5990-EF747F0CC186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4FB63CFF-8F89-4B5B-9304-F85257803037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7E8B1620-3386-CBE6-0A34-0CB02DCDFE6C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083A0CF-A94A-0992-90B3-8C312BCA6940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6BDC2319-80BD-636B-7A8F-3B07B14F301E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5AEB1EA4-5BAF-9AAF-38F1-4770E2522A8A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7E15BCD0-0A9C-CD4E-9276-BEF5A258EB23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BE78D22F-5DFD-DD3A-3530-4AABBA82721F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94" name="Graphic 93" descr="Information outline">
              <a:extLst>
                <a:ext uri="{FF2B5EF4-FFF2-40B4-BE49-F238E27FC236}">
                  <a16:creationId xmlns:a16="http://schemas.microsoft.com/office/drawing/2014/main" id="{5B15E1FD-598F-3E53-B98E-598A04A35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95" name="Graphic 94" descr="Abacus outline">
              <a:extLst>
                <a:ext uri="{FF2B5EF4-FFF2-40B4-BE49-F238E27FC236}">
                  <a16:creationId xmlns:a16="http://schemas.microsoft.com/office/drawing/2014/main" id="{54CBA470-79CD-85D5-46DB-090EF54CB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96" name="Graphic 95" descr="Target outline">
              <a:extLst>
                <a:ext uri="{FF2B5EF4-FFF2-40B4-BE49-F238E27FC236}">
                  <a16:creationId xmlns:a16="http://schemas.microsoft.com/office/drawing/2014/main" id="{8D184200-7B65-CDE9-9ADD-1248C63E8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7" name="Graphic 96" descr="Clipboard Mixed outline">
              <a:extLst>
                <a:ext uri="{FF2B5EF4-FFF2-40B4-BE49-F238E27FC236}">
                  <a16:creationId xmlns:a16="http://schemas.microsoft.com/office/drawing/2014/main" id="{79F49F9F-8BAB-DFEF-229F-11BB0DA10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98" name="Graphic 97" descr="Gears outline">
              <a:extLst>
                <a:ext uri="{FF2B5EF4-FFF2-40B4-BE49-F238E27FC236}">
                  <a16:creationId xmlns:a16="http://schemas.microsoft.com/office/drawing/2014/main" id="{BEC3BD9E-79E4-8DFD-5DE5-57361ED7E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99" name="Graphic 98" descr="Bar graph with upward trend outline">
              <a:extLst>
                <a:ext uri="{FF2B5EF4-FFF2-40B4-BE49-F238E27FC236}">
                  <a16:creationId xmlns:a16="http://schemas.microsoft.com/office/drawing/2014/main" id="{DF426601-66C3-7B84-E0AD-44965190E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00" name="Graphic 99" descr="Classroom outline">
              <a:extLst>
                <a:ext uri="{FF2B5EF4-FFF2-40B4-BE49-F238E27FC236}">
                  <a16:creationId xmlns:a16="http://schemas.microsoft.com/office/drawing/2014/main" id="{C1EE9FFC-FF7C-D18E-CE8B-69800BA75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01" name="Graphic 100" descr="Question Mark outline">
              <a:extLst>
                <a:ext uri="{FF2B5EF4-FFF2-40B4-BE49-F238E27FC236}">
                  <a16:creationId xmlns:a16="http://schemas.microsoft.com/office/drawing/2014/main" id="{D3C17268-4FD9-8245-5A6E-89E49A466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110" name="Circle: Hollow 109">
            <a:extLst>
              <a:ext uri="{FF2B5EF4-FFF2-40B4-BE49-F238E27FC236}">
                <a16:creationId xmlns:a16="http://schemas.microsoft.com/office/drawing/2014/main" id="{C69BB8CE-D2D0-9894-8081-A4AECEFC4092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C49EDF18-0988-EF97-C9E1-99B64E2CFBBB}"/>
              </a:ext>
            </a:extLst>
          </p:cNvPr>
          <p:cNvSpPr/>
          <p:nvPr/>
        </p:nvSpPr>
        <p:spPr>
          <a:xfrm rot="10800000">
            <a:off x="8523799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2F63B060-3DFD-A51F-309C-1CB42669DF53}"/>
              </a:ext>
            </a:extLst>
          </p:cNvPr>
          <p:cNvSpPr txBox="1">
            <a:spLocks/>
          </p:cNvSpPr>
          <p:nvPr/>
        </p:nvSpPr>
        <p:spPr>
          <a:xfrm>
            <a:off x="1029037" y="611016"/>
            <a:ext cx="6518305" cy="71629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3: Set the target</a:t>
            </a:r>
            <a:endParaRPr lang="en-BE" sz="2933">
              <a:solidFill>
                <a:prstClr val="black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87435-C184-EF94-79A5-4FED097AA6FB}"/>
              </a:ext>
            </a:extLst>
          </p:cNvPr>
          <p:cNvSpPr/>
          <p:nvPr/>
        </p:nvSpPr>
        <p:spPr>
          <a:xfrm>
            <a:off x="2520617" y="5851537"/>
            <a:ext cx="9341869" cy="4425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GB" sz="2133">
                <a:solidFill>
                  <a:prstClr val="black"/>
                </a:solidFill>
                <a:latin typeface="Alata" panose="020B0604020202020204" charset="0"/>
              </a:rPr>
              <a:t>To create alignment and prevent teams from solving acting independently.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F66C62-B020-4DA2-42C8-1DAB90A7FBDF}"/>
              </a:ext>
            </a:extLst>
          </p:cNvPr>
          <p:cNvSpPr/>
          <p:nvPr/>
        </p:nvSpPr>
        <p:spPr>
          <a:xfrm>
            <a:off x="404289" y="5851538"/>
            <a:ext cx="2115312" cy="442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GB" sz="2133">
                <a:solidFill>
                  <a:prstClr val="black"/>
                </a:solidFill>
                <a:latin typeface="Alata" panose="020B0604020202020204" charset="0"/>
              </a:rPr>
              <a:t>Why it matters: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408B68-9595-B69D-CA76-12B73D432C3E}"/>
              </a:ext>
            </a:extLst>
          </p:cNvPr>
          <p:cNvGrpSpPr/>
          <p:nvPr/>
        </p:nvGrpSpPr>
        <p:grpSpPr>
          <a:xfrm>
            <a:off x="-80818" y="-44236"/>
            <a:ext cx="1479263" cy="570514"/>
            <a:chOff x="-121228" y="-66354"/>
            <a:chExt cx="2218895" cy="85577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755F13-A2A5-84AB-46DD-05137C604E88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Text Placeholder 11">
              <a:extLst>
                <a:ext uri="{FF2B5EF4-FFF2-40B4-BE49-F238E27FC236}">
                  <a16:creationId xmlns:a16="http://schemas.microsoft.com/office/drawing/2014/main" id="{DD6E880D-768B-3A4E-41D1-358F86B1F0E0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Theory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38BEB3-C971-A59B-1394-3BC49E16392B}"/>
              </a:ext>
            </a:extLst>
          </p:cNvPr>
          <p:cNvGrpSpPr/>
          <p:nvPr/>
        </p:nvGrpSpPr>
        <p:grpSpPr>
          <a:xfrm>
            <a:off x="4367555" y="2723324"/>
            <a:ext cx="2864651" cy="564885"/>
            <a:chOff x="-121228" y="-66354"/>
            <a:chExt cx="2377141" cy="85577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22E3AC9-5D23-7834-4480-365A35394BAC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" name="Text Placeholder 11">
              <a:extLst>
                <a:ext uri="{FF2B5EF4-FFF2-40B4-BE49-F238E27FC236}">
                  <a16:creationId xmlns:a16="http://schemas.microsoft.com/office/drawing/2014/main" id="{CF1754E8-35C4-DA95-7D24-ED11FC1C4AC0}"/>
                </a:ext>
              </a:extLst>
            </p:cNvPr>
            <p:cNvSpPr txBox="1">
              <a:spLocks/>
            </p:cNvSpPr>
            <p:nvPr/>
          </p:nvSpPr>
          <p:spPr>
            <a:xfrm>
              <a:off x="344857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DIRECTION 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B1217D-E0E4-B724-9DFF-79896DA83097}"/>
              </a:ext>
            </a:extLst>
          </p:cNvPr>
          <p:cNvGrpSpPr/>
          <p:nvPr/>
        </p:nvGrpSpPr>
        <p:grpSpPr>
          <a:xfrm>
            <a:off x="531602" y="1947844"/>
            <a:ext cx="2673949" cy="642094"/>
            <a:chOff x="-121228" y="-66354"/>
            <a:chExt cx="2218895" cy="8557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A456C47-D21C-F40F-63CF-93F11002AA9E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" name="Text Placeholder 11">
              <a:extLst>
                <a:ext uri="{FF2B5EF4-FFF2-40B4-BE49-F238E27FC236}">
                  <a16:creationId xmlns:a16="http://schemas.microsoft.com/office/drawing/2014/main" id="{3B00BF8C-F406-FD91-A255-08F7F40805D7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With a Target: 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0D709F-FDDF-E506-3F18-C32758B5F13D}"/>
              </a:ext>
            </a:extLst>
          </p:cNvPr>
          <p:cNvCxnSpPr>
            <a:cxnSpLocks/>
          </p:cNvCxnSpPr>
          <p:nvPr/>
        </p:nvCxnSpPr>
        <p:spPr>
          <a:xfrm flipV="1">
            <a:off x="5698081" y="3234652"/>
            <a:ext cx="8301" cy="56027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B61C67-0EA9-863B-CD8F-287967BBBC9B}"/>
              </a:ext>
            </a:extLst>
          </p:cNvPr>
          <p:cNvCxnSpPr>
            <a:cxnSpLocks/>
          </p:cNvCxnSpPr>
          <p:nvPr/>
        </p:nvCxnSpPr>
        <p:spPr>
          <a:xfrm>
            <a:off x="2874252" y="3794927"/>
            <a:ext cx="6379846" cy="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" name="Graphic 32" descr="Group outline">
            <a:extLst>
              <a:ext uri="{FF2B5EF4-FFF2-40B4-BE49-F238E27FC236}">
                <a16:creationId xmlns:a16="http://schemas.microsoft.com/office/drawing/2014/main" id="{9C5CEC21-DC6F-E718-E381-26BEBAE3D87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18734" y="2835710"/>
            <a:ext cx="950180" cy="95018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92FC5A7-613D-90B8-24D6-D3176C8278AA}"/>
              </a:ext>
            </a:extLst>
          </p:cNvPr>
          <p:cNvSpPr/>
          <p:nvPr/>
        </p:nvSpPr>
        <p:spPr>
          <a:xfrm>
            <a:off x="1667753" y="3392962"/>
            <a:ext cx="1006485" cy="371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1" name="Graphic 80" descr="Board Of Directors outline">
            <a:extLst>
              <a:ext uri="{FF2B5EF4-FFF2-40B4-BE49-F238E27FC236}">
                <a16:creationId xmlns:a16="http://schemas.microsoft.com/office/drawing/2014/main" id="{862A96AE-D113-49DE-83DB-47E1CD3082A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9489" y="3178070"/>
            <a:ext cx="1098912" cy="117369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23F07168-FF9D-8390-112B-AD58B521FE1A}"/>
              </a:ext>
            </a:extLst>
          </p:cNvPr>
          <p:cNvGrpSpPr/>
          <p:nvPr/>
        </p:nvGrpSpPr>
        <p:grpSpPr>
          <a:xfrm>
            <a:off x="1147365" y="4240169"/>
            <a:ext cx="2115312" cy="522872"/>
            <a:chOff x="-17612" y="-66354"/>
            <a:chExt cx="2115279" cy="72868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A6A0FEB-498F-134D-C71A-61FF396D1FFD}"/>
                </a:ext>
              </a:extLst>
            </p:cNvPr>
            <p:cNvSpPr/>
            <p:nvPr/>
          </p:nvSpPr>
          <p:spPr>
            <a:xfrm flipH="1" flipV="1">
              <a:off x="-17612" y="-66354"/>
              <a:ext cx="2115279" cy="7286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7" name="Text Placeholder 11">
              <a:extLst>
                <a:ext uri="{FF2B5EF4-FFF2-40B4-BE49-F238E27FC236}">
                  <a16:creationId xmlns:a16="http://schemas.microsoft.com/office/drawing/2014/main" id="{2DEE98F3-DACF-FB2A-D417-C30CC10C78CF}"/>
                </a:ext>
              </a:extLst>
            </p:cNvPr>
            <p:cNvSpPr txBox="1">
              <a:spLocks/>
            </p:cNvSpPr>
            <p:nvPr/>
          </p:nvSpPr>
          <p:spPr>
            <a:xfrm>
              <a:off x="417122" y="14784"/>
              <a:ext cx="1627349" cy="639872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CLARITY 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666EE58-600D-5718-6A27-B4A84550CDB4}"/>
              </a:ext>
            </a:extLst>
          </p:cNvPr>
          <p:cNvGrpSpPr/>
          <p:nvPr/>
        </p:nvGrpSpPr>
        <p:grpSpPr>
          <a:xfrm>
            <a:off x="9177569" y="4785480"/>
            <a:ext cx="2673951" cy="564885"/>
            <a:chOff x="-121228" y="-66354"/>
            <a:chExt cx="2218895" cy="855771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8018A6BE-4F68-4810-7530-24CFC5A06C18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7" name="Text Placeholder 11">
              <a:extLst>
                <a:ext uri="{FF2B5EF4-FFF2-40B4-BE49-F238E27FC236}">
                  <a16:creationId xmlns:a16="http://schemas.microsoft.com/office/drawing/2014/main" id="{5A2D5441-6135-880F-39BA-643951BC3CB7}"/>
                </a:ext>
              </a:extLst>
            </p:cNvPr>
            <p:cNvSpPr txBox="1">
              <a:spLocks/>
            </p:cNvSpPr>
            <p:nvPr/>
          </p:nvSpPr>
          <p:spPr>
            <a:xfrm>
              <a:off x="18226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MEASURABLE 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ADC10FDC-6142-D3FF-383B-DB200BC0C53B}"/>
              </a:ext>
            </a:extLst>
          </p:cNvPr>
          <p:cNvSpPr/>
          <p:nvPr/>
        </p:nvSpPr>
        <p:spPr>
          <a:xfrm>
            <a:off x="9543300" y="2771746"/>
            <a:ext cx="1883321" cy="1873092"/>
          </a:xfrm>
          <a:prstGeom prst="ellipse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3B8022-AD71-C43C-075F-7F2D07CFB49A}"/>
              </a:ext>
            </a:extLst>
          </p:cNvPr>
          <p:cNvSpPr txBox="1"/>
          <p:nvPr/>
        </p:nvSpPr>
        <p:spPr>
          <a:xfrm>
            <a:off x="9775372" y="3243384"/>
            <a:ext cx="1420874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30"/>
            <a:r>
              <a:rPr lang="en-US" sz="5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%</a:t>
            </a:r>
            <a:endParaRPr lang="en-BE" sz="5867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99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D19B-7780-3D4F-69EC-44433673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CE287BB-39EF-0240-506B-207C23F05C87}"/>
              </a:ext>
            </a:extLst>
          </p:cNvPr>
          <p:cNvSpPr/>
          <p:nvPr/>
        </p:nvSpPr>
        <p:spPr>
          <a:xfrm flipH="1" flipV="1">
            <a:off x="558799" y="1250497"/>
            <a:ext cx="5343709" cy="594004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FB34C3-5DB9-D433-DAC8-44CEB5DB60F2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ircle: Hollow 28">
            <a:extLst>
              <a:ext uri="{FF2B5EF4-FFF2-40B4-BE49-F238E27FC236}">
                <a16:creationId xmlns:a16="http://schemas.microsoft.com/office/drawing/2014/main" id="{D3F14D75-6084-B5D0-8D19-2D992F7CD5D6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Graphic 18" descr="Books with solid fill">
            <a:extLst>
              <a:ext uri="{FF2B5EF4-FFF2-40B4-BE49-F238E27FC236}">
                <a16:creationId xmlns:a16="http://schemas.microsoft.com/office/drawing/2014/main" id="{B83E1B8B-E85F-5D57-1552-E1D64BC68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634" y="1330868"/>
            <a:ext cx="434502" cy="43450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72550A3-ADC0-1781-1D88-C7BCC70B2153}"/>
              </a:ext>
            </a:extLst>
          </p:cNvPr>
          <p:cNvSpPr txBox="1">
            <a:spLocks/>
          </p:cNvSpPr>
          <p:nvPr/>
        </p:nvSpPr>
        <p:spPr>
          <a:xfrm>
            <a:off x="1119520" y="1336051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Success criteria 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C9FFE39-AF1B-A030-E86A-556F0055D20A}"/>
              </a:ext>
            </a:extLst>
          </p:cNvPr>
          <p:cNvGrpSpPr/>
          <p:nvPr/>
        </p:nvGrpSpPr>
        <p:grpSpPr>
          <a:xfrm>
            <a:off x="7223371" y="279022"/>
            <a:ext cx="4639465" cy="575005"/>
            <a:chOff x="5677807" y="418528"/>
            <a:chExt cx="6215923" cy="7578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15C863-06C6-5983-6099-35C3F998132C}"/>
                </a:ext>
              </a:extLst>
            </p:cNvPr>
            <p:cNvGrpSpPr/>
            <p:nvPr/>
          </p:nvGrpSpPr>
          <p:grpSpPr>
            <a:xfrm>
              <a:off x="5690030" y="445122"/>
              <a:ext cx="6203617" cy="685917"/>
              <a:chOff x="995673" y="8188180"/>
              <a:chExt cx="9681199" cy="105740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EDB2F66-D0A9-C3BA-EB6C-ABC65449738A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EB92C70-30BC-A125-EAD5-9A3DCA381696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A556F1E-72E1-7F45-F10F-38718B61502A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524893C-A48C-1E55-CF56-C737E77EBB75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4B2651B-48C4-B65E-AF05-D256698F252F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53DFA4D-927B-0964-79C4-BADDDE2FEC13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FC427F0-5BEB-4FD7-01D7-78075F811C19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C669B09-F710-0E03-2044-311B4DDCCC89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6" name="Graphic 5" descr="Information outline">
              <a:extLst>
                <a:ext uri="{FF2B5EF4-FFF2-40B4-BE49-F238E27FC236}">
                  <a16:creationId xmlns:a16="http://schemas.microsoft.com/office/drawing/2014/main" id="{0D4B6BE9-AF86-3522-16AD-00577548B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" name="Graphic 6" descr="Abacus outline">
              <a:extLst>
                <a:ext uri="{FF2B5EF4-FFF2-40B4-BE49-F238E27FC236}">
                  <a16:creationId xmlns:a16="http://schemas.microsoft.com/office/drawing/2014/main" id="{D89141FF-CA9F-1FFB-70EA-E64C26D63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8" name="Graphic 7" descr="Target outline">
              <a:extLst>
                <a:ext uri="{FF2B5EF4-FFF2-40B4-BE49-F238E27FC236}">
                  <a16:creationId xmlns:a16="http://schemas.microsoft.com/office/drawing/2014/main" id="{FCEBD95B-B556-6832-094F-4A2B9F0CD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" name="Graphic 8" descr="Clipboard Mixed outline">
              <a:extLst>
                <a:ext uri="{FF2B5EF4-FFF2-40B4-BE49-F238E27FC236}">
                  <a16:creationId xmlns:a16="http://schemas.microsoft.com/office/drawing/2014/main" id="{8A7DD76A-5212-06B5-C22B-80839CB0F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0" name="Graphic 9" descr="Gears outline">
              <a:extLst>
                <a:ext uri="{FF2B5EF4-FFF2-40B4-BE49-F238E27FC236}">
                  <a16:creationId xmlns:a16="http://schemas.microsoft.com/office/drawing/2014/main" id="{E2E5D1AC-8594-B5B7-3DF5-43925DCA4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" name="Graphic 11" descr="Bar graph with upward trend outline">
              <a:extLst>
                <a:ext uri="{FF2B5EF4-FFF2-40B4-BE49-F238E27FC236}">
                  <a16:creationId xmlns:a16="http://schemas.microsoft.com/office/drawing/2014/main" id="{7714FA0E-6B2B-66A8-7F4C-2913700C1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3" name="Graphic 12" descr="Classroom outline">
              <a:extLst>
                <a:ext uri="{FF2B5EF4-FFF2-40B4-BE49-F238E27FC236}">
                  <a16:creationId xmlns:a16="http://schemas.microsoft.com/office/drawing/2014/main" id="{9E1555E1-ABE0-95F4-E577-35413AD71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DD33E587-CBD8-21EE-59A2-4776A1CE2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6EE3D98-6BB1-10CA-D6BE-C51833A9525A}"/>
              </a:ext>
            </a:extLst>
          </p:cNvPr>
          <p:cNvSpPr txBox="1"/>
          <p:nvPr/>
        </p:nvSpPr>
        <p:spPr>
          <a:xfrm>
            <a:off x="535365" y="1844501"/>
            <a:ext cx="11303975" cy="3624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Set the target using the SMART method. 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Clearly address the prioritized sub-problem and not a different scope.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Each target is measurable with a precise metric, a baseline, a scope.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Targets are controllable and external dependencies are stated as risks.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7ED7AC-12F9-87FC-DA4C-219BB5E10351}"/>
              </a:ext>
            </a:extLst>
          </p:cNvPr>
          <p:cNvSpPr/>
          <p:nvPr/>
        </p:nvSpPr>
        <p:spPr>
          <a:xfrm>
            <a:off x="1827843" y="6209959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Isosceles Triangle 110">
            <a:extLst>
              <a:ext uri="{FF2B5EF4-FFF2-40B4-BE49-F238E27FC236}">
                <a16:creationId xmlns:a16="http://schemas.microsoft.com/office/drawing/2014/main" id="{BA18A7C7-4592-BAFF-70F9-9A187ACEFA64}"/>
              </a:ext>
            </a:extLst>
          </p:cNvPr>
          <p:cNvSpPr/>
          <p:nvPr/>
        </p:nvSpPr>
        <p:spPr>
          <a:xfrm rot="10800000">
            <a:off x="8523799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88E7B4F-A802-CD7B-9F55-6511E863AC57}"/>
              </a:ext>
            </a:extLst>
          </p:cNvPr>
          <p:cNvSpPr txBox="1">
            <a:spLocks/>
          </p:cNvSpPr>
          <p:nvPr/>
        </p:nvSpPr>
        <p:spPr>
          <a:xfrm>
            <a:off x="535365" y="700572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3: Set the target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56E162-C893-1489-4475-3C7C3D1DCD12}"/>
              </a:ext>
            </a:extLst>
          </p:cNvPr>
          <p:cNvGrpSpPr/>
          <p:nvPr/>
        </p:nvGrpSpPr>
        <p:grpSpPr>
          <a:xfrm>
            <a:off x="-80819" y="-44236"/>
            <a:ext cx="2932876" cy="617260"/>
            <a:chOff x="-121228" y="-66354"/>
            <a:chExt cx="2218895" cy="85577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84B4657-82F0-CE0A-95D9-8981340D5016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 Placeholder 11">
              <a:extLst>
                <a:ext uri="{FF2B5EF4-FFF2-40B4-BE49-F238E27FC236}">
                  <a16:creationId xmlns:a16="http://schemas.microsoft.com/office/drawing/2014/main" id="{414AF8AF-F507-492A-E086-41EF9EEE28E7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Best Practices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6BF70FE-F02D-15A5-9F91-9602011F2A5B}"/>
              </a:ext>
            </a:extLst>
          </p:cNvPr>
          <p:cNvSpPr txBox="1"/>
          <p:nvPr/>
        </p:nvSpPr>
        <p:spPr>
          <a:xfrm>
            <a:off x="942242" y="2339976"/>
            <a:ext cx="8032581" cy="685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lnSpc>
                <a:spcPct val="250000"/>
              </a:lnSpc>
            </a:pP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(</a:t>
            </a:r>
            <a:r>
              <a:rPr lang="en-US" sz="1867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S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pecific, </a:t>
            </a:r>
            <a:r>
              <a:rPr lang="en-US" sz="1867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M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easurable,</a:t>
            </a:r>
            <a:r>
              <a:rPr lang="en-US" sz="1867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 A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chievable, </a:t>
            </a:r>
            <a:r>
              <a:rPr lang="en-US" sz="1867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R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ealistic, </a:t>
            </a:r>
            <a:r>
              <a:rPr lang="en-US" sz="1867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T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ime bound) </a:t>
            </a:r>
          </a:p>
        </p:txBody>
      </p:sp>
    </p:spTree>
    <p:extLst>
      <p:ext uri="{BB962C8B-B14F-4D97-AF65-F5344CB8AC3E}">
        <p14:creationId xmlns:p14="http://schemas.microsoft.com/office/powerpoint/2010/main" val="3839481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36928-5C1F-2F0E-74EC-BF08EBBE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30B0AE1-459E-9B35-7CD2-8390EE542C0B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74FB8CE-D0D2-88AA-0545-D52D21EB9456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6F7877C-860D-0A89-E111-CDA5C57FE43A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D389E58-48B2-BA12-8C45-0041B415B7BC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09F1917-9E87-7D9E-E475-509CB7E56D34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966B7EC-8AC4-D45D-8DAF-BBAFE1B7A4E7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8C01BC4-F831-9D63-27D3-55193C00271B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EFC0366-027A-7218-1260-ED4C841A8CE8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10C21AF-8B74-96CF-20FC-3B1FD198CC6F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E601E7B-32E8-9A86-BD77-ADE7B1768FC5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0D0EA75-99CA-1E65-EE07-3FF7ECD8866F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7" name="Graphic 6" descr="Information outline">
              <a:extLst>
                <a:ext uri="{FF2B5EF4-FFF2-40B4-BE49-F238E27FC236}">
                  <a16:creationId xmlns:a16="http://schemas.microsoft.com/office/drawing/2014/main" id="{F15FACF7-FCD7-B117-B3BA-BC2AF1C07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8" name="Graphic 7" descr="Abacus outline">
              <a:extLst>
                <a:ext uri="{FF2B5EF4-FFF2-40B4-BE49-F238E27FC236}">
                  <a16:creationId xmlns:a16="http://schemas.microsoft.com/office/drawing/2014/main" id="{61D1F07D-F8C7-56A9-96D2-5AE36C4E5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9" name="Graphic 8" descr="Target outline">
              <a:extLst>
                <a:ext uri="{FF2B5EF4-FFF2-40B4-BE49-F238E27FC236}">
                  <a16:creationId xmlns:a16="http://schemas.microsoft.com/office/drawing/2014/main" id="{624AB40B-2CDF-0749-2C8B-7915C1B67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12" name="Graphic 11" descr="Clipboard Mixed outline">
              <a:extLst>
                <a:ext uri="{FF2B5EF4-FFF2-40B4-BE49-F238E27FC236}">
                  <a16:creationId xmlns:a16="http://schemas.microsoft.com/office/drawing/2014/main" id="{BE3EE774-546D-CF1D-F73C-251C1B80F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3" name="Graphic 12" descr="Gears outline">
              <a:extLst>
                <a:ext uri="{FF2B5EF4-FFF2-40B4-BE49-F238E27FC236}">
                  <a16:creationId xmlns:a16="http://schemas.microsoft.com/office/drawing/2014/main" id="{D5AE5820-3D28-59ED-29AD-8DCC530C2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6" name="Graphic 15" descr="Bar graph with upward trend outline">
              <a:extLst>
                <a:ext uri="{FF2B5EF4-FFF2-40B4-BE49-F238E27FC236}">
                  <a16:creationId xmlns:a16="http://schemas.microsoft.com/office/drawing/2014/main" id="{A8849531-8753-28D3-3D58-3E629CDE3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8" name="Graphic 17" descr="Classroom outline">
              <a:extLst>
                <a:ext uri="{FF2B5EF4-FFF2-40B4-BE49-F238E27FC236}">
                  <a16:creationId xmlns:a16="http://schemas.microsoft.com/office/drawing/2014/main" id="{2B346726-275E-5F44-C102-CFE5A80F8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20" name="Graphic 19" descr="Question Mark outline">
              <a:extLst>
                <a:ext uri="{FF2B5EF4-FFF2-40B4-BE49-F238E27FC236}">
                  <a16:creationId xmlns:a16="http://schemas.microsoft.com/office/drawing/2014/main" id="{C3507803-C3F7-078E-57B9-A0C6D8116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7B48557E-3826-890C-0B07-93609FB5C2C9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Graphic 30" descr="Postit Notes with solid fill">
            <a:extLst>
              <a:ext uri="{FF2B5EF4-FFF2-40B4-BE49-F238E27FC236}">
                <a16:creationId xmlns:a16="http://schemas.microsoft.com/office/drawing/2014/main" id="{B7CC64E9-9DFF-ADE3-12E5-5E58A03C929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5" y="1145190"/>
            <a:ext cx="633009" cy="633009"/>
          </a:xfrm>
          <a:prstGeom prst="rect">
            <a:avLst/>
          </a:prstGeom>
        </p:spPr>
      </p:pic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54787BE3-E6E1-B7C4-8151-30D375A463BE}"/>
              </a:ext>
            </a:extLst>
          </p:cNvPr>
          <p:cNvSpPr txBox="1">
            <a:spLocks/>
          </p:cNvSpPr>
          <p:nvPr/>
        </p:nvSpPr>
        <p:spPr>
          <a:xfrm>
            <a:off x="880309" y="1253161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Proposed solution </a:t>
            </a:r>
            <a:endParaRPr lang="en-BE" sz="2400">
              <a:solidFill>
                <a:prstClr val="black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49DA39-37F5-5A55-53F0-71D1BBE38239}"/>
              </a:ext>
            </a:extLst>
          </p:cNvPr>
          <p:cNvSpPr txBox="1"/>
          <p:nvPr/>
        </p:nvSpPr>
        <p:spPr>
          <a:xfrm>
            <a:off x="1238912" y="1795358"/>
            <a:ext cx="4729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2400" u="sng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Target</a:t>
            </a: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: </a:t>
            </a:r>
            <a:endParaRPr lang="en-BE" sz="240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7B3E44-3167-0781-E908-364BFBDEA3CD}"/>
              </a:ext>
            </a:extLst>
          </p:cNvPr>
          <p:cNvSpPr txBox="1"/>
          <p:nvPr/>
        </p:nvSpPr>
        <p:spPr>
          <a:xfrm>
            <a:off x="909728" y="2326829"/>
            <a:ext cx="10773383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indent="-304815" defTabSz="609630">
              <a:buFont typeface="Arial" panose="020B0604020202020204" pitchFamily="34" charset="0"/>
              <a:buChar char="•"/>
            </a:pPr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Reduce late deliveries from 18% to the benchmark level of </a:t>
            </a:r>
            <a:r>
              <a:rPr lang="en-US" sz="2133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≤3% </a:t>
            </a:r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by next Boxing Day, by clarifying prioritization rules internally. </a:t>
            </a:r>
            <a:endParaRPr lang="en-BE" sz="2133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pic>
        <p:nvPicPr>
          <p:cNvPr id="39" name="Graphic 38" descr="Bullseye with solid fill">
            <a:extLst>
              <a:ext uri="{FF2B5EF4-FFF2-40B4-BE49-F238E27FC236}">
                <a16:creationId xmlns:a16="http://schemas.microsoft.com/office/drawing/2014/main" id="{91E724B0-DC12-314D-B30A-1DCE401AB23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4656" y="1758782"/>
            <a:ext cx="558731" cy="558731"/>
          </a:xfrm>
          <a:prstGeom prst="rect">
            <a:avLst/>
          </a:prstGeom>
        </p:spPr>
      </p:pic>
      <p:sp>
        <p:nvSpPr>
          <p:cNvPr id="11" name="Isosceles Triangle 110">
            <a:extLst>
              <a:ext uri="{FF2B5EF4-FFF2-40B4-BE49-F238E27FC236}">
                <a16:creationId xmlns:a16="http://schemas.microsoft.com/office/drawing/2014/main" id="{118CF7DA-7BA9-2A69-5161-E2B977A80F96}"/>
              </a:ext>
            </a:extLst>
          </p:cNvPr>
          <p:cNvSpPr/>
          <p:nvPr/>
        </p:nvSpPr>
        <p:spPr>
          <a:xfrm rot="10800000">
            <a:off x="8523799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3229ADDA-E9F3-7418-5CF7-05888B247CA7}"/>
              </a:ext>
            </a:extLst>
          </p:cNvPr>
          <p:cNvSpPr txBox="1">
            <a:spLocks/>
          </p:cNvSpPr>
          <p:nvPr/>
        </p:nvSpPr>
        <p:spPr>
          <a:xfrm>
            <a:off x="513146" y="698365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3: Set the target</a:t>
            </a:r>
            <a:endParaRPr lang="en-BE" sz="2933">
              <a:solidFill>
                <a:prstClr val="black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CED4131-0A9B-6E53-354D-405E05793A7D}"/>
              </a:ext>
            </a:extLst>
          </p:cNvPr>
          <p:cNvGraphicFramePr>
            <a:graphicFrameLocks noGrp="1"/>
          </p:cNvGraphicFramePr>
          <p:nvPr/>
        </p:nvGraphicFramePr>
        <p:xfrm>
          <a:off x="317204" y="3314289"/>
          <a:ext cx="11446754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2453">
                  <a:extLst>
                    <a:ext uri="{9D8B030D-6E8A-4147-A177-3AD203B41FA5}">
                      <a16:colId xmlns:a16="http://schemas.microsoft.com/office/drawing/2014/main" val="2524424001"/>
                    </a:ext>
                  </a:extLst>
                </a:gridCol>
                <a:gridCol w="2100876">
                  <a:extLst>
                    <a:ext uri="{9D8B030D-6E8A-4147-A177-3AD203B41FA5}">
                      <a16:colId xmlns:a16="http://schemas.microsoft.com/office/drawing/2014/main" val="2698817578"/>
                    </a:ext>
                  </a:extLst>
                </a:gridCol>
                <a:gridCol w="2657797">
                  <a:extLst>
                    <a:ext uri="{9D8B030D-6E8A-4147-A177-3AD203B41FA5}">
                      <a16:colId xmlns:a16="http://schemas.microsoft.com/office/drawing/2014/main" val="1182691224"/>
                    </a:ext>
                  </a:extLst>
                </a:gridCol>
                <a:gridCol w="2102678">
                  <a:extLst>
                    <a:ext uri="{9D8B030D-6E8A-4147-A177-3AD203B41FA5}">
                      <a16:colId xmlns:a16="http://schemas.microsoft.com/office/drawing/2014/main" val="1991072252"/>
                    </a:ext>
                  </a:extLst>
                </a:gridCol>
                <a:gridCol w="1934817">
                  <a:extLst>
                    <a:ext uri="{9D8B030D-6E8A-4147-A177-3AD203B41FA5}">
                      <a16:colId xmlns:a16="http://schemas.microsoft.com/office/drawing/2014/main" val="3164113207"/>
                    </a:ext>
                  </a:extLst>
                </a:gridCol>
                <a:gridCol w="1648133">
                  <a:extLst>
                    <a:ext uri="{9D8B030D-6E8A-4147-A177-3AD203B41FA5}">
                      <a16:colId xmlns:a16="http://schemas.microsoft.com/office/drawing/2014/main" val="249949351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FR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Target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FR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Specific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FR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Measurable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FR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Achiev</a:t>
                      </a:r>
                      <a:r>
                        <a:rPr lang="en-US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a</a:t>
                      </a:r>
                      <a:r>
                        <a:rPr lang="en-FR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ble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FR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Re</a:t>
                      </a:r>
                      <a:r>
                        <a:rPr lang="en-US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levant </a:t>
                      </a:r>
                      <a:endParaRPr lang="en-FR" sz="21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FR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Time bound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199677"/>
                  </a:ext>
                </a:extLst>
              </a:tr>
              <a:tr h="136144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FR" sz="21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T1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Improve delivery performance</a:t>
                      </a:r>
                      <a:endParaRPr lang="en-FR" sz="2100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Late deliveries</a:t>
                      </a:r>
                      <a:b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</a:br>
                      <a: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18% → ≤3%</a:t>
                      </a:r>
                      <a:b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</a:br>
                      <a: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(360k fewer late orders)</a:t>
                      </a:r>
                      <a:endParaRPr lang="en-FR" sz="2100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Based on  planning fixes + rules (in scope)</a:t>
                      </a:r>
                      <a:endParaRPr lang="en-FR" sz="2100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Contributes to vision (customer satisfaction)</a:t>
                      </a:r>
                      <a:endParaRPr lang="en-FR" sz="2100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GB" sz="2100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By next Boxing Day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FR" sz="2100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572063"/>
                  </a:ext>
                </a:extLst>
              </a:tr>
            </a:tbl>
          </a:graphicData>
        </a:graphic>
      </p:graphicFrame>
      <p:sp>
        <p:nvSpPr>
          <p:cNvPr id="30" name="Rectangle: Rounded Corners 18">
            <a:extLst>
              <a:ext uri="{FF2B5EF4-FFF2-40B4-BE49-F238E27FC236}">
                <a16:creationId xmlns:a16="http://schemas.microsoft.com/office/drawing/2014/main" id="{EF7F0BD3-DF7B-4133-8188-29DC4F1B1999}"/>
              </a:ext>
            </a:extLst>
          </p:cNvPr>
          <p:cNvSpPr/>
          <p:nvPr/>
        </p:nvSpPr>
        <p:spPr>
          <a:xfrm>
            <a:off x="64311" y="3314289"/>
            <a:ext cx="12042345" cy="19641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BF8246-CDCE-A7C0-C7D0-67F6A856C400}"/>
              </a:ext>
            </a:extLst>
          </p:cNvPr>
          <p:cNvGrpSpPr/>
          <p:nvPr/>
        </p:nvGrpSpPr>
        <p:grpSpPr>
          <a:xfrm>
            <a:off x="-80818" y="-44236"/>
            <a:ext cx="4060827" cy="703552"/>
            <a:chOff x="-121228" y="-66354"/>
            <a:chExt cx="2218895" cy="91222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159D0E1-3D73-F88B-9DD3-DFFF648A32B1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Text Placeholder 11">
              <a:extLst>
                <a:ext uri="{FF2B5EF4-FFF2-40B4-BE49-F238E27FC236}">
                  <a16:creationId xmlns:a16="http://schemas.microsoft.com/office/drawing/2014/main" id="{B9901ECB-E611-46C7-5C39-F956EFE68C0C}"/>
                </a:ext>
              </a:extLst>
            </p:cNvPr>
            <p:cNvSpPr txBox="1">
              <a:spLocks/>
            </p:cNvSpPr>
            <p:nvPr/>
          </p:nvSpPr>
          <p:spPr>
            <a:xfrm>
              <a:off x="-14818" y="71242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Application : </a:t>
              </a:r>
              <a:r>
                <a:rPr lang="en-US" sz="2400" err="1">
                  <a:solidFill>
                    <a:prstClr val="black"/>
                  </a:solidFill>
                </a:rPr>
                <a:t>Emazon</a:t>
              </a:r>
              <a:r>
                <a:rPr lang="en-US" sz="2400">
                  <a:solidFill>
                    <a:prstClr val="black"/>
                  </a:solidFill>
                </a:rPr>
                <a:t> 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821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4DD86-CCCB-7139-2ACA-7583477B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1">
            <a:extLst>
              <a:ext uri="{FF2B5EF4-FFF2-40B4-BE49-F238E27FC236}">
                <a16:creationId xmlns:a16="http://schemas.microsoft.com/office/drawing/2014/main" id="{4C1F80AB-6678-6D7B-CB01-12F7C6C49161}"/>
              </a:ext>
            </a:extLst>
          </p:cNvPr>
          <p:cNvSpPr/>
          <p:nvPr/>
        </p:nvSpPr>
        <p:spPr>
          <a:xfrm>
            <a:off x="614271" y="1209134"/>
            <a:ext cx="7334877" cy="616588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defRPr/>
            </a:pPr>
            <a:r>
              <a:rPr lang="en-US" sz="2400">
                <a:solidFill>
                  <a:prstClr val="black"/>
                </a:solidFill>
                <a:latin typeface="Alata" panose="020B0604020202020204" charset="0"/>
              </a:rPr>
              <a:t> Purpose : Understand why the problem exists.</a:t>
            </a:r>
            <a:endParaRPr lang="en-BE" sz="2400">
              <a:solidFill>
                <a:prstClr val="black"/>
              </a:solidFill>
              <a:latin typeface="Alata" panose="020B0604020202020204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3D43BC4-AEAD-FDFC-0953-6A97AE3DD39B}"/>
              </a:ext>
            </a:extLst>
          </p:cNvPr>
          <p:cNvGrpSpPr/>
          <p:nvPr/>
        </p:nvGrpSpPr>
        <p:grpSpPr>
          <a:xfrm>
            <a:off x="2628469" y="2242415"/>
            <a:ext cx="7293314" cy="2090751"/>
            <a:chOff x="3583095" y="4509056"/>
            <a:chExt cx="7937547" cy="187060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4803DA45-5131-C098-A7A5-0D8CCCC95DBE}"/>
                </a:ext>
              </a:extLst>
            </p:cNvPr>
            <p:cNvSpPr/>
            <p:nvPr/>
          </p:nvSpPr>
          <p:spPr>
            <a:xfrm>
              <a:off x="4687153" y="4509056"/>
              <a:ext cx="5714395" cy="54472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867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0" name="Text Placeholder 2">
              <a:extLst>
                <a:ext uri="{FF2B5EF4-FFF2-40B4-BE49-F238E27FC236}">
                  <a16:creationId xmlns:a16="http://schemas.microsoft.com/office/drawing/2014/main" id="{59D14100-F1C0-29A7-BFDC-77ADBC085943}"/>
                </a:ext>
              </a:extLst>
            </p:cNvPr>
            <p:cNvSpPr txBox="1">
              <a:spLocks/>
            </p:cNvSpPr>
            <p:nvPr/>
          </p:nvSpPr>
          <p:spPr>
            <a:xfrm>
              <a:off x="4727233" y="4651398"/>
              <a:ext cx="5714395" cy="408729"/>
            </a:xfrm>
            <a:prstGeom prst="rect">
              <a:avLst/>
            </a:prstGeom>
          </p:spPr>
          <p:txBody>
            <a:bodyPr vert="horz" lIns="60960" tIns="30480" rIns="60960" bIns="3048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“Which problem are we analyzing ?”  </a:t>
              </a:r>
              <a:endParaRPr lang="en-BE" sz="2400" b="1">
                <a:solidFill>
                  <a:prstClr val="black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CD72FB6-3758-64D8-8365-8CC882AA526E}"/>
                </a:ext>
              </a:extLst>
            </p:cNvPr>
            <p:cNvSpPr/>
            <p:nvPr/>
          </p:nvSpPr>
          <p:spPr>
            <a:xfrm>
              <a:off x="3583095" y="5768355"/>
              <a:ext cx="7937547" cy="611306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867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49D6CB7-D033-0DCF-C98E-C553C2B6495D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Circle: Hollow 28">
            <a:extLst>
              <a:ext uri="{FF2B5EF4-FFF2-40B4-BE49-F238E27FC236}">
                <a16:creationId xmlns:a16="http://schemas.microsoft.com/office/drawing/2014/main" id="{F7C37200-FC0C-A679-F7D2-25BCFF7A0FC6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2DABD47-3D99-B728-BD48-444E1DD938BD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68C62ED-FF60-118F-E836-A5A7D387108C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D3F4B40-7496-D032-DBA3-3699950D5F61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1A9F0D66-5E38-23AE-9FA1-00A51235DA5E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824B5E40-A18F-61D7-BC8F-C0DAB5956E88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9E98B700-C3B2-5B7C-029B-B7CB148F127A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96800E8C-00D3-0CEB-2F5E-C0BB1A3873ED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F0E6EB0-4F89-C2AA-BB74-63F7CEB84008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526B353-845E-7566-14B4-18EB45EB4D8E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55B7D37E-ACE7-953D-5B6F-BF757313AA6F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75" name="Graphic 74" descr="Information outline">
              <a:extLst>
                <a:ext uri="{FF2B5EF4-FFF2-40B4-BE49-F238E27FC236}">
                  <a16:creationId xmlns:a16="http://schemas.microsoft.com/office/drawing/2014/main" id="{2E257C88-EDBB-B639-9D4B-277E9501D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6" name="Graphic 75" descr="Abacus outline">
              <a:extLst>
                <a:ext uri="{FF2B5EF4-FFF2-40B4-BE49-F238E27FC236}">
                  <a16:creationId xmlns:a16="http://schemas.microsoft.com/office/drawing/2014/main" id="{1641C95D-7844-7777-87B7-A496F2873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77" name="Graphic 76" descr="Target outline">
              <a:extLst>
                <a:ext uri="{FF2B5EF4-FFF2-40B4-BE49-F238E27FC236}">
                  <a16:creationId xmlns:a16="http://schemas.microsoft.com/office/drawing/2014/main" id="{91008B72-A0AE-CFA4-B823-C8F69815A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78" name="Graphic 77" descr="Clipboard Mixed outline">
              <a:extLst>
                <a:ext uri="{FF2B5EF4-FFF2-40B4-BE49-F238E27FC236}">
                  <a16:creationId xmlns:a16="http://schemas.microsoft.com/office/drawing/2014/main" id="{91DC8B5A-FCC7-8241-BADF-F64BFE8B7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79" name="Graphic 78" descr="Gears outline">
              <a:extLst>
                <a:ext uri="{FF2B5EF4-FFF2-40B4-BE49-F238E27FC236}">
                  <a16:creationId xmlns:a16="http://schemas.microsoft.com/office/drawing/2014/main" id="{8ECE55CE-B109-50DD-38AF-57155B088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80" name="Graphic 79" descr="Bar graph with upward trend outline">
              <a:extLst>
                <a:ext uri="{FF2B5EF4-FFF2-40B4-BE49-F238E27FC236}">
                  <a16:creationId xmlns:a16="http://schemas.microsoft.com/office/drawing/2014/main" id="{C68F5159-7729-6323-96F4-8DA335B21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81" name="Graphic 80" descr="Classroom outline">
              <a:extLst>
                <a:ext uri="{FF2B5EF4-FFF2-40B4-BE49-F238E27FC236}">
                  <a16:creationId xmlns:a16="http://schemas.microsoft.com/office/drawing/2014/main" id="{2FB2345D-5988-FB4A-3EFA-11A7AD645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82" name="Graphic 81" descr="Question Mark outline">
              <a:extLst>
                <a:ext uri="{FF2B5EF4-FFF2-40B4-BE49-F238E27FC236}">
                  <a16:creationId xmlns:a16="http://schemas.microsoft.com/office/drawing/2014/main" id="{1E22CFC3-83FE-6547-4239-46CF37FC1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230E2CD5-8A80-717A-3379-7E2DFF4F05FA}"/>
              </a:ext>
            </a:extLst>
          </p:cNvPr>
          <p:cNvSpPr/>
          <p:nvPr/>
        </p:nvSpPr>
        <p:spPr>
          <a:xfrm rot="10800000">
            <a:off x="9107424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4B87991-397B-5E69-5BF7-DD982658080D}"/>
              </a:ext>
            </a:extLst>
          </p:cNvPr>
          <p:cNvSpPr txBox="1">
            <a:spLocks/>
          </p:cNvSpPr>
          <p:nvPr/>
        </p:nvSpPr>
        <p:spPr>
          <a:xfrm>
            <a:off x="879980" y="590972"/>
            <a:ext cx="5676892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4: Analyze root cause 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8496F90-4FA3-5096-5CCD-DF8F52CF19F4}"/>
              </a:ext>
            </a:extLst>
          </p:cNvPr>
          <p:cNvGrpSpPr/>
          <p:nvPr/>
        </p:nvGrpSpPr>
        <p:grpSpPr>
          <a:xfrm>
            <a:off x="-80818" y="-44236"/>
            <a:ext cx="1479263" cy="570514"/>
            <a:chOff x="-121228" y="-66354"/>
            <a:chExt cx="2218895" cy="855771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B5B04B4-D134-ACF2-1A1D-7EC7323BD5E0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" name="Text Placeholder 11">
              <a:extLst>
                <a:ext uri="{FF2B5EF4-FFF2-40B4-BE49-F238E27FC236}">
                  <a16:creationId xmlns:a16="http://schemas.microsoft.com/office/drawing/2014/main" id="{FA5E4194-E9E0-7412-0D65-6868175AE43B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Theory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893081D-0251-5F45-B255-0883ACB60A24}"/>
              </a:ext>
            </a:extLst>
          </p:cNvPr>
          <p:cNvSpPr txBox="1"/>
          <p:nvPr/>
        </p:nvSpPr>
        <p:spPr>
          <a:xfrm>
            <a:off x="3578986" y="3008898"/>
            <a:ext cx="6901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  <a:sym typeface="Wingdings" panose="05000000000000000000" pitchFamily="2" charset="2"/>
              </a:rPr>
              <a:t>  </a:t>
            </a:r>
            <a:r>
              <a:rPr lang="en-US" sz="2400" b="1">
                <a:solidFill>
                  <a:prstClr val="black"/>
                </a:solidFill>
                <a:latin typeface="Alata" pitchFamily="2" charset="0"/>
                <a:cs typeface="Alata" pitchFamily="2" charset="0"/>
                <a:sym typeface="Wingdings" panose="05000000000000000000" pitchFamily="2" charset="2"/>
              </a:rPr>
              <a:t>Prioritized subproblem (step 2)</a:t>
            </a:r>
            <a:endParaRPr lang="en-BE" sz="240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cxnSp>
        <p:nvCxnSpPr>
          <p:cNvPr id="17" name="Curved Connector 21">
            <a:extLst>
              <a:ext uri="{FF2B5EF4-FFF2-40B4-BE49-F238E27FC236}">
                <a16:creationId xmlns:a16="http://schemas.microsoft.com/office/drawing/2014/main" id="{49C6C79B-1A2D-E964-0F27-5D7FE97F7DD4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34062" y="2755518"/>
            <a:ext cx="445776" cy="684267"/>
          </a:xfrm>
          <a:prstGeom prst="curvedConnector2">
            <a:avLst/>
          </a:prstGeom>
          <a:ln w="635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DDB4A0C-98E6-694C-6CC6-C39E0BF7E2B0}"/>
              </a:ext>
            </a:extLst>
          </p:cNvPr>
          <p:cNvSpPr txBox="1">
            <a:spLocks/>
          </p:cNvSpPr>
          <p:nvPr/>
        </p:nvSpPr>
        <p:spPr>
          <a:xfrm>
            <a:off x="2586906" y="3804700"/>
            <a:ext cx="7334877" cy="47791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3 rules to identify the root cause of the problem:  </a:t>
            </a:r>
            <a:endParaRPr lang="en-BE" sz="2400" b="1">
              <a:solidFill>
                <a:prstClr val="black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5D3B88B-67FA-2F6A-585B-A6D30514942F}"/>
              </a:ext>
            </a:extLst>
          </p:cNvPr>
          <p:cNvGrpSpPr/>
          <p:nvPr/>
        </p:nvGrpSpPr>
        <p:grpSpPr>
          <a:xfrm>
            <a:off x="2551457" y="2223631"/>
            <a:ext cx="711399" cy="608832"/>
            <a:chOff x="3459875" y="3463721"/>
            <a:chExt cx="1067098" cy="91324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AAF8F68-4836-1B36-AB99-1A333CEFD0AC}"/>
                </a:ext>
              </a:extLst>
            </p:cNvPr>
            <p:cNvSpPr/>
            <p:nvPr/>
          </p:nvSpPr>
          <p:spPr>
            <a:xfrm>
              <a:off x="3459875" y="3463721"/>
              <a:ext cx="883525" cy="913248"/>
            </a:xfrm>
            <a:prstGeom prst="ellipse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172975-D078-4D9D-951A-5D870FF7A46B}"/>
                </a:ext>
              </a:extLst>
            </p:cNvPr>
            <p:cNvSpPr txBox="1"/>
            <p:nvPr/>
          </p:nvSpPr>
          <p:spPr>
            <a:xfrm>
              <a:off x="3749276" y="3641177"/>
              <a:ext cx="777697" cy="69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2400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1</a:t>
              </a:r>
              <a:endParaRPr lang="en-BE" sz="2400">
                <a:solidFill>
                  <a:prstClr val="black"/>
                </a:solidFill>
                <a:latin typeface="Alata" pitchFamily="2" charset="0"/>
                <a:cs typeface="Alata" pitchFamily="2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613F94-72D4-B6BF-A4CA-C62B37A7E656}"/>
              </a:ext>
            </a:extLst>
          </p:cNvPr>
          <p:cNvGrpSpPr/>
          <p:nvPr/>
        </p:nvGrpSpPr>
        <p:grpSpPr>
          <a:xfrm>
            <a:off x="1694540" y="3590645"/>
            <a:ext cx="667856" cy="608832"/>
            <a:chOff x="3459875" y="3463721"/>
            <a:chExt cx="1001784" cy="91324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D0DB382-CCD2-2D52-17B7-CCABEF51FC5A}"/>
                </a:ext>
              </a:extLst>
            </p:cNvPr>
            <p:cNvSpPr/>
            <p:nvPr/>
          </p:nvSpPr>
          <p:spPr>
            <a:xfrm>
              <a:off x="3459875" y="3463721"/>
              <a:ext cx="883525" cy="913248"/>
            </a:xfrm>
            <a:prstGeom prst="ellipse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775CA8-D2CC-45B9-0720-3CD78D49D6D0}"/>
                </a:ext>
              </a:extLst>
            </p:cNvPr>
            <p:cNvSpPr txBox="1"/>
            <p:nvPr/>
          </p:nvSpPr>
          <p:spPr>
            <a:xfrm>
              <a:off x="3683961" y="3641177"/>
              <a:ext cx="777698" cy="69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2400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2</a:t>
              </a:r>
              <a:endParaRPr lang="en-BE" sz="2400">
                <a:solidFill>
                  <a:prstClr val="black"/>
                </a:solidFill>
                <a:latin typeface="Alata" pitchFamily="2" charset="0"/>
                <a:cs typeface="Alata" pitchFamily="2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471E8BB-9458-4A88-742D-7276C16B5BE0}"/>
              </a:ext>
            </a:extLst>
          </p:cNvPr>
          <p:cNvSpPr txBox="1"/>
          <p:nvPr/>
        </p:nvSpPr>
        <p:spPr>
          <a:xfrm>
            <a:off x="3699356" y="4487949"/>
            <a:ext cx="54080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19" indent="-381019" defTabSz="609630"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Identify the point of occurrence </a:t>
            </a:r>
          </a:p>
          <a:p>
            <a:pPr marL="381019" indent="-381019" defTabSz="609630"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Actionable / In our control</a:t>
            </a:r>
          </a:p>
          <a:p>
            <a:pPr marL="381019" indent="-381019" defTabSz="609630"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Avoid symptoms </a:t>
            </a:r>
            <a:endParaRPr lang="en-BE" sz="240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3094-8DAC-1B60-FDD1-2A3E9339B294}"/>
              </a:ext>
            </a:extLst>
          </p:cNvPr>
          <p:cNvSpPr/>
          <p:nvPr/>
        </p:nvSpPr>
        <p:spPr>
          <a:xfrm>
            <a:off x="1851187" y="6014813"/>
            <a:ext cx="8820352" cy="4842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/>
            <a:r>
              <a:rPr lang="en-GB" sz="2133" dirty="0">
                <a:solidFill>
                  <a:prstClr val="black"/>
                </a:solidFill>
                <a:latin typeface="Alata" panose="020B0604020202020204" charset="0"/>
              </a:rPr>
              <a:t> </a:t>
            </a:r>
            <a:r>
              <a:rPr lang="en-GB" sz="2133">
                <a:solidFill>
                  <a:prstClr val="black"/>
                </a:solidFill>
                <a:latin typeface="Alata" panose="020B0604020202020204" charset="0"/>
              </a:rPr>
              <a:t>A root cause on which we can act upon to help achieve the target.  </a:t>
            </a:r>
            <a:endParaRPr lang="en-GB" sz="2133" dirty="0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323F22-D271-F2E5-93BD-F7DEB505E5DB}"/>
              </a:ext>
            </a:extLst>
          </p:cNvPr>
          <p:cNvSpPr/>
          <p:nvPr/>
        </p:nvSpPr>
        <p:spPr>
          <a:xfrm>
            <a:off x="615628" y="6014813"/>
            <a:ext cx="1235559" cy="48420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Output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98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22B2-60D6-0AA0-D632-33284666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C994DC8-90B4-8470-81ED-2C2E83CDC55E}"/>
              </a:ext>
            </a:extLst>
          </p:cNvPr>
          <p:cNvSpPr/>
          <p:nvPr/>
        </p:nvSpPr>
        <p:spPr>
          <a:xfrm flipH="1" flipV="1">
            <a:off x="428171" y="1272268"/>
            <a:ext cx="5343709" cy="594004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44C410-D557-544A-DC99-44A0F9E3C99A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ircle: Hollow 28">
            <a:extLst>
              <a:ext uri="{FF2B5EF4-FFF2-40B4-BE49-F238E27FC236}">
                <a16:creationId xmlns:a16="http://schemas.microsoft.com/office/drawing/2014/main" id="{7DC6A79B-9759-F420-E1F8-137C1269D001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Graphic 18" descr="Books with solid fill">
            <a:extLst>
              <a:ext uri="{FF2B5EF4-FFF2-40B4-BE49-F238E27FC236}">
                <a16:creationId xmlns:a16="http://schemas.microsoft.com/office/drawing/2014/main" id="{50584CBB-5041-6E60-0A0F-B037C6DC5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20" y="1352639"/>
            <a:ext cx="434502" cy="43450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EBC93F2-F63F-A657-2D63-0FC230F1A4CD}"/>
              </a:ext>
            </a:extLst>
          </p:cNvPr>
          <p:cNvSpPr txBox="1">
            <a:spLocks/>
          </p:cNvSpPr>
          <p:nvPr/>
        </p:nvSpPr>
        <p:spPr>
          <a:xfrm>
            <a:off x="1054206" y="1357822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Success criteria 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D5E3D9-ABD7-A2E9-A7B1-8DE612657701}"/>
              </a:ext>
            </a:extLst>
          </p:cNvPr>
          <p:cNvGrpSpPr/>
          <p:nvPr/>
        </p:nvGrpSpPr>
        <p:grpSpPr>
          <a:xfrm>
            <a:off x="7223371" y="279022"/>
            <a:ext cx="4639465" cy="575005"/>
            <a:chOff x="5677807" y="418528"/>
            <a:chExt cx="6215923" cy="7578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AB6D8A-11ED-CE14-6BD2-029712818CA9}"/>
                </a:ext>
              </a:extLst>
            </p:cNvPr>
            <p:cNvGrpSpPr/>
            <p:nvPr/>
          </p:nvGrpSpPr>
          <p:grpSpPr>
            <a:xfrm>
              <a:off x="5690030" y="445122"/>
              <a:ext cx="6203617" cy="685917"/>
              <a:chOff x="995673" y="8188180"/>
              <a:chExt cx="9681199" cy="105740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C90FADF-75BA-C6BE-F63A-72BFE9093B0C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AC1D7FC-F027-BC63-ABF4-1F29673F411B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A3A061F-653A-83FA-7CA4-6AE80C502A5B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18D09D9-D365-96C5-15EE-F62D9DC34E35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D574437-CD5D-ED9D-8C6B-58CB3ABF2FB0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4050350-B9A2-6F3C-6D50-99BB91AF3629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20F7E61-52FA-1787-6ABC-B66C8B700535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9E8E55F-18AB-7484-70C7-219996653E9E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6" name="Graphic 5" descr="Information outline">
              <a:extLst>
                <a:ext uri="{FF2B5EF4-FFF2-40B4-BE49-F238E27FC236}">
                  <a16:creationId xmlns:a16="http://schemas.microsoft.com/office/drawing/2014/main" id="{6E0E3427-4D99-659F-6F65-459D2B313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" name="Graphic 6" descr="Abacus outline">
              <a:extLst>
                <a:ext uri="{FF2B5EF4-FFF2-40B4-BE49-F238E27FC236}">
                  <a16:creationId xmlns:a16="http://schemas.microsoft.com/office/drawing/2014/main" id="{AE667CE3-AC4F-B551-B6B8-8757696F4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8" name="Graphic 7" descr="Target outline">
              <a:extLst>
                <a:ext uri="{FF2B5EF4-FFF2-40B4-BE49-F238E27FC236}">
                  <a16:creationId xmlns:a16="http://schemas.microsoft.com/office/drawing/2014/main" id="{D0E81B5A-622A-98E8-399C-5A7A0091F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" name="Graphic 8" descr="Clipboard Mixed outline">
              <a:extLst>
                <a:ext uri="{FF2B5EF4-FFF2-40B4-BE49-F238E27FC236}">
                  <a16:creationId xmlns:a16="http://schemas.microsoft.com/office/drawing/2014/main" id="{CA5E7477-9C07-816B-6007-A1F95BB04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0" name="Graphic 9" descr="Gears outline">
              <a:extLst>
                <a:ext uri="{FF2B5EF4-FFF2-40B4-BE49-F238E27FC236}">
                  <a16:creationId xmlns:a16="http://schemas.microsoft.com/office/drawing/2014/main" id="{6CB97B85-D831-6865-2122-C67F2E0F9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" name="Graphic 11" descr="Bar graph with upward trend outline">
              <a:extLst>
                <a:ext uri="{FF2B5EF4-FFF2-40B4-BE49-F238E27FC236}">
                  <a16:creationId xmlns:a16="http://schemas.microsoft.com/office/drawing/2014/main" id="{15F99CA6-5F81-66E7-F5AF-532C6A2D1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3" name="Graphic 12" descr="Classroom outline">
              <a:extLst>
                <a:ext uri="{FF2B5EF4-FFF2-40B4-BE49-F238E27FC236}">
                  <a16:creationId xmlns:a16="http://schemas.microsoft.com/office/drawing/2014/main" id="{72C5DCCE-7E65-34B3-BEC9-EF6329C91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C3E60F03-7308-6E86-38F9-49051B8F2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43F17C3-2DA1-E35B-55CF-4BC4D60563EA}"/>
              </a:ext>
            </a:extLst>
          </p:cNvPr>
          <p:cNvSpPr txBox="1"/>
          <p:nvPr/>
        </p:nvSpPr>
        <p:spPr>
          <a:xfrm>
            <a:off x="558799" y="1805531"/>
            <a:ext cx="11303975" cy="4548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The 5 Whys are fact-based and logically consistent, not opinion-based.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The final root cause is actionable within our span of control.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The root cause prevents recurrence and is not just a symptom.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Identify the point of occurrence. </a:t>
            </a:r>
          </a:p>
          <a:p>
            <a:pPr defTabSz="609630">
              <a:lnSpc>
                <a:spcPct val="250000"/>
              </a:lnSpc>
            </a:pPr>
            <a:endParaRPr lang="en-BE" sz="240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0F008B0-EE1D-F425-C3B7-B3063F7C84AC}"/>
              </a:ext>
            </a:extLst>
          </p:cNvPr>
          <p:cNvSpPr/>
          <p:nvPr/>
        </p:nvSpPr>
        <p:spPr>
          <a:xfrm>
            <a:off x="1635307" y="5901881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Isosceles Triangle 90">
            <a:extLst>
              <a:ext uri="{FF2B5EF4-FFF2-40B4-BE49-F238E27FC236}">
                <a16:creationId xmlns:a16="http://schemas.microsoft.com/office/drawing/2014/main" id="{877B9A9F-ED30-3C2C-DE00-82C76AE0E943}"/>
              </a:ext>
            </a:extLst>
          </p:cNvPr>
          <p:cNvSpPr/>
          <p:nvPr/>
        </p:nvSpPr>
        <p:spPr>
          <a:xfrm rot="10800000">
            <a:off x="9107424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DDAE9784-0600-C441-6A6D-2898DDAA7A3D}"/>
              </a:ext>
            </a:extLst>
          </p:cNvPr>
          <p:cNvSpPr txBox="1">
            <a:spLocks/>
          </p:cNvSpPr>
          <p:nvPr/>
        </p:nvSpPr>
        <p:spPr>
          <a:xfrm>
            <a:off x="317203" y="676593"/>
            <a:ext cx="5676892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4: Analyze root cause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F6E6FB-F1C6-CAF7-CDCB-0F66189FE897}"/>
              </a:ext>
            </a:extLst>
          </p:cNvPr>
          <p:cNvGrpSpPr/>
          <p:nvPr/>
        </p:nvGrpSpPr>
        <p:grpSpPr>
          <a:xfrm>
            <a:off x="-80819" y="-44236"/>
            <a:ext cx="2932876" cy="617260"/>
            <a:chOff x="-121228" y="-66354"/>
            <a:chExt cx="2218895" cy="85577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2AA229C-443C-912F-B3CD-F0D5584D1FFD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 Placeholder 11">
              <a:extLst>
                <a:ext uri="{FF2B5EF4-FFF2-40B4-BE49-F238E27FC236}">
                  <a16:creationId xmlns:a16="http://schemas.microsoft.com/office/drawing/2014/main" id="{C3689139-4BB0-5ECF-34C8-E940F3A7645A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 dirty="0">
                  <a:solidFill>
                    <a:prstClr val="black"/>
                  </a:solidFill>
                </a:rPr>
                <a:t>Best Practices</a:t>
              </a:r>
              <a:endParaRPr lang="en-BE" sz="240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2540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E479-D65A-124E-CB1E-D2BD8876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18">
            <a:extLst>
              <a:ext uri="{FF2B5EF4-FFF2-40B4-BE49-F238E27FC236}">
                <a16:creationId xmlns:a16="http://schemas.microsoft.com/office/drawing/2014/main" id="{FF25D4E9-5EC7-F99A-4F0C-1FF29664B2CF}"/>
              </a:ext>
            </a:extLst>
          </p:cNvPr>
          <p:cNvSpPr/>
          <p:nvPr/>
        </p:nvSpPr>
        <p:spPr>
          <a:xfrm>
            <a:off x="242295" y="2526675"/>
            <a:ext cx="6927065" cy="299582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F6023B1-53DB-6CC5-965C-7A0625DB1C35}"/>
              </a:ext>
            </a:extLst>
          </p:cNvPr>
          <p:cNvSpPr/>
          <p:nvPr/>
        </p:nvSpPr>
        <p:spPr>
          <a:xfrm>
            <a:off x="9466378" y="2966335"/>
            <a:ext cx="1988005" cy="21795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2133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65D937F-5A9E-D2D8-46C7-E33A84929DC4}"/>
              </a:ext>
            </a:extLst>
          </p:cNvPr>
          <p:cNvSpPr/>
          <p:nvPr/>
        </p:nvSpPr>
        <p:spPr>
          <a:xfrm>
            <a:off x="7237114" y="2982515"/>
            <a:ext cx="1988005" cy="21795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2133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C00912F-4C34-7C0D-AB12-34DE0E0D88B2}"/>
              </a:ext>
            </a:extLst>
          </p:cNvPr>
          <p:cNvSpPr/>
          <p:nvPr/>
        </p:nvSpPr>
        <p:spPr>
          <a:xfrm>
            <a:off x="5009200" y="2982515"/>
            <a:ext cx="1988005" cy="21795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2133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8693595-B7FB-B187-5114-E34BC26715DB}"/>
              </a:ext>
            </a:extLst>
          </p:cNvPr>
          <p:cNvSpPr/>
          <p:nvPr/>
        </p:nvSpPr>
        <p:spPr>
          <a:xfrm>
            <a:off x="2789302" y="2955778"/>
            <a:ext cx="1988005" cy="217959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2133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82ADD1A-21F5-F354-EBDB-99687A079377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9E7442D-E276-C0E9-A168-C11C2F094F5C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E6E01E0-F59A-6E2D-7635-AF63F67B3AC1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7A2E91F-FA78-6EF9-B693-89DF92705B4D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D14F5B9-F335-ABC9-2C51-764D4D1224A7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C79034D-1C12-3F29-8C59-3C61D6DD9D45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C011267-7E18-DB11-EFBD-090003B0CE18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E77CD6C-ADD8-230C-EEB2-97A590484956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FE43EC4-4B61-05B1-BBE4-4B8F8BAAAD86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7591155-1F00-E8C6-D007-35B09D052564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6F8B849-F679-DF4A-88EE-2BA60CBB65A1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7" name="Graphic 6" descr="Information outline">
              <a:extLst>
                <a:ext uri="{FF2B5EF4-FFF2-40B4-BE49-F238E27FC236}">
                  <a16:creationId xmlns:a16="http://schemas.microsoft.com/office/drawing/2014/main" id="{74ACECC7-4CFF-A8C6-84E3-23096A408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8" name="Graphic 7" descr="Abacus outline">
              <a:extLst>
                <a:ext uri="{FF2B5EF4-FFF2-40B4-BE49-F238E27FC236}">
                  <a16:creationId xmlns:a16="http://schemas.microsoft.com/office/drawing/2014/main" id="{F0A81603-C4A8-0AA1-4CF8-291DD8315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9" name="Graphic 8" descr="Target outline">
              <a:extLst>
                <a:ext uri="{FF2B5EF4-FFF2-40B4-BE49-F238E27FC236}">
                  <a16:creationId xmlns:a16="http://schemas.microsoft.com/office/drawing/2014/main" id="{8F990DCB-AB12-B12D-CB0C-AB6C6D221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12" name="Graphic 11" descr="Clipboard Mixed outline">
              <a:extLst>
                <a:ext uri="{FF2B5EF4-FFF2-40B4-BE49-F238E27FC236}">
                  <a16:creationId xmlns:a16="http://schemas.microsoft.com/office/drawing/2014/main" id="{3A4D14B0-9804-4E2A-A188-813FF47AF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3" name="Graphic 12" descr="Gears outline">
              <a:extLst>
                <a:ext uri="{FF2B5EF4-FFF2-40B4-BE49-F238E27FC236}">
                  <a16:creationId xmlns:a16="http://schemas.microsoft.com/office/drawing/2014/main" id="{36C36BD6-7CFB-5561-6D02-D73F58252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6" name="Graphic 15" descr="Bar graph with upward trend outline">
              <a:extLst>
                <a:ext uri="{FF2B5EF4-FFF2-40B4-BE49-F238E27FC236}">
                  <a16:creationId xmlns:a16="http://schemas.microsoft.com/office/drawing/2014/main" id="{DBB78239-2670-97FC-DE30-53F0D732E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8" name="Graphic 17" descr="Classroom outline">
              <a:extLst>
                <a:ext uri="{FF2B5EF4-FFF2-40B4-BE49-F238E27FC236}">
                  <a16:creationId xmlns:a16="http://schemas.microsoft.com/office/drawing/2014/main" id="{B91A6E47-F161-1A7B-35C6-1DC960883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20" name="Graphic 19" descr="Question Mark outline">
              <a:extLst>
                <a:ext uri="{FF2B5EF4-FFF2-40B4-BE49-F238E27FC236}">
                  <a16:creationId xmlns:a16="http://schemas.microsoft.com/office/drawing/2014/main" id="{1A90DA96-6A3D-06CE-E7E6-2EDB1ECCE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1A0192BD-31A7-950B-6236-F7DFB2A313F6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Graphic 30" descr="Postit Notes with solid fill">
            <a:extLst>
              <a:ext uri="{FF2B5EF4-FFF2-40B4-BE49-F238E27FC236}">
                <a16:creationId xmlns:a16="http://schemas.microsoft.com/office/drawing/2014/main" id="{558C95B9-E80B-43CB-FB57-0C5453B1875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5" y="1058104"/>
            <a:ext cx="633009" cy="633009"/>
          </a:xfrm>
          <a:prstGeom prst="rect">
            <a:avLst/>
          </a:prstGeom>
        </p:spPr>
      </p:pic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426AC12-39F0-45E6-BC02-11CE4855715C}"/>
              </a:ext>
            </a:extLst>
          </p:cNvPr>
          <p:cNvSpPr txBox="1">
            <a:spLocks/>
          </p:cNvSpPr>
          <p:nvPr/>
        </p:nvSpPr>
        <p:spPr>
          <a:xfrm>
            <a:off x="929853" y="1211740"/>
            <a:ext cx="2664960" cy="430887"/>
          </a:xfrm>
          <a:prstGeom prst="rect">
            <a:avLst/>
          </a:prstGeom>
        </p:spPr>
        <p:txBody>
          <a:bodyPr vert="horz" wrap="non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Proposed solution </a:t>
            </a:r>
            <a:endParaRPr lang="en-BE" sz="2400">
              <a:solidFill>
                <a:prstClr val="black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116DE5-1511-18B3-6587-DBC2314BEE62}"/>
              </a:ext>
            </a:extLst>
          </p:cNvPr>
          <p:cNvSpPr/>
          <p:nvPr/>
        </p:nvSpPr>
        <p:spPr>
          <a:xfrm>
            <a:off x="461938" y="1797765"/>
            <a:ext cx="3155830" cy="509720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F85F45-03DD-8D79-DCCE-B998D499E122}"/>
              </a:ext>
            </a:extLst>
          </p:cNvPr>
          <p:cNvSpPr/>
          <p:nvPr/>
        </p:nvSpPr>
        <p:spPr>
          <a:xfrm>
            <a:off x="463297" y="2953320"/>
            <a:ext cx="2094573" cy="21795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2133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84781D-0726-F788-61C3-06A1878F6026}"/>
              </a:ext>
            </a:extLst>
          </p:cNvPr>
          <p:cNvSpPr/>
          <p:nvPr/>
        </p:nvSpPr>
        <p:spPr>
          <a:xfrm>
            <a:off x="463296" y="2581833"/>
            <a:ext cx="2094573" cy="49180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2D9B82CE-3E3B-2C22-7980-E16D7BD94F2D}"/>
              </a:ext>
            </a:extLst>
          </p:cNvPr>
          <p:cNvSpPr txBox="1">
            <a:spLocks/>
          </p:cNvSpPr>
          <p:nvPr/>
        </p:nvSpPr>
        <p:spPr>
          <a:xfrm>
            <a:off x="1107686" y="2687913"/>
            <a:ext cx="1003840" cy="461544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1</a:t>
            </a:r>
            <a:r>
              <a:rPr lang="en-US" sz="2133" baseline="30000">
                <a:solidFill>
                  <a:prstClr val="black"/>
                </a:solidFill>
              </a:rPr>
              <a:t>st</a:t>
            </a:r>
            <a:r>
              <a:rPr lang="en-US" sz="2133">
                <a:solidFill>
                  <a:prstClr val="black"/>
                </a:solidFill>
              </a:rPr>
              <a:t> Why  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967FFBA-9F2D-5101-27F4-3B829339728B}"/>
              </a:ext>
            </a:extLst>
          </p:cNvPr>
          <p:cNvSpPr txBox="1">
            <a:spLocks/>
          </p:cNvSpPr>
          <p:nvPr/>
        </p:nvSpPr>
        <p:spPr>
          <a:xfrm>
            <a:off x="515244" y="1896922"/>
            <a:ext cx="3709177" cy="356957"/>
          </a:xfrm>
          <a:prstGeom prst="rect">
            <a:avLst/>
          </a:prstGeom>
        </p:spPr>
        <p:txBody>
          <a:bodyPr vert="horz" wrap="squar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Prioritized subproblem: 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CD6BA7-D96A-41FF-9625-F9463DA0D5A2}"/>
              </a:ext>
            </a:extLst>
          </p:cNvPr>
          <p:cNvSpPr/>
          <p:nvPr/>
        </p:nvSpPr>
        <p:spPr>
          <a:xfrm>
            <a:off x="9462915" y="2581836"/>
            <a:ext cx="1988005" cy="46619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1D012A-550A-FFAD-4EC0-164FC4631E0F}"/>
              </a:ext>
            </a:extLst>
          </p:cNvPr>
          <p:cNvSpPr/>
          <p:nvPr/>
        </p:nvSpPr>
        <p:spPr>
          <a:xfrm>
            <a:off x="7238472" y="2610582"/>
            <a:ext cx="1988005" cy="45045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E54858-B8D9-9F53-815C-0483B186D65E}"/>
              </a:ext>
            </a:extLst>
          </p:cNvPr>
          <p:cNvSpPr/>
          <p:nvPr/>
        </p:nvSpPr>
        <p:spPr>
          <a:xfrm>
            <a:off x="5011918" y="2595148"/>
            <a:ext cx="1985287" cy="46656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1D41A9E-217F-E57E-F01E-C7B5661231FE}"/>
              </a:ext>
            </a:extLst>
          </p:cNvPr>
          <p:cNvSpPr/>
          <p:nvPr/>
        </p:nvSpPr>
        <p:spPr>
          <a:xfrm>
            <a:off x="2786343" y="2579984"/>
            <a:ext cx="1988005" cy="48248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21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8D135D9-814A-ECE1-F237-8B9AD1CBE967}"/>
              </a:ext>
            </a:extLst>
          </p:cNvPr>
          <p:cNvSpPr txBox="1">
            <a:spLocks/>
          </p:cNvSpPr>
          <p:nvPr/>
        </p:nvSpPr>
        <p:spPr>
          <a:xfrm>
            <a:off x="3155512" y="2672899"/>
            <a:ext cx="1386413" cy="34786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2</a:t>
            </a:r>
            <a:r>
              <a:rPr lang="en-US" sz="2133" baseline="30000">
                <a:solidFill>
                  <a:prstClr val="black"/>
                </a:solidFill>
              </a:rPr>
              <a:t>nd </a:t>
            </a:r>
            <a:r>
              <a:rPr lang="en-US" sz="2133">
                <a:solidFill>
                  <a:prstClr val="black"/>
                </a:solidFill>
              </a:rPr>
              <a:t> Why  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EDB5B48B-59C3-0F4B-A918-88AA304AAAFD}"/>
              </a:ext>
            </a:extLst>
          </p:cNvPr>
          <p:cNvSpPr txBox="1">
            <a:spLocks/>
          </p:cNvSpPr>
          <p:nvPr/>
        </p:nvSpPr>
        <p:spPr>
          <a:xfrm>
            <a:off x="9963055" y="2687914"/>
            <a:ext cx="1121325" cy="48248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5</a:t>
            </a:r>
            <a:r>
              <a:rPr lang="en-US" sz="2133" baseline="30000">
                <a:solidFill>
                  <a:prstClr val="black"/>
                </a:solidFill>
              </a:rPr>
              <a:t>th</a:t>
            </a:r>
            <a:r>
              <a:rPr lang="en-US" sz="2133">
                <a:solidFill>
                  <a:prstClr val="black"/>
                </a:solidFill>
              </a:rPr>
              <a:t> Why  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3CBD4CE1-E9DE-7320-6F1B-CC38D655A410}"/>
              </a:ext>
            </a:extLst>
          </p:cNvPr>
          <p:cNvSpPr txBox="1">
            <a:spLocks/>
          </p:cNvSpPr>
          <p:nvPr/>
        </p:nvSpPr>
        <p:spPr>
          <a:xfrm>
            <a:off x="5507772" y="2703963"/>
            <a:ext cx="1121325" cy="48248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3</a:t>
            </a:r>
            <a:r>
              <a:rPr lang="en-US" sz="2133" baseline="30000">
                <a:solidFill>
                  <a:prstClr val="black"/>
                </a:solidFill>
              </a:rPr>
              <a:t>rd</a:t>
            </a:r>
            <a:r>
              <a:rPr lang="en-US" sz="2133">
                <a:solidFill>
                  <a:prstClr val="black"/>
                </a:solidFill>
              </a:rPr>
              <a:t> Why  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0508AB-A527-8426-F81A-6A34635AECD7}"/>
              </a:ext>
            </a:extLst>
          </p:cNvPr>
          <p:cNvSpPr txBox="1">
            <a:spLocks/>
          </p:cNvSpPr>
          <p:nvPr/>
        </p:nvSpPr>
        <p:spPr>
          <a:xfrm>
            <a:off x="7757026" y="2712360"/>
            <a:ext cx="1121325" cy="482489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4</a:t>
            </a:r>
            <a:r>
              <a:rPr lang="en-US" sz="2133" baseline="30000">
                <a:solidFill>
                  <a:prstClr val="black"/>
                </a:solidFill>
              </a:rPr>
              <a:t>th</a:t>
            </a:r>
            <a:r>
              <a:rPr lang="en-US" sz="2133">
                <a:solidFill>
                  <a:prstClr val="black"/>
                </a:solidFill>
              </a:rPr>
              <a:t> Why  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D564AD53-1457-2182-525D-9C65D63FB04B}"/>
              </a:ext>
            </a:extLst>
          </p:cNvPr>
          <p:cNvSpPr txBox="1">
            <a:spLocks/>
          </p:cNvSpPr>
          <p:nvPr/>
        </p:nvSpPr>
        <p:spPr>
          <a:xfrm>
            <a:off x="3817045" y="1857007"/>
            <a:ext cx="6003759" cy="356957"/>
          </a:xfrm>
          <a:prstGeom prst="rect">
            <a:avLst/>
          </a:prstGeom>
        </p:spPr>
        <p:txBody>
          <a:bodyPr vert="horz" wrap="non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70505">
              <a:spcBef>
                <a:spcPct val="0"/>
              </a:spcBef>
              <a:spcAft>
                <a:spcPct val="35000"/>
              </a:spcAft>
            </a:pPr>
            <a:r>
              <a:rPr lang="nl-BE" sz="2133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No clear rules to prioritize premium/urgent orders</a:t>
            </a:r>
            <a:endParaRPr lang="nl-BE" sz="2133" b="1" dirty="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9EBB1656-379B-4B62-C249-2B98896AF1F5}"/>
              </a:ext>
            </a:extLst>
          </p:cNvPr>
          <p:cNvSpPr txBox="1">
            <a:spLocks/>
          </p:cNvSpPr>
          <p:nvPr/>
        </p:nvSpPr>
        <p:spPr>
          <a:xfrm>
            <a:off x="2778871" y="3484641"/>
            <a:ext cx="1995476" cy="1243161"/>
          </a:xfrm>
          <a:prstGeom prst="rect">
            <a:avLst/>
          </a:prstGeom>
        </p:spPr>
        <p:txBody>
          <a:bodyPr vert="horz" wrap="squar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133" i="1">
                <a:solidFill>
                  <a:prstClr val="black"/>
                </a:solidFill>
              </a:rPr>
              <a:t>No agreed end-to-end prioritization framework</a:t>
            </a:r>
            <a:endParaRPr lang="en-BE" sz="2133" i="1">
              <a:solidFill>
                <a:prstClr val="black"/>
              </a:solidFill>
            </a:endParaRP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5824710E-73CF-74DC-E9B3-831AF88944AB}"/>
              </a:ext>
            </a:extLst>
          </p:cNvPr>
          <p:cNvSpPr txBox="1">
            <a:spLocks/>
          </p:cNvSpPr>
          <p:nvPr/>
        </p:nvSpPr>
        <p:spPr>
          <a:xfrm>
            <a:off x="5005780" y="3360598"/>
            <a:ext cx="1990074" cy="1538563"/>
          </a:xfrm>
          <a:prstGeom prst="rect">
            <a:avLst/>
          </a:prstGeom>
        </p:spPr>
        <p:txBody>
          <a:bodyPr vert="horz" wrap="square" lIns="60960" tIns="30480" rIns="60960" bIns="30480" rtlCol="0">
            <a:sp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Peak-season rules are not formally defined and validated.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2F8FD90C-C5AA-31E6-11DD-492C03CCE762}"/>
              </a:ext>
            </a:extLst>
          </p:cNvPr>
          <p:cNvSpPr txBox="1">
            <a:spLocks/>
          </p:cNvSpPr>
          <p:nvPr/>
        </p:nvSpPr>
        <p:spPr>
          <a:xfrm>
            <a:off x="7223349" y="3335151"/>
            <a:ext cx="2001769" cy="1538563"/>
          </a:xfrm>
          <a:prstGeom prst="rect">
            <a:avLst/>
          </a:prstGeom>
        </p:spPr>
        <p:txBody>
          <a:bodyPr vert="horz" wrap="square" lIns="60960" tIns="30480" rIns="60960" bIns="30480" rtlCol="0">
            <a:sp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No single accountable owner for peak-season governance.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27A6D60A-DC5F-9A42-E7F2-C13808A49948}"/>
              </a:ext>
            </a:extLst>
          </p:cNvPr>
          <p:cNvSpPr txBox="1">
            <a:spLocks/>
          </p:cNvSpPr>
          <p:nvPr/>
        </p:nvSpPr>
        <p:spPr>
          <a:xfrm>
            <a:off x="9467819" y="3220679"/>
            <a:ext cx="1988005" cy="1833964"/>
          </a:xfrm>
          <a:prstGeom prst="rect">
            <a:avLst/>
          </a:prstGeom>
        </p:spPr>
        <p:txBody>
          <a:bodyPr vert="horz" wrap="squar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133" i="1">
                <a:solidFill>
                  <a:prstClr val="black"/>
                </a:solidFill>
              </a:rPr>
              <a:t>Peak-season execution is not treated as a structured end-to-end process</a:t>
            </a:r>
            <a:endParaRPr lang="en-BE" sz="2133" i="1">
              <a:solidFill>
                <a:prstClr val="black"/>
              </a:solidFill>
            </a:endParaRPr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7B49D709-D1A9-B4B2-16D1-86D5CE55D4C3}"/>
              </a:ext>
            </a:extLst>
          </p:cNvPr>
          <p:cNvSpPr/>
          <p:nvPr/>
        </p:nvSpPr>
        <p:spPr>
          <a:xfrm rot="16200000">
            <a:off x="5787918" y="5340037"/>
            <a:ext cx="547753" cy="41955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sosceles Triangle 90">
            <a:extLst>
              <a:ext uri="{FF2B5EF4-FFF2-40B4-BE49-F238E27FC236}">
                <a16:creationId xmlns:a16="http://schemas.microsoft.com/office/drawing/2014/main" id="{DEB20FD6-68C7-0E4F-0F0F-A0A671BFD826}"/>
              </a:ext>
            </a:extLst>
          </p:cNvPr>
          <p:cNvSpPr/>
          <p:nvPr/>
        </p:nvSpPr>
        <p:spPr>
          <a:xfrm rot="10800000">
            <a:off x="9107424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1A777CF4-937E-6844-9C61-F3FAD787E430}"/>
              </a:ext>
            </a:extLst>
          </p:cNvPr>
          <p:cNvSpPr txBox="1">
            <a:spLocks/>
          </p:cNvSpPr>
          <p:nvPr/>
        </p:nvSpPr>
        <p:spPr>
          <a:xfrm>
            <a:off x="534917" y="697601"/>
            <a:ext cx="5676892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4: Analyze root cause </a:t>
            </a:r>
            <a:endParaRPr lang="en-BE" sz="2933">
              <a:solidFill>
                <a:prstClr val="black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956446-74BA-8B3B-4653-C04D593C556B}"/>
              </a:ext>
            </a:extLst>
          </p:cNvPr>
          <p:cNvSpPr txBox="1">
            <a:spLocks/>
          </p:cNvSpPr>
          <p:nvPr/>
        </p:nvSpPr>
        <p:spPr>
          <a:xfrm>
            <a:off x="670792" y="5345502"/>
            <a:ext cx="2326745" cy="35695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vert="horz" wrap="squar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Span of control</a:t>
            </a:r>
            <a:endParaRPr lang="en-BE" sz="2133">
              <a:solidFill>
                <a:prstClr val="black"/>
              </a:solidFill>
            </a:endParaRPr>
          </a:p>
        </p:txBody>
      </p:sp>
      <p:sp>
        <p:nvSpPr>
          <p:cNvPr id="17" name="Rectangle: Rounded Corners 18">
            <a:extLst>
              <a:ext uri="{FF2B5EF4-FFF2-40B4-BE49-F238E27FC236}">
                <a16:creationId xmlns:a16="http://schemas.microsoft.com/office/drawing/2014/main" id="{17033CE0-579F-7A3A-96BD-8743FDF398B0}"/>
              </a:ext>
            </a:extLst>
          </p:cNvPr>
          <p:cNvSpPr/>
          <p:nvPr/>
        </p:nvSpPr>
        <p:spPr>
          <a:xfrm>
            <a:off x="242295" y="2526675"/>
            <a:ext cx="11486409" cy="3359070"/>
          </a:xfrm>
          <a:prstGeom prst="roundRect">
            <a:avLst>
              <a:gd name="adj" fmla="val 145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9F4F903-1057-7D25-1537-B76AA61F53F1}"/>
              </a:ext>
            </a:extLst>
          </p:cNvPr>
          <p:cNvSpPr txBox="1">
            <a:spLocks/>
          </p:cNvSpPr>
          <p:nvPr/>
        </p:nvSpPr>
        <p:spPr>
          <a:xfrm>
            <a:off x="8832381" y="5707377"/>
            <a:ext cx="2326745" cy="35695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vert="horz" wrap="squar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</a:rPr>
              <a:t>Enterprise</a:t>
            </a:r>
            <a:endParaRPr lang="en-BE" sz="2133">
              <a:solidFill>
                <a:prstClr val="black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CF91CE-CCD3-6B78-D2F5-2A5F6DE76E09}"/>
              </a:ext>
            </a:extLst>
          </p:cNvPr>
          <p:cNvGrpSpPr/>
          <p:nvPr/>
        </p:nvGrpSpPr>
        <p:grpSpPr>
          <a:xfrm>
            <a:off x="-80819" y="-44236"/>
            <a:ext cx="4525305" cy="703552"/>
            <a:chOff x="-121228" y="-66354"/>
            <a:chExt cx="2218895" cy="91222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4DA40A7-6FD6-4150-19F3-595A958919DE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" name="Text Placeholder 11">
              <a:extLst>
                <a:ext uri="{FF2B5EF4-FFF2-40B4-BE49-F238E27FC236}">
                  <a16:creationId xmlns:a16="http://schemas.microsoft.com/office/drawing/2014/main" id="{34B0B262-273C-549A-7704-F2854B71F0DC}"/>
                </a:ext>
              </a:extLst>
            </p:cNvPr>
            <p:cNvSpPr txBox="1">
              <a:spLocks/>
            </p:cNvSpPr>
            <p:nvPr/>
          </p:nvSpPr>
          <p:spPr>
            <a:xfrm>
              <a:off x="-14818" y="71242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Application : Amazon UK 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E02FBF00-171E-B36C-C1B4-34F58ABD608D}"/>
              </a:ext>
            </a:extLst>
          </p:cNvPr>
          <p:cNvSpPr txBox="1">
            <a:spLocks/>
          </p:cNvSpPr>
          <p:nvPr/>
        </p:nvSpPr>
        <p:spPr>
          <a:xfrm>
            <a:off x="468153" y="3346372"/>
            <a:ext cx="2022551" cy="1538563"/>
          </a:xfrm>
          <a:prstGeom prst="rect">
            <a:avLst/>
          </a:prstGeom>
        </p:spPr>
        <p:txBody>
          <a:bodyPr vert="horz" wrap="square" lIns="60960" tIns="30480" rIns="60960" bIns="3048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133" i="1" dirty="0">
                <a:solidFill>
                  <a:prstClr val="black"/>
                </a:solidFill>
              </a:rPr>
              <a:t>Conflicting priorities between Sales, Logistics and Operations. </a:t>
            </a:r>
            <a:endParaRPr lang="en-BE" sz="2133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7762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CAEC-49C9-BDCA-E0E1-EDF69400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1">
            <a:extLst>
              <a:ext uri="{FF2B5EF4-FFF2-40B4-BE49-F238E27FC236}">
                <a16:creationId xmlns:a16="http://schemas.microsoft.com/office/drawing/2014/main" id="{AF04E2D7-56A4-449B-FB47-7530EECEEC04}"/>
              </a:ext>
            </a:extLst>
          </p:cNvPr>
          <p:cNvSpPr/>
          <p:nvPr/>
        </p:nvSpPr>
        <p:spPr>
          <a:xfrm>
            <a:off x="442143" y="1229280"/>
            <a:ext cx="9037352" cy="546166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defRPr/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 Purpose : Design solutions that directly address the root cause(s).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C5652DA-1322-C8AF-C4DE-23DA7788FD6C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627B17E-B25C-D042-5F95-F1A0516B156C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3F5DF7-C53A-9228-DD0F-673C5180A71B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0F48C01-1B43-88C4-41EA-D13C974E67F1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C7DAEFB-A69F-70BC-ACA5-DA962E63C4C0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085FCE4-93AB-30AB-CEF1-368A8E091D6A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D6B7341-E8E8-74DF-6C70-B1517F979CD8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115B8D5-B29D-27F4-E304-E9CA69273AE2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F93375A-A14D-B6FE-3BD1-48BBD245AD45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408170C-937E-D1E2-93BE-DC51B6A4F3F9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1008C11-FE0D-6731-6C4A-35AE083E3B23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18" name="Graphic 17" descr="Information outline">
              <a:extLst>
                <a:ext uri="{FF2B5EF4-FFF2-40B4-BE49-F238E27FC236}">
                  <a16:creationId xmlns:a16="http://schemas.microsoft.com/office/drawing/2014/main" id="{E13A11C3-B418-6E14-0B63-FABDF569A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19" name="Graphic 18" descr="Abacus outline">
              <a:extLst>
                <a:ext uri="{FF2B5EF4-FFF2-40B4-BE49-F238E27FC236}">
                  <a16:creationId xmlns:a16="http://schemas.microsoft.com/office/drawing/2014/main" id="{FF1E43E2-0D22-06F0-D1C8-DDE435C2F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20" name="Graphic 19" descr="Target outline">
              <a:extLst>
                <a:ext uri="{FF2B5EF4-FFF2-40B4-BE49-F238E27FC236}">
                  <a16:creationId xmlns:a16="http://schemas.microsoft.com/office/drawing/2014/main" id="{9F3AFC43-5FD2-3137-C812-E3F3A3176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21" name="Graphic 20" descr="Clipboard Mixed outline">
              <a:extLst>
                <a:ext uri="{FF2B5EF4-FFF2-40B4-BE49-F238E27FC236}">
                  <a16:creationId xmlns:a16="http://schemas.microsoft.com/office/drawing/2014/main" id="{40A09B75-433E-1561-F236-393778FC8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22" name="Graphic 21" descr="Gears outline">
              <a:extLst>
                <a:ext uri="{FF2B5EF4-FFF2-40B4-BE49-F238E27FC236}">
                  <a16:creationId xmlns:a16="http://schemas.microsoft.com/office/drawing/2014/main" id="{71BAA27C-D81A-E065-69AD-38A2C68A5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23" name="Graphic 22" descr="Bar graph with upward trend outline">
              <a:extLst>
                <a:ext uri="{FF2B5EF4-FFF2-40B4-BE49-F238E27FC236}">
                  <a16:creationId xmlns:a16="http://schemas.microsoft.com/office/drawing/2014/main" id="{BFE8FC3C-683F-D379-9998-5CDFC24D6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24" name="Graphic 23" descr="Classroom outline">
              <a:extLst>
                <a:ext uri="{FF2B5EF4-FFF2-40B4-BE49-F238E27FC236}">
                  <a16:creationId xmlns:a16="http://schemas.microsoft.com/office/drawing/2014/main" id="{BDCBB9AF-C1D5-1C31-EF5F-3C10CEF25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25" name="Graphic 24" descr="Question Mark outline">
              <a:extLst>
                <a:ext uri="{FF2B5EF4-FFF2-40B4-BE49-F238E27FC236}">
                  <a16:creationId xmlns:a16="http://schemas.microsoft.com/office/drawing/2014/main" id="{B3157669-A21A-68AA-A366-C3F7B7A64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34" name="Circle: Hollow 33">
            <a:extLst>
              <a:ext uri="{FF2B5EF4-FFF2-40B4-BE49-F238E27FC236}">
                <a16:creationId xmlns:a16="http://schemas.microsoft.com/office/drawing/2014/main" id="{FD4E1FBF-39DF-6DDB-E986-26980827CE11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00D2ECB0-17E2-FA15-4C62-9A78B05D6DA5}"/>
              </a:ext>
            </a:extLst>
          </p:cNvPr>
          <p:cNvSpPr/>
          <p:nvPr/>
        </p:nvSpPr>
        <p:spPr>
          <a:xfrm rot="10800000">
            <a:off x="9701939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90EB99-5FCD-AA60-A5D3-2D3FA41C0456}"/>
              </a:ext>
            </a:extLst>
          </p:cNvPr>
          <p:cNvSpPr txBox="1"/>
          <p:nvPr/>
        </p:nvSpPr>
        <p:spPr>
          <a:xfrm>
            <a:off x="442144" y="1998455"/>
            <a:ext cx="7984966" cy="838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17" indent="-342917" defTabSz="609630">
              <a:spcBef>
                <a:spcPts val="667"/>
              </a:spcBef>
              <a:buFontTx/>
              <a:buAutoNum type="arabicParenBoth"/>
              <a:defRPr/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  Design solution: generate options “if no constraints”</a:t>
            </a:r>
          </a:p>
          <a:p>
            <a:pPr marL="342917" indent="-342917" defTabSz="609630">
              <a:spcBef>
                <a:spcPts val="667"/>
              </a:spcBef>
              <a:buFontTx/>
              <a:buAutoNum type="arabicParenBoth"/>
              <a:defRPr/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 Decide best option: apply constraints and criteria to select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2EC984F-3FB3-F144-0429-222FAE60809E}"/>
              </a:ext>
            </a:extLst>
          </p:cNvPr>
          <p:cNvSpPr txBox="1">
            <a:spLocks/>
          </p:cNvSpPr>
          <p:nvPr/>
        </p:nvSpPr>
        <p:spPr>
          <a:xfrm>
            <a:off x="317203" y="633051"/>
            <a:ext cx="6836096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5: Develop Counter-measures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774F42-DA93-3213-3B58-9336F353F12E}"/>
              </a:ext>
            </a:extLst>
          </p:cNvPr>
          <p:cNvGrpSpPr/>
          <p:nvPr/>
        </p:nvGrpSpPr>
        <p:grpSpPr>
          <a:xfrm>
            <a:off x="-80818" y="-44236"/>
            <a:ext cx="1479263" cy="570514"/>
            <a:chOff x="-121228" y="-66354"/>
            <a:chExt cx="2218895" cy="85577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FAF23FA-4933-AC4C-B768-48D8D192093B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Text Placeholder 11">
              <a:extLst>
                <a:ext uri="{FF2B5EF4-FFF2-40B4-BE49-F238E27FC236}">
                  <a16:creationId xmlns:a16="http://schemas.microsoft.com/office/drawing/2014/main" id="{187A00FB-9A3D-5FB8-5BF3-BD19A7570F8E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Theory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C65B445-85AB-EC7E-8489-45FA364C10BC}"/>
              </a:ext>
            </a:extLst>
          </p:cNvPr>
          <p:cNvGraphicFramePr>
            <a:graphicFrameLocks noGrp="1"/>
          </p:cNvGraphicFramePr>
          <p:nvPr/>
        </p:nvGraphicFramePr>
        <p:xfrm>
          <a:off x="713329" y="2979528"/>
          <a:ext cx="10092970" cy="258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2970">
                  <a:extLst>
                    <a:ext uri="{9D8B030D-6E8A-4147-A177-3AD203B41FA5}">
                      <a16:colId xmlns:a16="http://schemas.microsoft.com/office/drawing/2014/main" val="2524424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698817578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1182691224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199107225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164113207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499493512"/>
                    </a:ext>
                  </a:extLst>
                </a:gridCol>
              </a:tblGrid>
              <a:tr h="345600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FR" sz="19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Hard constraints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FR" sz="28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Soft constraints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FR" sz="28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FR" sz="28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2791553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FR" sz="28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FR" sz="19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Constraint 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FR" sz="19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Constraint 2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FR" sz="19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Constraint 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FR" sz="19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Constraint 4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FR" sz="1900" b="1" kern="120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Constraint 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19967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Countermeasure 1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>
                        <a:solidFill>
                          <a:srgbClr val="00B05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 noProof="0">
                          <a:solidFill>
                            <a:srgbClr val="C0000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57206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Countermeasure 2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 noProof="0">
                          <a:solidFill>
                            <a:srgbClr val="C0000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 noProof="0">
                          <a:solidFill>
                            <a:srgbClr val="C0000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101399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Countermeasure 3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9776222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23C34F5E-894A-0992-ADB2-6F6CD820C110}"/>
              </a:ext>
            </a:extLst>
          </p:cNvPr>
          <p:cNvSpPr txBox="1"/>
          <p:nvPr/>
        </p:nvSpPr>
        <p:spPr>
          <a:xfrm>
            <a:off x="10147938" y="5446412"/>
            <a:ext cx="1884378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609630">
              <a:spcBef>
                <a:spcPts val="667"/>
              </a:spcBef>
              <a:defRPr/>
            </a:pPr>
            <a:r>
              <a:rPr lang="en-US" sz="1867">
                <a:solidFill>
                  <a:prstClr val="black"/>
                </a:solidFill>
                <a:latin typeface="Alata" panose="020B0604020202020204" charset="0"/>
              </a:rPr>
              <a:t>Feasible </a:t>
            </a:r>
            <a:r>
              <a:rPr lang="en-US" sz="1867">
                <a:solidFill>
                  <a:srgbClr val="00B050"/>
                </a:solidFill>
                <a:latin typeface="Alata" panose="020B0604020202020204" charset="0"/>
              </a:rPr>
              <a:t> V</a:t>
            </a:r>
            <a:br>
              <a:rPr lang="en-US" sz="1867">
                <a:solidFill>
                  <a:prstClr val="black"/>
                </a:solidFill>
                <a:latin typeface="Alata" panose="020B0604020202020204" charset="0"/>
              </a:rPr>
            </a:br>
            <a:r>
              <a:rPr lang="en-US" sz="1867">
                <a:solidFill>
                  <a:prstClr val="black"/>
                </a:solidFill>
                <a:latin typeface="Alata" panose="020B0604020202020204" charset="0"/>
              </a:rPr>
              <a:t>Potentially  </a:t>
            </a:r>
            <a:r>
              <a:rPr lang="en-US" sz="1867">
                <a:solidFill>
                  <a:srgbClr val="FFC000"/>
                </a:solidFill>
                <a:latin typeface="Alata" panose="020B0604020202020204" charset="0"/>
              </a:rPr>
              <a:t>O</a:t>
            </a:r>
            <a:br>
              <a:rPr lang="en-US" sz="1867">
                <a:solidFill>
                  <a:prstClr val="black"/>
                </a:solidFill>
                <a:latin typeface="Alata" panose="020B0604020202020204" charset="0"/>
              </a:rPr>
            </a:br>
            <a:r>
              <a:rPr lang="en-US" sz="1867">
                <a:solidFill>
                  <a:prstClr val="black"/>
                </a:solidFill>
                <a:latin typeface="Alata" panose="020B0604020202020204" charset="0"/>
              </a:rPr>
              <a:t>Rejected </a:t>
            </a:r>
            <a:r>
              <a:rPr lang="en-US" sz="1867">
                <a:solidFill>
                  <a:srgbClr val="C00000"/>
                </a:solidFill>
                <a:latin typeface="Alata" panose="020B0604020202020204" charset="0"/>
              </a:rPr>
              <a:t>  X</a:t>
            </a:r>
            <a:endParaRPr lang="en-BE" sz="1867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78E65D9-CCAF-403B-8610-0569F022E70B}"/>
              </a:ext>
            </a:extLst>
          </p:cNvPr>
          <p:cNvSpPr/>
          <p:nvPr/>
        </p:nvSpPr>
        <p:spPr>
          <a:xfrm>
            <a:off x="1677703" y="5988010"/>
            <a:ext cx="8470235" cy="4425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/>
            <a:r>
              <a:rPr lang="en-GB" sz="2133">
                <a:solidFill>
                  <a:prstClr val="black"/>
                </a:solidFill>
                <a:latin typeface="Alata" panose="020B0604020202020204" charset="0"/>
              </a:rPr>
              <a:t> A validated decision + mandate (sponsor approval) to implement.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BB884B-B73C-69F8-12A3-F8E7A3303526}"/>
              </a:ext>
            </a:extLst>
          </p:cNvPr>
          <p:cNvSpPr/>
          <p:nvPr/>
        </p:nvSpPr>
        <p:spPr>
          <a:xfrm>
            <a:off x="442144" y="5988010"/>
            <a:ext cx="1235559" cy="442533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90000"/>
              </a:lnSpc>
              <a:spcBef>
                <a:spcPts val="667"/>
              </a:spcBef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Output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210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1B1F-E7C4-06B9-4F8F-C5A9F2778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50EB7D6-2413-C095-B16B-8A3C0A201A24}"/>
              </a:ext>
            </a:extLst>
          </p:cNvPr>
          <p:cNvSpPr/>
          <p:nvPr/>
        </p:nvSpPr>
        <p:spPr>
          <a:xfrm flipH="1" flipV="1">
            <a:off x="558799" y="1272268"/>
            <a:ext cx="5343709" cy="594004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B0847B-2614-AD87-D97A-D016BB8A2B28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ircle: Hollow 28">
            <a:extLst>
              <a:ext uri="{FF2B5EF4-FFF2-40B4-BE49-F238E27FC236}">
                <a16:creationId xmlns:a16="http://schemas.microsoft.com/office/drawing/2014/main" id="{66AAAD04-5ACA-1C7A-DA17-3C930D1DD489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Graphic 18" descr="Books with solid fill">
            <a:extLst>
              <a:ext uri="{FF2B5EF4-FFF2-40B4-BE49-F238E27FC236}">
                <a16:creationId xmlns:a16="http://schemas.microsoft.com/office/drawing/2014/main" id="{10533B3F-73F7-542F-CF9E-C150540B7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634" y="1352639"/>
            <a:ext cx="434502" cy="43450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81CEAC2-8E37-62BC-BBE5-43C77FF1636A}"/>
              </a:ext>
            </a:extLst>
          </p:cNvPr>
          <p:cNvSpPr txBox="1">
            <a:spLocks/>
          </p:cNvSpPr>
          <p:nvPr/>
        </p:nvSpPr>
        <p:spPr>
          <a:xfrm>
            <a:off x="1119520" y="1336051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Success criteria 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5393A7-EA0E-1E01-966D-C2EA321A5EE4}"/>
              </a:ext>
            </a:extLst>
          </p:cNvPr>
          <p:cNvGrpSpPr/>
          <p:nvPr/>
        </p:nvGrpSpPr>
        <p:grpSpPr>
          <a:xfrm>
            <a:off x="7223371" y="279022"/>
            <a:ext cx="4639465" cy="575005"/>
            <a:chOff x="5677807" y="418528"/>
            <a:chExt cx="6215923" cy="7578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7BD081-1E4A-4452-375E-1C1C18BEED0A}"/>
                </a:ext>
              </a:extLst>
            </p:cNvPr>
            <p:cNvGrpSpPr/>
            <p:nvPr/>
          </p:nvGrpSpPr>
          <p:grpSpPr>
            <a:xfrm>
              <a:off x="5690030" y="445122"/>
              <a:ext cx="6203617" cy="685917"/>
              <a:chOff x="995673" y="8188180"/>
              <a:chExt cx="9681199" cy="105740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9E16B2F-7763-2AD2-D387-ED4B7571094E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8686696-A322-00F2-D317-78931C4647CC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0D62334-DA2C-320C-E0AF-5A1363CE6187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28C08B4-A5A8-E658-3C79-5DBE210A4F29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F277A28-E80B-88E7-8222-8A9E7A662C15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5F93DC5-59B3-AD01-806B-F5C762A84C90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D5C8367-1AD5-8EB0-6E58-785323D74305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BBE6243-6153-DD0A-AF93-BC01824BE13E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6" name="Graphic 5" descr="Information outline">
              <a:extLst>
                <a:ext uri="{FF2B5EF4-FFF2-40B4-BE49-F238E27FC236}">
                  <a16:creationId xmlns:a16="http://schemas.microsoft.com/office/drawing/2014/main" id="{7DD2A46A-02FD-B999-D02D-7474F74B9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" name="Graphic 6" descr="Abacus outline">
              <a:extLst>
                <a:ext uri="{FF2B5EF4-FFF2-40B4-BE49-F238E27FC236}">
                  <a16:creationId xmlns:a16="http://schemas.microsoft.com/office/drawing/2014/main" id="{4E363C31-A167-6AC7-78BE-C4499EE6A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8" name="Graphic 7" descr="Target outline">
              <a:extLst>
                <a:ext uri="{FF2B5EF4-FFF2-40B4-BE49-F238E27FC236}">
                  <a16:creationId xmlns:a16="http://schemas.microsoft.com/office/drawing/2014/main" id="{BFE71A18-3BFD-5D1D-046A-521DE4CA4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" name="Graphic 8" descr="Clipboard Mixed outline">
              <a:extLst>
                <a:ext uri="{FF2B5EF4-FFF2-40B4-BE49-F238E27FC236}">
                  <a16:creationId xmlns:a16="http://schemas.microsoft.com/office/drawing/2014/main" id="{036AA07B-6751-C116-0B07-7FBAABD7D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0" name="Graphic 9" descr="Gears outline">
              <a:extLst>
                <a:ext uri="{FF2B5EF4-FFF2-40B4-BE49-F238E27FC236}">
                  <a16:creationId xmlns:a16="http://schemas.microsoft.com/office/drawing/2014/main" id="{B26809B7-A81B-F501-3417-219769DA0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" name="Graphic 11" descr="Bar graph with upward trend outline">
              <a:extLst>
                <a:ext uri="{FF2B5EF4-FFF2-40B4-BE49-F238E27FC236}">
                  <a16:creationId xmlns:a16="http://schemas.microsoft.com/office/drawing/2014/main" id="{1BF01F7E-905E-08FF-80F3-B7E74CB59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3" name="Graphic 12" descr="Classroom outline">
              <a:extLst>
                <a:ext uri="{FF2B5EF4-FFF2-40B4-BE49-F238E27FC236}">
                  <a16:creationId xmlns:a16="http://schemas.microsoft.com/office/drawing/2014/main" id="{E83DA984-8073-6094-D957-7A5AB1BD2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5D65D9FC-48B3-8264-C32E-B50728564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BE155A38-9A87-A42E-4359-B9B72E7235E0}"/>
              </a:ext>
            </a:extLst>
          </p:cNvPr>
          <p:cNvSpPr/>
          <p:nvPr/>
        </p:nvSpPr>
        <p:spPr>
          <a:xfrm>
            <a:off x="1827843" y="6209959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B56C72-02F2-D83F-A9CD-1222CD0BC964}"/>
              </a:ext>
            </a:extLst>
          </p:cNvPr>
          <p:cNvSpPr txBox="1"/>
          <p:nvPr/>
        </p:nvSpPr>
        <p:spPr>
          <a:xfrm>
            <a:off x="508320" y="1780569"/>
            <a:ext cx="11354454" cy="3624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Generate at least 3 countermeasures for the same root cause.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List hard and soft constraints agreed with the sponsor.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Compare options in a feasibility matrix and select the best fit.</a:t>
            </a:r>
          </a:p>
          <a:p>
            <a:pPr marL="495325" indent="-495325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Justify the selected option with facts, trade-offs, and constraints.</a:t>
            </a:r>
            <a:endParaRPr lang="en-BE" sz="2400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</p:txBody>
      </p:sp>
      <p:sp>
        <p:nvSpPr>
          <p:cNvPr id="17" name="Isosceles Triangle 34">
            <a:extLst>
              <a:ext uri="{FF2B5EF4-FFF2-40B4-BE49-F238E27FC236}">
                <a16:creationId xmlns:a16="http://schemas.microsoft.com/office/drawing/2014/main" id="{EB803E5E-A89C-F3D3-594E-6271A1023D52}"/>
              </a:ext>
            </a:extLst>
          </p:cNvPr>
          <p:cNvSpPr/>
          <p:nvPr/>
        </p:nvSpPr>
        <p:spPr>
          <a:xfrm rot="10800000">
            <a:off x="9701939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27D4EAA-87AC-1792-75C1-4FDC43D4A64C}"/>
              </a:ext>
            </a:extLst>
          </p:cNvPr>
          <p:cNvSpPr txBox="1">
            <a:spLocks/>
          </p:cNvSpPr>
          <p:nvPr/>
        </p:nvSpPr>
        <p:spPr>
          <a:xfrm>
            <a:off x="317203" y="633051"/>
            <a:ext cx="6836096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5: Develop Counter-measures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E8BD4A-5742-E121-72C4-636547791A31}"/>
              </a:ext>
            </a:extLst>
          </p:cNvPr>
          <p:cNvGrpSpPr/>
          <p:nvPr/>
        </p:nvGrpSpPr>
        <p:grpSpPr>
          <a:xfrm>
            <a:off x="-80819" y="-44236"/>
            <a:ext cx="2932876" cy="617260"/>
            <a:chOff x="-121228" y="-66354"/>
            <a:chExt cx="2218895" cy="85577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C258443-BB68-116F-4BF0-D9D8D2997DA9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 Placeholder 11">
              <a:extLst>
                <a:ext uri="{FF2B5EF4-FFF2-40B4-BE49-F238E27FC236}">
                  <a16:creationId xmlns:a16="http://schemas.microsoft.com/office/drawing/2014/main" id="{CBA4ADC9-8CA3-65AE-698A-4E478A876DCF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Best Practices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4681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FAEC4D-D484-1707-F7BD-5F78C64ED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BC3302D-EE6D-070B-4ECE-85CDF63E5681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3414A39-E350-6ED8-66A3-CDC8D4FCE5FC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26383CF-A262-B879-7DDD-3B9A91253850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46A07E6-66B7-2BB3-F3FF-A7D71B977269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0769575-9D19-F125-DA72-9DC2F338CA96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FB082F7-838D-2286-97A7-175C6ED5EA9B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B27E393-1ADC-F9EC-6137-AB52086589F5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F302F4D-4A61-1999-17A0-5E2D0A0B3227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DE47555-E4BF-0B64-BA55-5FE1911523E0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876A89-FDC6-C553-342D-157BBC062463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71E45FB-77B0-C324-F400-C39F1679025B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7" name="Graphic 6" descr="Information outline">
              <a:extLst>
                <a:ext uri="{FF2B5EF4-FFF2-40B4-BE49-F238E27FC236}">
                  <a16:creationId xmlns:a16="http://schemas.microsoft.com/office/drawing/2014/main" id="{11C7250A-F91C-7A1D-E7A7-BAF9D169E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8" name="Graphic 7" descr="Abacus outline">
              <a:extLst>
                <a:ext uri="{FF2B5EF4-FFF2-40B4-BE49-F238E27FC236}">
                  <a16:creationId xmlns:a16="http://schemas.microsoft.com/office/drawing/2014/main" id="{EE86AE1F-8421-C8AE-A562-4EC74AF1E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9" name="Graphic 8" descr="Target outline">
              <a:extLst>
                <a:ext uri="{FF2B5EF4-FFF2-40B4-BE49-F238E27FC236}">
                  <a16:creationId xmlns:a16="http://schemas.microsoft.com/office/drawing/2014/main" id="{A5272F1A-432E-40A8-D233-1DDE80D3E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12" name="Graphic 11" descr="Clipboard Mixed outline">
              <a:extLst>
                <a:ext uri="{FF2B5EF4-FFF2-40B4-BE49-F238E27FC236}">
                  <a16:creationId xmlns:a16="http://schemas.microsoft.com/office/drawing/2014/main" id="{EC8166FD-77F7-4574-0C00-C9C431DF9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3" name="Graphic 12" descr="Gears outline">
              <a:extLst>
                <a:ext uri="{FF2B5EF4-FFF2-40B4-BE49-F238E27FC236}">
                  <a16:creationId xmlns:a16="http://schemas.microsoft.com/office/drawing/2014/main" id="{1B436F4D-9C8D-64F3-6958-B2564B81A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6" name="Graphic 15" descr="Bar graph with upward trend outline">
              <a:extLst>
                <a:ext uri="{FF2B5EF4-FFF2-40B4-BE49-F238E27FC236}">
                  <a16:creationId xmlns:a16="http://schemas.microsoft.com/office/drawing/2014/main" id="{A315F894-3EAD-EE9E-F82A-F1E8F315D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8" name="Graphic 17" descr="Classroom outline">
              <a:extLst>
                <a:ext uri="{FF2B5EF4-FFF2-40B4-BE49-F238E27FC236}">
                  <a16:creationId xmlns:a16="http://schemas.microsoft.com/office/drawing/2014/main" id="{705A4FBE-75C4-EDD7-6FC2-FA9F5E60C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20" name="Graphic 19" descr="Question Mark outline">
              <a:extLst>
                <a:ext uri="{FF2B5EF4-FFF2-40B4-BE49-F238E27FC236}">
                  <a16:creationId xmlns:a16="http://schemas.microsoft.com/office/drawing/2014/main" id="{5407D40D-A166-AFD0-5649-980F8BFD9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A62FEA41-3B4B-A8BB-8E90-C4602FF8A64B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Graphic 30" descr="Postit Notes with solid fill">
            <a:extLst>
              <a:ext uri="{FF2B5EF4-FFF2-40B4-BE49-F238E27FC236}">
                <a16:creationId xmlns:a16="http://schemas.microsoft.com/office/drawing/2014/main" id="{21241DDF-D690-5133-753B-F47C9DC8476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2295" y="1145190"/>
            <a:ext cx="633009" cy="633009"/>
          </a:xfrm>
          <a:prstGeom prst="rect">
            <a:avLst/>
          </a:prstGeom>
        </p:spPr>
      </p:pic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3BF41DCC-B1EA-211D-A1EF-E822EA98AB9B}"/>
              </a:ext>
            </a:extLst>
          </p:cNvPr>
          <p:cNvSpPr txBox="1">
            <a:spLocks/>
          </p:cNvSpPr>
          <p:nvPr/>
        </p:nvSpPr>
        <p:spPr>
          <a:xfrm>
            <a:off x="929853" y="1277054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Proposed solution </a:t>
            </a:r>
            <a:endParaRPr lang="en-BE" sz="2400">
              <a:solidFill>
                <a:prstClr val="black"/>
              </a:solidFill>
            </a:endParaRPr>
          </a:p>
        </p:txBody>
      </p:sp>
      <p:sp>
        <p:nvSpPr>
          <p:cNvPr id="10" name="Isosceles Triangle 34">
            <a:extLst>
              <a:ext uri="{FF2B5EF4-FFF2-40B4-BE49-F238E27FC236}">
                <a16:creationId xmlns:a16="http://schemas.microsoft.com/office/drawing/2014/main" id="{9F67C99D-11E1-7657-79C0-688C56368E6A}"/>
              </a:ext>
            </a:extLst>
          </p:cNvPr>
          <p:cNvSpPr/>
          <p:nvPr/>
        </p:nvSpPr>
        <p:spPr>
          <a:xfrm rot="10800000">
            <a:off x="9701939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1FD60A77-C2EB-6ED7-E05F-1DD6B84FF0AE}"/>
              </a:ext>
            </a:extLst>
          </p:cNvPr>
          <p:cNvSpPr txBox="1">
            <a:spLocks/>
          </p:cNvSpPr>
          <p:nvPr/>
        </p:nvSpPr>
        <p:spPr>
          <a:xfrm>
            <a:off x="317203" y="741907"/>
            <a:ext cx="6836096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5: Develop Counter-measures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578E3B-80ED-7FE0-D34A-0F676B72EA5B}"/>
              </a:ext>
            </a:extLst>
          </p:cNvPr>
          <p:cNvGrpSpPr/>
          <p:nvPr/>
        </p:nvGrpSpPr>
        <p:grpSpPr>
          <a:xfrm>
            <a:off x="-80818" y="-44236"/>
            <a:ext cx="3916838" cy="703552"/>
            <a:chOff x="-121228" y="-66354"/>
            <a:chExt cx="2218895" cy="91222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9F267FF-486E-F3CE-4681-EDC6EBD15AA1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Text Placeholder 11">
              <a:extLst>
                <a:ext uri="{FF2B5EF4-FFF2-40B4-BE49-F238E27FC236}">
                  <a16:creationId xmlns:a16="http://schemas.microsoft.com/office/drawing/2014/main" id="{7B64D634-2F00-9974-5510-21E51974F37D}"/>
                </a:ext>
              </a:extLst>
            </p:cNvPr>
            <p:cNvSpPr txBox="1">
              <a:spLocks/>
            </p:cNvSpPr>
            <p:nvPr/>
          </p:nvSpPr>
          <p:spPr>
            <a:xfrm>
              <a:off x="-14818" y="71242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 dirty="0">
                  <a:solidFill>
                    <a:prstClr val="black"/>
                  </a:solidFill>
                </a:rPr>
                <a:t>Application : </a:t>
              </a:r>
              <a:r>
                <a:rPr lang="en-US" sz="2400" dirty="0" err="1">
                  <a:solidFill>
                    <a:prstClr val="black"/>
                  </a:solidFill>
                </a:rPr>
                <a:t>Emazon</a:t>
              </a:r>
              <a:r>
                <a:rPr lang="en-US" sz="2400" dirty="0">
                  <a:solidFill>
                    <a:prstClr val="black"/>
                  </a:solidFill>
                </a:rPr>
                <a:t>  </a:t>
              </a:r>
              <a:endParaRPr lang="en-BE" sz="2400" dirty="0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60021B1-8B6E-6CAA-18F5-38181F4C321E}"/>
              </a:ext>
            </a:extLst>
          </p:cNvPr>
          <p:cNvGraphicFramePr>
            <a:graphicFrameLocks noGrp="1"/>
          </p:cNvGraphicFramePr>
          <p:nvPr/>
        </p:nvGraphicFramePr>
        <p:xfrm>
          <a:off x="505524" y="1730198"/>
          <a:ext cx="9975100" cy="4216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524424001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698817578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101351626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1182691224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99107225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328863378"/>
                    </a:ext>
                  </a:extLst>
                </a:gridCol>
                <a:gridCol w="1702384">
                  <a:extLst>
                    <a:ext uri="{9D8B030D-6E8A-4147-A177-3AD203B41FA5}">
                      <a16:colId xmlns:a16="http://schemas.microsoft.com/office/drawing/2014/main" val="2499493512"/>
                    </a:ext>
                  </a:extLst>
                </a:gridCol>
              </a:tblGrid>
              <a:tr h="376229">
                <a:tc rowSpan="2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FR" sz="1900" b="1" kern="1200" dirty="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Hard constraints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FR" sz="28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Soft constraints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FR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FR" sz="28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2791553"/>
                  </a:ext>
                </a:extLst>
              </a:tr>
              <a:tr h="629920">
                <a:tc v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FR" sz="2800" b="1" kern="120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GB" sz="1900" b="1" kern="1200" dirty="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Time bound</a:t>
                      </a:r>
                      <a:endParaRPr lang="en-FR" sz="1900" b="1" kern="1200" dirty="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GB" sz="1900" b="1" kern="1200" dirty="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Legal</a:t>
                      </a:r>
                      <a:endParaRPr lang="en-FR" sz="1900" b="1" kern="1200" dirty="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900" b="1" kern="1200" dirty="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D</a:t>
                      </a:r>
                      <a:r>
                        <a:rPr lang="en-FR" sz="1900" b="1" kern="1200" dirty="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elivery promises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900" b="1" kern="1200" dirty="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Manual</a:t>
                      </a:r>
                      <a:r>
                        <a:rPr lang="en-FR" sz="1900" b="1" kern="1200" dirty="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 intervention</a:t>
                      </a:r>
                      <a:endParaRPr lang="en-GB" sz="1900" b="1" kern="1200" dirty="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900" b="1" kern="1200" dirty="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Budget</a:t>
                      </a:r>
                      <a:endParaRPr lang="en-FR" sz="1900" b="1" kern="1200" dirty="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900" b="1" kern="1200" dirty="0">
                          <a:solidFill>
                            <a:schemeClr val="tx1"/>
                          </a:solidFill>
                          <a:latin typeface="Alata" pitchFamily="2" charset="0"/>
                          <a:ea typeface="+mn-ea"/>
                          <a:cs typeface="Alata" pitchFamily="2" charset="0"/>
                        </a:rPr>
                        <a:t>Cross-team collaboration</a:t>
                      </a:r>
                      <a:endParaRPr lang="en-FR" sz="1900" b="1" kern="1200" dirty="0">
                        <a:solidFill>
                          <a:schemeClr val="tx1"/>
                        </a:solidFill>
                        <a:latin typeface="Alata" pitchFamily="2" charset="0"/>
                        <a:ea typeface="+mn-ea"/>
                        <a:cs typeface="Alata" pitchFamily="2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199677"/>
                  </a:ext>
                </a:extLst>
              </a:tr>
              <a:tr h="631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Peak-season freeze calendar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>
                        <a:solidFill>
                          <a:srgbClr val="00B05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>
                        <a:solidFill>
                          <a:srgbClr val="00B05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6572063"/>
                  </a:ext>
                </a:extLst>
              </a:tr>
              <a:tr h="631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BE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Peak-season Rulebook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5200221"/>
                  </a:ext>
                </a:extLst>
              </a:tr>
              <a:tr h="631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BE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Escalation Rule + RACI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9743555"/>
                  </a:ext>
                </a:extLst>
              </a:tr>
              <a:tr h="631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Daily Peak War Room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>
                          <a:solidFill>
                            <a:srgbClr val="00B05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V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1013993"/>
                  </a:ext>
                </a:extLst>
              </a:tr>
              <a:tr h="631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latin typeface="Alata" panose="020B0604020202020204" charset="0"/>
                        </a:rPr>
                        <a:t>Full process redesign</a:t>
                      </a:r>
                      <a:endParaRPr lang="en-BE" sz="1900">
                        <a:solidFill>
                          <a:schemeClr val="tx1"/>
                        </a:solidFill>
                        <a:latin typeface="Alata" panose="020B0604020202020204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 noProof="0">
                          <a:solidFill>
                            <a:srgbClr val="C0000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kern="1200" noProof="0">
                          <a:solidFill>
                            <a:srgbClr val="C00000"/>
                          </a:solidFill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lang="en-BE" sz="2400" b="1" kern="1200" noProof="0">
                        <a:solidFill>
                          <a:srgbClr val="C00000"/>
                        </a:solidFill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O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lata" panose="020B0604020202020204" charset="0"/>
                          <a:ea typeface="+mn-ea"/>
                          <a:cs typeface="+mn-cs"/>
                        </a:rPr>
                        <a:t>X</a:t>
                      </a:r>
                      <a:endParaRPr kumimoji="0" lang="en-BE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lata" panose="020B0604020202020204" charset="0"/>
                        <a:ea typeface="+mn-ea"/>
                        <a:cs typeface="+mn-cs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9776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484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CF7D-3B94-33E4-E813-EBCBBA741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1">
            <a:extLst>
              <a:ext uri="{FF2B5EF4-FFF2-40B4-BE49-F238E27FC236}">
                <a16:creationId xmlns:a16="http://schemas.microsoft.com/office/drawing/2014/main" id="{5BC77E8B-5144-B4C8-C682-CFAADD435201}"/>
              </a:ext>
            </a:extLst>
          </p:cNvPr>
          <p:cNvSpPr/>
          <p:nvPr/>
        </p:nvSpPr>
        <p:spPr>
          <a:xfrm>
            <a:off x="423852" y="1234084"/>
            <a:ext cx="6679809" cy="708923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defRPr/>
            </a:pPr>
            <a:r>
              <a:rPr lang="en-US" sz="2400">
                <a:solidFill>
                  <a:prstClr val="black"/>
                </a:solidFill>
                <a:latin typeface="Alata" panose="020B0604020202020204" charset="0"/>
              </a:rPr>
              <a:t> Purpose : Turn solutions into actions.</a:t>
            </a:r>
            <a:endParaRPr lang="en-BE" sz="2400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EE49870-9371-7E9A-0AAB-64F938A3672F}"/>
              </a:ext>
            </a:extLst>
          </p:cNvPr>
          <p:cNvSpPr txBox="1">
            <a:spLocks/>
          </p:cNvSpPr>
          <p:nvPr/>
        </p:nvSpPr>
        <p:spPr>
          <a:xfrm>
            <a:off x="6361286" y="4122879"/>
            <a:ext cx="6480505" cy="708915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867">
                <a:solidFill>
                  <a:prstClr val="black"/>
                </a:solidFill>
              </a:rPr>
              <a:t>Who does what? </a:t>
            </a:r>
            <a:r>
              <a:rPr lang="en-US" sz="2133">
                <a:solidFill>
                  <a:prstClr val="black"/>
                </a:solidFill>
              </a:rPr>
              <a:t>(RACI table)  </a:t>
            </a:r>
            <a:endParaRPr lang="en-BE" sz="2667">
              <a:solidFill>
                <a:prstClr val="black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A7C782-99A7-6854-F51C-6D15B4AB8F24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2B6DB5-6214-32A2-400C-F656F2C0A86C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7EE60FA-6B6D-F338-1396-3C2FE5F63A24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F926B10-440C-E34D-F3EC-2CE9A8AB8F82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F7FDECF-9B7D-D726-EB97-B40601286E7D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54B512-1368-EC87-56EF-1B77553619F8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E617762-F624-9D49-E23F-A0C8DB198F85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059F8A9-6463-90CB-525A-7E971FEE13C0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948CED-DCCE-CB90-2EFA-E0867CE263B4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6252CEF-EE4E-247F-76DC-0F562D3C2B1C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473DEB3-2A8B-7A54-D5D1-B14878222E41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19" name="Graphic 18" descr="Information outline">
              <a:extLst>
                <a:ext uri="{FF2B5EF4-FFF2-40B4-BE49-F238E27FC236}">
                  <a16:creationId xmlns:a16="http://schemas.microsoft.com/office/drawing/2014/main" id="{D3E777FE-B4A3-22C8-22EB-A42DE37FC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20" name="Graphic 19" descr="Abacus outline">
              <a:extLst>
                <a:ext uri="{FF2B5EF4-FFF2-40B4-BE49-F238E27FC236}">
                  <a16:creationId xmlns:a16="http://schemas.microsoft.com/office/drawing/2014/main" id="{D7A399DF-BEF9-8FBE-E943-807F0A9D0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21" name="Graphic 20" descr="Target outline">
              <a:extLst>
                <a:ext uri="{FF2B5EF4-FFF2-40B4-BE49-F238E27FC236}">
                  <a16:creationId xmlns:a16="http://schemas.microsoft.com/office/drawing/2014/main" id="{D86A4E44-3B78-653C-2B73-16E7A805F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22" name="Graphic 21" descr="Clipboard Mixed outline">
              <a:extLst>
                <a:ext uri="{FF2B5EF4-FFF2-40B4-BE49-F238E27FC236}">
                  <a16:creationId xmlns:a16="http://schemas.microsoft.com/office/drawing/2014/main" id="{4D31F53E-822F-2A22-A917-E10D7A2B2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23" name="Graphic 22" descr="Gears outline">
              <a:extLst>
                <a:ext uri="{FF2B5EF4-FFF2-40B4-BE49-F238E27FC236}">
                  <a16:creationId xmlns:a16="http://schemas.microsoft.com/office/drawing/2014/main" id="{A3408421-83C8-3FE8-F7BA-1C4A86D04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24" name="Graphic 23" descr="Bar graph with upward trend outline">
              <a:extLst>
                <a:ext uri="{FF2B5EF4-FFF2-40B4-BE49-F238E27FC236}">
                  <a16:creationId xmlns:a16="http://schemas.microsoft.com/office/drawing/2014/main" id="{1AA98769-2F84-FE6C-6536-69472E195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25" name="Graphic 24" descr="Classroom outline">
              <a:extLst>
                <a:ext uri="{FF2B5EF4-FFF2-40B4-BE49-F238E27FC236}">
                  <a16:creationId xmlns:a16="http://schemas.microsoft.com/office/drawing/2014/main" id="{ACD22EEE-CF7F-C9B5-D427-8F35EF528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26" name="Graphic 25" descr="Question Mark outline">
              <a:extLst>
                <a:ext uri="{FF2B5EF4-FFF2-40B4-BE49-F238E27FC236}">
                  <a16:creationId xmlns:a16="http://schemas.microsoft.com/office/drawing/2014/main" id="{095BFC5A-C73D-650E-F4B4-400803531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35" name="Circle: Hollow 28">
            <a:extLst>
              <a:ext uri="{FF2B5EF4-FFF2-40B4-BE49-F238E27FC236}">
                <a16:creationId xmlns:a16="http://schemas.microsoft.com/office/drawing/2014/main" id="{B2332E4E-271A-E8B3-8C5B-A743DFFEBEF5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Isosceles Triangle 29">
            <a:extLst>
              <a:ext uri="{FF2B5EF4-FFF2-40B4-BE49-F238E27FC236}">
                <a16:creationId xmlns:a16="http://schemas.microsoft.com/office/drawing/2014/main" id="{8DFCC88A-462E-97FB-942E-10A117E312CB}"/>
              </a:ext>
            </a:extLst>
          </p:cNvPr>
          <p:cNvSpPr/>
          <p:nvPr/>
        </p:nvSpPr>
        <p:spPr>
          <a:xfrm rot="10800000">
            <a:off x="10288457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C746B2-1E4D-6ACA-8B55-B9A6B991C890}"/>
              </a:ext>
            </a:extLst>
          </p:cNvPr>
          <p:cNvSpPr/>
          <p:nvPr/>
        </p:nvSpPr>
        <p:spPr>
          <a:xfrm>
            <a:off x="3269757" y="3109985"/>
            <a:ext cx="3306751" cy="2031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510DCC9-7904-5B2B-A846-857B7C5AC3DE}"/>
              </a:ext>
            </a:extLst>
          </p:cNvPr>
          <p:cNvSpPr txBox="1">
            <a:spLocks/>
          </p:cNvSpPr>
          <p:nvPr/>
        </p:nvSpPr>
        <p:spPr>
          <a:xfrm>
            <a:off x="6367730" y="5139344"/>
            <a:ext cx="6410894" cy="546168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When? </a:t>
            </a:r>
            <a:r>
              <a:rPr lang="en-US" sz="2133">
                <a:solidFill>
                  <a:prstClr val="black"/>
                </a:solidFill>
              </a:rPr>
              <a:t>(Gantt Chart, Roadmaps)  </a:t>
            </a:r>
            <a:endParaRPr lang="en-BE" sz="2933">
              <a:solidFill>
                <a:prstClr val="black"/>
              </a:solidFill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89F4B35-C0FF-64FC-BAF0-D4704038C4C7}"/>
              </a:ext>
            </a:extLst>
          </p:cNvPr>
          <p:cNvSpPr txBox="1">
            <a:spLocks/>
          </p:cNvSpPr>
          <p:nvPr/>
        </p:nvSpPr>
        <p:spPr>
          <a:xfrm>
            <a:off x="469603" y="654822"/>
            <a:ext cx="6124260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6: Implement 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2CFDA8-04F9-9570-0F9A-D3354C96D332}"/>
              </a:ext>
            </a:extLst>
          </p:cNvPr>
          <p:cNvGrpSpPr/>
          <p:nvPr/>
        </p:nvGrpSpPr>
        <p:grpSpPr>
          <a:xfrm>
            <a:off x="-80818" y="-44236"/>
            <a:ext cx="1479263" cy="570514"/>
            <a:chOff x="-121228" y="-66354"/>
            <a:chExt cx="2218895" cy="85577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286C7ED-E126-96C3-873B-806E379A44AE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" name="Text Placeholder 11">
              <a:extLst>
                <a:ext uri="{FF2B5EF4-FFF2-40B4-BE49-F238E27FC236}">
                  <a16:creationId xmlns:a16="http://schemas.microsoft.com/office/drawing/2014/main" id="{6B20EB81-C1DB-615B-D5B6-CA84302EFF91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Theory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A01CF86-031E-1B8D-8E0F-CA4B0BF4D5AD}"/>
              </a:ext>
            </a:extLst>
          </p:cNvPr>
          <p:cNvGrpSpPr/>
          <p:nvPr/>
        </p:nvGrpSpPr>
        <p:grpSpPr>
          <a:xfrm>
            <a:off x="5272298" y="3969909"/>
            <a:ext cx="865229" cy="730623"/>
            <a:chOff x="3459875" y="3463721"/>
            <a:chExt cx="1067098" cy="913248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54ED801-3337-7B08-1253-1B601931A231}"/>
                </a:ext>
              </a:extLst>
            </p:cNvPr>
            <p:cNvSpPr/>
            <p:nvPr/>
          </p:nvSpPr>
          <p:spPr>
            <a:xfrm>
              <a:off x="3459875" y="3463721"/>
              <a:ext cx="883525" cy="913248"/>
            </a:xfrm>
            <a:prstGeom prst="ellipse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FE8D89D-E337-741E-AFE1-B896B37619AE}"/>
                </a:ext>
              </a:extLst>
            </p:cNvPr>
            <p:cNvSpPr txBox="1"/>
            <p:nvPr/>
          </p:nvSpPr>
          <p:spPr>
            <a:xfrm>
              <a:off x="3749276" y="3641178"/>
              <a:ext cx="777697" cy="628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2667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1</a:t>
              </a:r>
              <a:endParaRPr lang="en-BE" sz="2667">
                <a:solidFill>
                  <a:prstClr val="black"/>
                </a:solidFill>
                <a:latin typeface="Alata" pitchFamily="2" charset="0"/>
                <a:cs typeface="Alata" pitchFamily="2" charset="0"/>
              </a:endParaRPr>
            </a:p>
          </p:txBody>
        </p:sp>
      </p:grpSp>
      <p:sp>
        <p:nvSpPr>
          <p:cNvPr id="40" name="Rectangle: Rounded Corners 1">
            <a:extLst>
              <a:ext uri="{FF2B5EF4-FFF2-40B4-BE49-F238E27FC236}">
                <a16:creationId xmlns:a16="http://schemas.microsoft.com/office/drawing/2014/main" id="{3917D261-5A03-C9D0-5DAC-80680CAA3DC7}"/>
              </a:ext>
            </a:extLst>
          </p:cNvPr>
          <p:cNvSpPr/>
          <p:nvPr/>
        </p:nvSpPr>
        <p:spPr>
          <a:xfrm>
            <a:off x="698307" y="2609313"/>
            <a:ext cx="2656114" cy="1094009"/>
          </a:xfrm>
          <a:prstGeom prst="roundRect">
            <a:avLst>
              <a:gd name="adj" fmla="val 27405"/>
            </a:avLst>
          </a:prstGeom>
          <a:solidFill>
            <a:schemeClr val="bg1"/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150000"/>
              </a:lnSpc>
              <a:defRPr/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Decision Making/ </a:t>
            </a:r>
          </a:p>
          <a:p>
            <a:pPr algn="ctr" defTabSz="609630">
              <a:lnSpc>
                <a:spcPct val="150000"/>
              </a:lnSpc>
              <a:defRPr/>
            </a:pPr>
            <a:r>
              <a:rPr lang="en-US" sz="2400" b="1">
                <a:solidFill>
                  <a:prstClr val="black"/>
                </a:solidFill>
                <a:latin typeface="Alata" panose="020B0604020202020204" charset="0"/>
              </a:rPr>
              <a:t>Mandating </a:t>
            </a:r>
            <a:endParaRPr lang="en-US" sz="1867" b="1">
              <a:solidFill>
                <a:prstClr val="black"/>
              </a:solidFill>
              <a:latin typeface="Alata" panose="020B0604020202020204" charset="0"/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B0D6A-53A1-A2D4-6EF0-EF6C9BE62B2A}"/>
              </a:ext>
            </a:extLst>
          </p:cNvPr>
          <p:cNvSpPr txBox="1">
            <a:spLocks/>
          </p:cNvSpPr>
          <p:nvPr/>
        </p:nvSpPr>
        <p:spPr>
          <a:xfrm>
            <a:off x="428172" y="2018918"/>
            <a:ext cx="3060397" cy="683097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5: </a:t>
            </a:r>
            <a:endParaRPr lang="en-BE" sz="2933">
              <a:solidFill>
                <a:prstClr val="black"/>
              </a:solidFill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8074E922-04F6-09FA-06F6-DF275349A94F}"/>
              </a:ext>
            </a:extLst>
          </p:cNvPr>
          <p:cNvSpPr txBox="1">
            <a:spLocks/>
          </p:cNvSpPr>
          <p:nvPr/>
        </p:nvSpPr>
        <p:spPr>
          <a:xfrm>
            <a:off x="7099274" y="2026062"/>
            <a:ext cx="3060397" cy="683097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6: </a:t>
            </a:r>
            <a:endParaRPr lang="en-BE" sz="2933">
              <a:solidFill>
                <a:prstClr val="black"/>
              </a:solidFill>
            </a:endParaRPr>
          </a:p>
        </p:txBody>
      </p:sp>
      <p:sp>
        <p:nvSpPr>
          <p:cNvPr id="43" name="Rectangle: Rounded Corners 1">
            <a:extLst>
              <a:ext uri="{FF2B5EF4-FFF2-40B4-BE49-F238E27FC236}">
                <a16:creationId xmlns:a16="http://schemas.microsoft.com/office/drawing/2014/main" id="{A578C5B9-9C01-6315-D142-C7639126A244}"/>
              </a:ext>
            </a:extLst>
          </p:cNvPr>
          <p:cNvSpPr/>
          <p:nvPr/>
        </p:nvSpPr>
        <p:spPr>
          <a:xfrm>
            <a:off x="6594797" y="2673882"/>
            <a:ext cx="4095031" cy="976849"/>
          </a:xfrm>
          <a:prstGeom prst="roundRect">
            <a:avLst>
              <a:gd name="adj" fmla="val 27405"/>
            </a:avLst>
          </a:prstGeom>
          <a:solidFill>
            <a:srgbClr val="E6D5CA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lnSpc>
                <a:spcPct val="150000"/>
              </a:lnSpc>
              <a:defRPr/>
            </a:pPr>
            <a:r>
              <a:rPr lang="en-US" sz="3200" u="sng">
                <a:solidFill>
                  <a:prstClr val="black"/>
                </a:solidFill>
                <a:latin typeface="Alata" panose="020B0604020202020204" charset="0"/>
              </a:rPr>
              <a:t>Executing</a:t>
            </a:r>
            <a:endParaRPr lang="en-US" sz="2667" u="sng">
              <a:solidFill>
                <a:prstClr val="black"/>
              </a:solidFill>
              <a:latin typeface="Alata" panose="020B060402020202020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D1BE603-6FCB-A023-1CE8-958CB487EEB9}"/>
              </a:ext>
            </a:extLst>
          </p:cNvPr>
          <p:cNvGrpSpPr/>
          <p:nvPr/>
        </p:nvGrpSpPr>
        <p:grpSpPr>
          <a:xfrm>
            <a:off x="5272297" y="4954889"/>
            <a:ext cx="821687" cy="730623"/>
            <a:chOff x="3459875" y="3463721"/>
            <a:chExt cx="1013396" cy="913248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311AEA2-8A67-DBBA-04A3-62D4DE57AACB}"/>
                </a:ext>
              </a:extLst>
            </p:cNvPr>
            <p:cNvSpPr/>
            <p:nvPr/>
          </p:nvSpPr>
          <p:spPr>
            <a:xfrm>
              <a:off x="3459875" y="3463721"/>
              <a:ext cx="883525" cy="913248"/>
            </a:xfrm>
            <a:prstGeom prst="ellipse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CD0849-9397-96FD-92D7-3DA0E19CC3EA}"/>
                </a:ext>
              </a:extLst>
            </p:cNvPr>
            <p:cNvSpPr txBox="1"/>
            <p:nvPr/>
          </p:nvSpPr>
          <p:spPr>
            <a:xfrm>
              <a:off x="3695574" y="3641178"/>
              <a:ext cx="777697" cy="628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2667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2</a:t>
              </a:r>
              <a:endParaRPr lang="en-BE" sz="2667">
                <a:solidFill>
                  <a:prstClr val="black"/>
                </a:solidFill>
                <a:latin typeface="Alata" pitchFamily="2" charset="0"/>
                <a:cs typeface="Alata" pitchFamily="2" charset="0"/>
              </a:endParaRPr>
            </a:p>
          </p:txBody>
        </p:sp>
      </p:grp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FE7E1B80-B01F-F42E-4119-8D1271164286}"/>
              </a:ext>
            </a:extLst>
          </p:cNvPr>
          <p:cNvSpPr txBox="1">
            <a:spLocks/>
          </p:cNvSpPr>
          <p:nvPr/>
        </p:nvSpPr>
        <p:spPr>
          <a:xfrm>
            <a:off x="3372710" y="2713246"/>
            <a:ext cx="3060397" cy="683097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To </a:t>
            </a:r>
            <a:endParaRPr lang="en-BE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1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3FE19-7A73-000B-ECA6-FD6EAA84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6AC0FBA-0903-3823-9E3B-ABCC733D8E09}"/>
              </a:ext>
            </a:extLst>
          </p:cNvPr>
          <p:cNvSpPr/>
          <p:nvPr/>
        </p:nvSpPr>
        <p:spPr>
          <a:xfrm flipH="1" flipV="1">
            <a:off x="558798" y="1272268"/>
            <a:ext cx="5343709" cy="514873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D45338-6813-038D-1932-C708ACF5A5A1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ircle: Hollow 28">
            <a:extLst>
              <a:ext uri="{FF2B5EF4-FFF2-40B4-BE49-F238E27FC236}">
                <a16:creationId xmlns:a16="http://schemas.microsoft.com/office/drawing/2014/main" id="{ADAA067D-2F59-A5D8-423E-AB895594815C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Graphic 18" descr="Books with solid fill">
            <a:extLst>
              <a:ext uri="{FF2B5EF4-FFF2-40B4-BE49-F238E27FC236}">
                <a16:creationId xmlns:a16="http://schemas.microsoft.com/office/drawing/2014/main" id="{E0D79DCE-ACDB-15B9-87A0-647681662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634" y="1309096"/>
            <a:ext cx="434502" cy="43450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5998240D-FE9B-01B1-0D47-4F45F4650FF7}"/>
              </a:ext>
            </a:extLst>
          </p:cNvPr>
          <p:cNvSpPr txBox="1">
            <a:spLocks/>
          </p:cNvSpPr>
          <p:nvPr/>
        </p:nvSpPr>
        <p:spPr>
          <a:xfrm>
            <a:off x="1119520" y="1302087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Key giveaways and tips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794A6E-99CA-8AA1-970E-2F4DEEBEAC61}"/>
              </a:ext>
            </a:extLst>
          </p:cNvPr>
          <p:cNvGrpSpPr/>
          <p:nvPr/>
        </p:nvGrpSpPr>
        <p:grpSpPr>
          <a:xfrm>
            <a:off x="7223370" y="279022"/>
            <a:ext cx="4639465" cy="575006"/>
            <a:chOff x="5677807" y="418528"/>
            <a:chExt cx="6215923" cy="7578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C6E221-E0F4-8A1E-4BD8-AD032AF8B506}"/>
                </a:ext>
              </a:extLst>
            </p:cNvPr>
            <p:cNvGrpSpPr/>
            <p:nvPr/>
          </p:nvGrpSpPr>
          <p:grpSpPr>
            <a:xfrm>
              <a:off x="5690019" y="445210"/>
              <a:ext cx="6203617" cy="685928"/>
              <a:chOff x="995673" y="8188180"/>
              <a:chExt cx="9681199" cy="105740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7C899CF-EE56-ADCA-BC02-4B52E53B50AA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F86DBC8-3FA6-1208-621D-DCC683A56394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B40E5FC-B86A-0CD5-E297-105284B8FF86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49B6CCA-2BB5-C446-BAE2-4BE23B453B2F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E2A86A0-E568-F3D4-AE60-F53508EF877F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DA85034-5CE4-E027-16B1-1593C79F3CF3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5027D51-8AD8-01C6-9A06-6136FB8211AB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633FDC2-656C-BFEF-98C4-E5B9510BD903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6" name="Graphic 5" descr="Information outline">
              <a:extLst>
                <a:ext uri="{FF2B5EF4-FFF2-40B4-BE49-F238E27FC236}">
                  <a16:creationId xmlns:a16="http://schemas.microsoft.com/office/drawing/2014/main" id="{6529B7FB-AEB9-80FE-C5A7-27CDBAD20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" name="Graphic 6" descr="Abacus outline">
              <a:extLst>
                <a:ext uri="{FF2B5EF4-FFF2-40B4-BE49-F238E27FC236}">
                  <a16:creationId xmlns:a16="http://schemas.microsoft.com/office/drawing/2014/main" id="{441E6006-5E79-F924-5A6B-E5DA8FED8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8" name="Graphic 7" descr="Target outline">
              <a:extLst>
                <a:ext uri="{FF2B5EF4-FFF2-40B4-BE49-F238E27FC236}">
                  <a16:creationId xmlns:a16="http://schemas.microsoft.com/office/drawing/2014/main" id="{CA64B503-3033-9929-305E-6DFB084F2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" name="Graphic 8" descr="Clipboard Mixed outline">
              <a:extLst>
                <a:ext uri="{FF2B5EF4-FFF2-40B4-BE49-F238E27FC236}">
                  <a16:creationId xmlns:a16="http://schemas.microsoft.com/office/drawing/2014/main" id="{69F722DC-6FD2-B48F-1B45-A98CDD147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0" name="Graphic 9" descr="Gears outline">
              <a:extLst>
                <a:ext uri="{FF2B5EF4-FFF2-40B4-BE49-F238E27FC236}">
                  <a16:creationId xmlns:a16="http://schemas.microsoft.com/office/drawing/2014/main" id="{749FB586-F6C0-9198-29B6-0CC0F8536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" name="Graphic 11" descr="Bar graph with upward trend outline">
              <a:extLst>
                <a:ext uri="{FF2B5EF4-FFF2-40B4-BE49-F238E27FC236}">
                  <a16:creationId xmlns:a16="http://schemas.microsoft.com/office/drawing/2014/main" id="{6786F118-B4C5-4B7F-FFA4-43CBAD731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3" name="Graphic 12" descr="Classroom outline">
              <a:extLst>
                <a:ext uri="{FF2B5EF4-FFF2-40B4-BE49-F238E27FC236}">
                  <a16:creationId xmlns:a16="http://schemas.microsoft.com/office/drawing/2014/main" id="{4D39846E-4C90-4C1B-104A-17B749AEE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614899EB-1448-FECB-147A-BBA6834BF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D63E0683-0EF5-3D80-5C46-51F6CB88C16B}"/>
              </a:ext>
            </a:extLst>
          </p:cNvPr>
          <p:cNvSpPr txBox="1">
            <a:spLocks/>
          </p:cNvSpPr>
          <p:nvPr/>
        </p:nvSpPr>
        <p:spPr>
          <a:xfrm>
            <a:off x="6194591" y="2629887"/>
            <a:ext cx="2186400" cy="1892353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 </a:t>
            </a:r>
            <a:endParaRPr lang="en-BE" sz="2400">
              <a:solidFill>
                <a:prstClr val="black"/>
              </a:solidFill>
            </a:endParaRP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F1C39077-4CBD-76AC-4649-7E7EF77E9851}"/>
              </a:ext>
            </a:extLst>
          </p:cNvPr>
          <p:cNvSpPr txBox="1">
            <a:spLocks/>
          </p:cNvSpPr>
          <p:nvPr/>
        </p:nvSpPr>
        <p:spPr>
          <a:xfrm>
            <a:off x="970140" y="2709688"/>
            <a:ext cx="2095494" cy="1493977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endParaRPr lang="en-BE" sz="2400">
              <a:solidFill>
                <a:prstClr val="black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98F16A-F0FF-1B07-D95C-79DD329B9F17}"/>
              </a:ext>
            </a:extLst>
          </p:cNvPr>
          <p:cNvSpPr txBox="1"/>
          <p:nvPr/>
        </p:nvSpPr>
        <p:spPr>
          <a:xfrm>
            <a:off x="629157" y="1826022"/>
            <a:ext cx="11562843" cy="270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Make sure the timeline for each task is realistic.  </a:t>
            </a:r>
          </a:p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Assign roles &amp; responsibilities (RACI method) </a:t>
            </a:r>
          </a:p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Visualize the timeline with all the task to implement (Gantt Chart or Roadmap)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E341C32-96D3-F428-6463-5E23CF847AF2}"/>
              </a:ext>
            </a:extLst>
          </p:cNvPr>
          <p:cNvSpPr/>
          <p:nvPr/>
        </p:nvSpPr>
        <p:spPr>
          <a:xfrm>
            <a:off x="1827843" y="6209959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22A5B3-2B38-6FB6-4E1A-8FDA88709C2B}"/>
              </a:ext>
            </a:extLst>
          </p:cNvPr>
          <p:cNvSpPr txBox="1"/>
          <p:nvPr/>
        </p:nvSpPr>
        <p:spPr>
          <a:xfrm>
            <a:off x="716663" y="2597539"/>
            <a:ext cx="11105643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(Things to consider: Mission duration, skills, stakeholders' capabilities, available staff </a:t>
            </a:r>
            <a:r>
              <a:rPr lang="en-US" sz="1867" err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etc</a:t>
            </a:r>
            <a:r>
              <a:rPr lang="en-US" sz="1867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…)</a:t>
            </a:r>
            <a:endParaRPr lang="en-BE" sz="1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Isosceles Triangle 29">
            <a:extLst>
              <a:ext uri="{FF2B5EF4-FFF2-40B4-BE49-F238E27FC236}">
                <a16:creationId xmlns:a16="http://schemas.microsoft.com/office/drawing/2014/main" id="{D281A4DA-7B57-01AE-A23A-C0067E2520E3}"/>
              </a:ext>
            </a:extLst>
          </p:cNvPr>
          <p:cNvSpPr/>
          <p:nvPr/>
        </p:nvSpPr>
        <p:spPr>
          <a:xfrm rot="10800000">
            <a:off x="10288457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CA0C6958-6912-213A-22E5-9879B50D5007}"/>
              </a:ext>
            </a:extLst>
          </p:cNvPr>
          <p:cNvSpPr txBox="1">
            <a:spLocks/>
          </p:cNvSpPr>
          <p:nvPr/>
        </p:nvSpPr>
        <p:spPr>
          <a:xfrm>
            <a:off x="578460" y="654822"/>
            <a:ext cx="4230995" cy="754865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6: Implement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36A339-58AF-719D-A4A9-32187D32533E}"/>
              </a:ext>
            </a:extLst>
          </p:cNvPr>
          <p:cNvGrpSpPr/>
          <p:nvPr/>
        </p:nvGrpSpPr>
        <p:grpSpPr>
          <a:xfrm>
            <a:off x="-80819" y="-44236"/>
            <a:ext cx="2932876" cy="617260"/>
            <a:chOff x="-121228" y="-66354"/>
            <a:chExt cx="2218895" cy="85577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C087147-170C-7200-13A4-5692AF36AD4E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Text Placeholder 11">
              <a:extLst>
                <a:ext uri="{FF2B5EF4-FFF2-40B4-BE49-F238E27FC236}">
                  <a16:creationId xmlns:a16="http://schemas.microsoft.com/office/drawing/2014/main" id="{845DE848-CF48-1549-5659-51D74BC67ECD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Best Practices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22890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DD50F-6B9E-D983-7682-A3E78E2B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1">
            <a:extLst>
              <a:ext uri="{FF2B5EF4-FFF2-40B4-BE49-F238E27FC236}">
                <a16:creationId xmlns:a16="http://schemas.microsoft.com/office/drawing/2014/main" id="{6DD90990-BF0B-2B2D-E2A6-20F1A3C0B778}"/>
              </a:ext>
            </a:extLst>
          </p:cNvPr>
          <p:cNvSpPr/>
          <p:nvPr/>
        </p:nvSpPr>
        <p:spPr>
          <a:xfrm>
            <a:off x="388983" y="1146517"/>
            <a:ext cx="9667187" cy="502981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defRPr/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 Purpose : Track performance and enable timely decision-making.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  <p:pic>
        <p:nvPicPr>
          <p:cNvPr id="5" name="Graphic 4" descr="Upward trend outline">
            <a:extLst>
              <a:ext uri="{FF2B5EF4-FFF2-40B4-BE49-F238E27FC236}">
                <a16:creationId xmlns:a16="http://schemas.microsoft.com/office/drawing/2014/main" id="{F8359365-9D0C-DF6C-2A70-4211D2C04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5297" y="4907604"/>
            <a:ext cx="1067647" cy="1067647"/>
          </a:xfrm>
          <a:prstGeom prst="rect">
            <a:avLst/>
          </a:prstGeom>
        </p:spPr>
      </p:pic>
      <p:pic>
        <p:nvPicPr>
          <p:cNvPr id="18" name="Graphic 17" descr="Bar graph with downward trend outline">
            <a:extLst>
              <a:ext uri="{FF2B5EF4-FFF2-40B4-BE49-F238E27FC236}">
                <a16:creationId xmlns:a16="http://schemas.microsoft.com/office/drawing/2014/main" id="{57CC6DD6-CB02-F245-9E3E-89757D62C6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8999" y="4970655"/>
            <a:ext cx="916591" cy="916591"/>
          </a:xfrm>
          <a:prstGeom prst="rect">
            <a:avLst/>
          </a:prstGeom>
        </p:spPr>
      </p:pic>
      <p:pic>
        <p:nvPicPr>
          <p:cNvPr id="25" name="Graphic 24" descr="Research outline">
            <a:extLst>
              <a:ext uri="{FF2B5EF4-FFF2-40B4-BE49-F238E27FC236}">
                <a16:creationId xmlns:a16="http://schemas.microsoft.com/office/drawing/2014/main" id="{DEA3B66D-4A63-A66B-C384-5CC71F793D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53696" y="5030952"/>
            <a:ext cx="863543" cy="863543"/>
          </a:xfrm>
          <a:prstGeom prst="rect">
            <a:avLst/>
          </a:prstGeom>
        </p:spPr>
      </p:pic>
      <p:sp>
        <p:nvSpPr>
          <p:cNvPr id="41" name="Right Brace 40">
            <a:extLst>
              <a:ext uri="{FF2B5EF4-FFF2-40B4-BE49-F238E27FC236}">
                <a16:creationId xmlns:a16="http://schemas.microsoft.com/office/drawing/2014/main" id="{0CF9BEED-50CD-A575-468E-A9FCC05B1AD4}"/>
              </a:ext>
            </a:extLst>
          </p:cNvPr>
          <p:cNvSpPr/>
          <p:nvPr/>
        </p:nvSpPr>
        <p:spPr>
          <a:xfrm>
            <a:off x="7071360" y="4981701"/>
            <a:ext cx="133134" cy="918084"/>
          </a:xfrm>
          <a:prstGeom prst="rightBrac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1BEDBD-75D6-4CD0-6A80-8E455610B60F}"/>
              </a:ext>
            </a:extLst>
          </p:cNvPr>
          <p:cNvSpPr txBox="1"/>
          <p:nvPr/>
        </p:nvSpPr>
        <p:spPr>
          <a:xfrm>
            <a:off x="7148734" y="5099858"/>
            <a:ext cx="4933180" cy="805768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“Which tool/system will allow me to </a:t>
            </a:r>
            <a:r>
              <a:rPr lang="en-US" sz="1600">
                <a:solidFill>
                  <a:prstClr val="black"/>
                </a:solidFill>
                <a:highlight>
                  <a:srgbClr val="E6D5CA"/>
                </a:highlight>
              </a:rPr>
              <a:t>best track and evaluate</a:t>
            </a:r>
            <a:r>
              <a:rPr lang="en-US" sz="1600">
                <a:solidFill>
                  <a:prstClr val="black"/>
                </a:solidFill>
              </a:rPr>
              <a:t> the </a:t>
            </a:r>
            <a:r>
              <a:rPr lang="en-US" sz="1600">
                <a:solidFill>
                  <a:prstClr val="black"/>
                </a:solidFill>
                <a:highlight>
                  <a:srgbClr val="E6D5CA"/>
                </a:highlight>
              </a:rPr>
              <a:t>impact </a:t>
            </a:r>
            <a:r>
              <a:rPr lang="en-US" sz="1600">
                <a:solidFill>
                  <a:prstClr val="black"/>
                </a:solidFill>
              </a:rPr>
              <a:t>of the </a:t>
            </a:r>
            <a:r>
              <a:rPr lang="en-US" sz="1600">
                <a:solidFill>
                  <a:prstClr val="black"/>
                </a:solidFill>
                <a:highlight>
                  <a:srgbClr val="E6D5CA"/>
                </a:highlight>
              </a:rPr>
              <a:t>solutions I implemented</a:t>
            </a:r>
            <a:r>
              <a:rPr lang="en-US" sz="1600">
                <a:solidFill>
                  <a:prstClr val="black"/>
                </a:solidFill>
              </a:rPr>
              <a:t>?”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5471214-D01F-010A-24D5-841A2EE7E6F5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Circle: Hollow 28">
            <a:extLst>
              <a:ext uri="{FF2B5EF4-FFF2-40B4-BE49-F238E27FC236}">
                <a16:creationId xmlns:a16="http://schemas.microsoft.com/office/drawing/2014/main" id="{48CFF992-E1CA-3AC3-F9D2-3DDC9F1AFD0F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A35ACE-A259-19F5-D83F-596AF2F5D811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530CCB6-A500-A08B-67A8-93879D51E958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4954D2C-EBA9-F107-4D2D-815430847F92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6C6EA9A-9BDE-B8E8-6C5E-CFDC4C08A2D7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8F8A19A-B966-15F7-81AB-87C42BA1928C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499B32B0-2A06-9438-717D-3456BB4D9991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38934555-D3AA-3E0A-CD4A-961A870BBBB1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6189A4C5-AB63-74BD-5964-0E2198F2F3F0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0B88B01-717D-A726-1D90-4973C0E8BBBC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6DA3124F-7FCA-91CD-BB2B-F4C38227E703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53" name="Graphic 52" descr="Information outline">
              <a:extLst>
                <a:ext uri="{FF2B5EF4-FFF2-40B4-BE49-F238E27FC236}">
                  <a16:creationId xmlns:a16="http://schemas.microsoft.com/office/drawing/2014/main" id="{E3B63515-4853-87E4-6291-A49436357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54" name="Graphic 53" descr="Abacus outline">
              <a:extLst>
                <a:ext uri="{FF2B5EF4-FFF2-40B4-BE49-F238E27FC236}">
                  <a16:creationId xmlns:a16="http://schemas.microsoft.com/office/drawing/2014/main" id="{417BADC8-EFDE-11E9-ADCB-39CD5D69A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55" name="Graphic 54" descr="Target outline">
              <a:extLst>
                <a:ext uri="{FF2B5EF4-FFF2-40B4-BE49-F238E27FC236}">
                  <a16:creationId xmlns:a16="http://schemas.microsoft.com/office/drawing/2014/main" id="{525C8FCC-6668-A3F5-DF12-DAF087738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56" name="Graphic 55" descr="Clipboard Mixed outline">
              <a:extLst>
                <a:ext uri="{FF2B5EF4-FFF2-40B4-BE49-F238E27FC236}">
                  <a16:creationId xmlns:a16="http://schemas.microsoft.com/office/drawing/2014/main" id="{4B05DF95-4E65-842B-78A8-1DE987CE6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57" name="Graphic 56" descr="Gears outline">
              <a:extLst>
                <a:ext uri="{FF2B5EF4-FFF2-40B4-BE49-F238E27FC236}">
                  <a16:creationId xmlns:a16="http://schemas.microsoft.com/office/drawing/2014/main" id="{D1931EB1-7AF9-DBAA-31CC-E2F5C75AE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58" name="Graphic 57" descr="Bar graph with upward trend outline">
              <a:extLst>
                <a:ext uri="{FF2B5EF4-FFF2-40B4-BE49-F238E27FC236}">
                  <a16:creationId xmlns:a16="http://schemas.microsoft.com/office/drawing/2014/main" id="{7D7E8FDF-A0B1-1CAD-0271-F69DEC77A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59" name="Graphic 58" descr="Classroom outline">
              <a:extLst>
                <a:ext uri="{FF2B5EF4-FFF2-40B4-BE49-F238E27FC236}">
                  <a16:creationId xmlns:a16="http://schemas.microsoft.com/office/drawing/2014/main" id="{2DABED00-0BB9-DECD-045D-AE418E4FB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60" name="Graphic 59" descr="Question Mark outline">
              <a:extLst>
                <a:ext uri="{FF2B5EF4-FFF2-40B4-BE49-F238E27FC236}">
                  <a16:creationId xmlns:a16="http://schemas.microsoft.com/office/drawing/2014/main" id="{20FF7811-22C3-9CD8-E178-F455EF2DE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DFE7022B-3F89-F5B3-3EAE-D27C9CD8AF56}"/>
              </a:ext>
            </a:extLst>
          </p:cNvPr>
          <p:cNvSpPr/>
          <p:nvPr/>
        </p:nvSpPr>
        <p:spPr>
          <a:xfrm rot="10800000">
            <a:off x="10877383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2" name="Text Placeholder 11">
            <a:extLst>
              <a:ext uri="{FF2B5EF4-FFF2-40B4-BE49-F238E27FC236}">
                <a16:creationId xmlns:a16="http://schemas.microsoft.com/office/drawing/2014/main" id="{9375806C-FE02-F7ED-9A91-0E48D4DD8C76}"/>
              </a:ext>
            </a:extLst>
          </p:cNvPr>
          <p:cNvSpPr txBox="1">
            <a:spLocks/>
          </p:cNvSpPr>
          <p:nvPr/>
        </p:nvSpPr>
        <p:spPr>
          <a:xfrm>
            <a:off x="3403799" y="3692200"/>
            <a:ext cx="4880817" cy="33842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Bridge between action/execution &amp; impact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755771A-2A1A-A4CD-FAB8-25B4B51D8140}"/>
              </a:ext>
            </a:extLst>
          </p:cNvPr>
          <p:cNvSpPr txBox="1">
            <a:spLocks/>
          </p:cNvSpPr>
          <p:nvPr/>
        </p:nvSpPr>
        <p:spPr>
          <a:xfrm>
            <a:off x="317203" y="567737"/>
            <a:ext cx="6124260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7: Monitor Progress 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5BCF20-105E-5566-24ED-9820C85167FB}"/>
              </a:ext>
            </a:extLst>
          </p:cNvPr>
          <p:cNvGrpSpPr/>
          <p:nvPr/>
        </p:nvGrpSpPr>
        <p:grpSpPr>
          <a:xfrm>
            <a:off x="-80818" y="-44236"/>
            <a:ext cx="1479263" cy="570514"/>
            <a:chOff x="-121228" y="-66354"/>
            <a:chExt cx="2218895" cy="85577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B94F0D4-C635-AC78-8229-0DE2BCBCAA28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" name="Text Placeholder 11">
              <a:extLst>
                <a:ext uri="{FF2B5EF4-FFF2-40B4-BE49-F238E27FC236}">
                  <a16:creationId xmlns:a16="http://schemas.microsoft.com/office/drawing/2014/main" id="{E0EA8191-049D-08E0-1843-7CBC1EBDA6B4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Theory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CAB5AA-682A-7D32-C48C-64A296703052}"/>
              </a:ext>
            </a:extLst>
          </p:cNvPr>
          <p:cNvCxnSpPr>
            <a:cxnSpLocks/>
          </p:cNvCxnSpPr>
          <p:nvPr/>
        </p:nvCxnSpPr>
        <p:spPr>
          <a:xfrm flipH="1" flipV="1">
            <a:off x="5706382" y="2667833"/>
            <a:ext cx="2737" cy="4686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36B885-AA64-82D7-012B-51B4194BDBD9}"/>
              </a:ext>
            </a:extLst>
          </p:cNvPr>
          <p:cNvCxnSpPr>
            <a:cxnSpLocks/>
          </p:cNvCxnSpPr>
          <p:nvPr/>
        </p:nvCxnSpPr>
        <p:spPr>
          <a:xfrm>
            <a:off x="2874252" y="2661289"/>
            <a:ext cx="6379846" cy="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7860CA-EBCE-DBD6-5DF4-3B1E0B774A67}"/>
              </a:ext>
            </a:extLst>
          </p:cNvPr>
          <p:cNvGrpSpPr/>
          <p:nvPr/>
        </p:nvGrpSpPr>
        <p:grpSpPr>
          <a:xfrm>
            <a:off x="565699" y="2399853"/>
            <a:ext cx="2115312" cy="522872"/>
            <a:chOff x="-17612" y="-66354"/>
            <a:chExt cx="2115279" cy="72868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535DE6C-D44F-AEA1-E62E-B022A6DEC227}"/>
                </a:ext>
              </a:extLst>
            </p:cNvPr>
            <p:cNvSpPr/>
            <p:nvPr/>
          </p:nvSpPr>
          <p:spPr>
            <a:xfrm flipH="1" flipV="1">
              <a:off x="-17612" y="-66354"/>
              <a:ext cx="2115279" cy="7286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2" name="Text Placeholder 11">
              <a:extLst>
                <a:ext uri="{FF2B5EF4-FFF2-40B4-BE49-F238E27FC236}">
                  <a16:creationId xmlns:a16="http://schemas.microsoft.com/office/drawing/2014/main" id="{C7CF4796-1080-9034-26F1-382BA1A9C5A9}"/>
                </a:ext>
              </a:extLst>
            </p:cNvPr>
            <p:cNvSpPr txBox="1">
              <a:spLocks/>
            </p:cNvSpPr>
            <p:nvPr/>
          </p:nvSpPr>
          <p:spPr>
            <a:xfrm>
              <a:off x="417122" y="14784"/>
              <a:ext cx="1627349" cy="639872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ACTION 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D6B27A-5D33-5998-869C-6649DFF85BA7}"/>
              </a:ext>
            </a:extLst>
          </p:cNvPr>
          <p:cNvGrpSpPr/>
          <p:nvPr/>
        </p:nvGrpSpPr>
        <p:grpSpPr>
          <a:xfrm>
            <a:off x="9338809" y="2410671"/>
            <a:ext cx="1852751" cy="564885"/>
            <a:chOff x="-121228" y="-66354"/>
            <a:chExt cx="2218895" cy="85577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E6A7920-B98F-2B62-059C-D50DED410E43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 Placeholder 11">
              <a:extLst>
                <a:ext uri="{FF2B5EF4-FFF2-40B4-BE49-F238E27FC236}">
                  <a16:creationId xmlns:a16="http://schemas.microsoft.com/office/drawing/2014/main" id="{DAFBB322-AAF3-A73F-6739-CDC32D3EB8AC}"/>
                </a:ext>
              </a:extLst>
            </p:cNvPr>
            <p:cNvSpPr txBox="1">
              <a:spLocks/>
            </p:cNvSpPr>
            <p:nvPr/>
          </p:nvSpPr>
          <p:spPr>
            <a:xfrm>
              <a:off x="18226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IMPACT 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5DB631D-2AB4-7CEE-590E-625C32399817}"/>
              </a:ext>
            </a:extLst>
          </p:cNvPr>
          <p:cNvGrpSpPr/>
          <p:nvPr/>
        </p:nvGrpSpPr>
        <p:grpSpPr>
          <a:xfrm>
            <a:off x="4372143" y="3096034"/>
            <a:ext cx="2864651" cy="564885"/>
            <a:chOff x="-121228" y="-66354"/>
            <a:chExt cx="2377141" cy="85577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0D02E39-5C01-B759-3BF9-A38715ECF031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 w="38100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43499169">
                    <a:custGeom>
                      <a:avLst/>
                      <a:gdLst>
                        <a:gd name="csX0" fmla="*/ 0 w 4010928"/>
                        <a:gd name="csY0" fmla="*/ 127835 h 766992"/>
                        <a:gd name="csX1" fmla="*/ 127835 w 4010928"/>
                        <a:gd name="csY1" fmla="*/ 0 h 766992"/>
                        <a:gd name="csX2" fmla="*/ 739406 w 4010928"/>
                        <a:gd name="csY2" fmla="*/ 0 h 766992"/>
                        <a:gd name="csX3" fmla="*/ 1275871 w 4010928"/>
                        <a:gd name="csY3" fmla="*/ 0 h 766992"/>
                        <a:gd name="csX4" fmla="*/ 1774784 w 4010928"/>
                        <a:gd name="csY4" fmla="*/ 0 h 766992"/>
                        <a:gd name="csX5" fmla="*/ 2311249 w 4010928"/>
                        <a:gd name="csY5" fmla="*/ 0 h 766992"/>
                        <a:gd name="csX6" fmla="*/ 2735057 w 4010928"/>
                        <a:gd name="csY6" fmla="*/ 0 h 766992"/>
                        <a:gd name="csX7" fmla="*/ 3271522 w 4010928"/>
                        <a:gd name="csY7" fmla="*/ 0 h 766992"/>
                        <a:gd name="csX8" fmla="*/ 3883093 w 4010928"/>
                        <a:gd name="csY8" fmla="*/ 0 h 766992"/>
                        <a:gd name="csX9" fmla="*/ 4010928 w 4010928"/>
                        <a:gd name="csY9" fmla="*/ 127835 h 766992"/>
                        <a:gd name="csX10" fmla="*/ 4010928 w 4010928"/>
                        <a:gd name="csY10" fmla="*/ 639157 h 766992"/>
                        <a:gd name="csX11" fmla="*/ 3883093 w 4010928"/>
                        <a:gd name="csY11" fmla="*/ 766992 h 766992"/>
                        <a:gd name="csX12" fmla="*/ 3271522 w 4010928"/>
                        <a:gd name="csY12" fmla="*/ 766992 h 766992"/>
                        <a:gd name="csX13" fmla="*/ 2810162 w 4010928"/>
                        <a:gd name="csY13" fmla="*/ 766992 h 766992"/>
                        <a:gd name="csX14" fmla="*/ 2311249 w 4010928"/>
                        <a:gd name="csY14" fmla="*/ 766992 h 766992"/>
                        <a:gd name="csX15" fmla="*/ 1699679 w 4010928"/>
                        <a:gd name="csY15" fmla="*/ 766992 h 766992"/>
                        <a:gd name="csX16" fmla="*/ 1238318 w 4010928"/>
                        <a:gd name="csY16" fmla="*/ 766992 h 766992"/>
                        <a:gd name="csX17" fmla="*/ 776958 w 4010928"/>
                        <a:gd name="csY17" fmla="*/ 766992 h 766992"/>
                        <a:gd name="csX18" fmla="*/ 127835 w 4010928"/>
                        <a:gd name="csY18" fmla="*/ 766992 h 766992"/>
                        <a:gd name="csX19" fmla="*/ 0 w 4010928"/>
                        <a:gd name="csY19" fmla="*/ 639157 h 766992"/>
                        <a:gd name="csX20" fmla="*/ 0 w 4010928"/>
                        <a:gd name="csY20" fmla="*/ 127835 h 7669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</a:cxnLst>
                      <a:rect l="l" t="t" r="r" b="b"/>
                      <a:pathLst>
                        <a:path w="4010928" h="766992" fill="none" extrusionOk="0">
                          <a:moveTo>
                            <a:pt x="0" y="127835"/>
                          </a:moveTo>
                          <a:cubicBezTo>
                            <a:pt x="6264" y="76455"/>
                            <a:pt x="59432" y="-6240"/>
                            <a:pt x="127835" y="0"/>
                          </a:cubicBezTo>
                          <a:cubicBezTo>
                            <a:pt x="408296" y="-33429"/>
                            <a:pt x="468908" y="5686"/>
                            <a:pt x="739406" y="0"/>
                          </a:cubicBezTo>
                          <a:cubicBezTo>
                            <a:pt x="1009904" y="-5686"/>
                            <a:pt x="1161251" y="63209"/>
                            <a:pt x="1275871" y="0"/>
                          </a:cubicBezTo>
                          <a:cubicBezTo>
                            <a:pt x="1390491" y="-63209"/>
                            <a:pt x="1558262" y="5995"/>
                            <a:pt x="1774784" y="0"/>
                          </a:cubicBezTo>
                          <a:cubicBezTo>
                            <a:pt x="1991306" y="-5995"/>
                            <a:pt x="2111996" y="7988"/>
                            <a:pt x="2311249" y="0"/>
                          </a:cubicBezTo>
                          <a:cubicBezTo>
                            <a:pt x="2510502" y="-7988"/>
                            <a:pt x="2546395" y="37967"/>
                            <a:pt x="2735057" y="0"/>
                          </a:cubicBezTo>
                          <a:cubicBezTo>
                            <a:pt x="2923719" y="-37967"/>
                            <a:pt x="3101766" y="37144"/>
                            <a:pt x="3271522" y="0"/>
                          </a:cubicBezTo>
                          <a:cubicBezTo>
                            <a:pt x="3441278" y="-37144"/>
                            <a:pt x="3648626" y="55"/>
                            <a:pt x="3883093" y="0"/>
                          </a:cubicBezTo>
                          <a:cubicBezTo>
                            <a:pt x="3935969" y="6050"/>
                            <a:pt x="4002961" y="42069"/>
                            <a:pt x="4010928" y="127835"/>
                          </a:cubicBezTo>
                          <a:cubicBezTo>
                            <a:pt x="4056188" y="255675"/>
                            <a:pt x="3965533" y="446515"/>
                            <a:pt x="4010928" y="639157"/>
                          </a:cubicBezTo>
                          <a:cubicBezTo>
                            <a:pt x="3993307" y="708605"/>
                            <a:pt x="3959857" y="784347"/>
                            <a:pt x="3883093" y="766992"/>
                          </a:cubicBezTo>
                          <a:cubicBezTo>
                            <a:pt x="3760726" y="769651"/>
                            <a:pt x="3482769" y="698331"/>
                            <a:pt x="3271522" y="766992"/>
                          </a:cubicBezTo>
                          <a:cubicBezTo>
                            <a:pt x="3060275" y="835653"/>
                            <a:pt x="2911552" y="723565"/>
                            <a:pt x="2810162" y="766992"/>
                          </a:cubicBezTo>
                          <a:cubicBezTo>
                            <a:pt x="2708772" y="810419"/>
                            <a:pt x="2508455" y="722681"/>
                            <a:pt x="2311249" y="766992"/>
                          </a:cubicBezTo>
                          <a:cubicBezTo>
                            <a:pt x="2114043" y="811303"/>
                            <a:pt x="1917725" y="700392"/>
                            <a:pt x="1699679" y="766992"/>
                          </a:cubicBezTo>
                          <a:cubicBezTo>
                            <a:pt x="1481633" y="833592"/>
                            <a:pt x="1414276" y="742577"/>
                            <a:pt x="1238318" y="766992"/>
                          </a:cubicBezTo>
                          <a:cubicBezTo>
                            <a:pt x="1062360" y="791407"/>
                            <a:pt x="905169" y="741342"/>
                            <a:pt x="776958" y="766992"/>
                          </a:cubicBezTo>
                          <a:cubicBezTo>
                            <a:pt x="648747" y="792642"/>
                            <a:pt x="362371" y="755821"/>
                            <a:pt x="127835" y="766992"/>
                          </a:cubicBezTo>
                          <a:cubicBezTo>
                            <a:pt x="60211" y="770697"/>
                            <a:pt x="-5229" y="714294"/>
                            <a:pt x="0" y="639157"/>
                          </a:cubicBezTo>
                          <a:cubicBezTo>
                            <a:pt x="-48046" y="388713"/>
                            <a:pt x="37372" y="366645"/>
                            <a:pt x="0" y="127835"/>
                          </a:cubicBezTo>
                          <a:close/>
                        </a:path>
                        <a:path w="4010928" h="766992" stroke="0" extrusionOk="0">
                          <a:moveTo>
                            <a:pt x="0" y="127835"/>
                          </a:moveTo>
                          <a:cubicBezTo>
                            <a:pt x="-9341" y="52452"/>
                            <a:pt x="58614" y="-4003"/>
                            <a:pt x="127835" y="0"/>
                          </a:cubicBezTo>
                          <a:cubicBezTo>
                            <a:pt x="259235" y="-29566"/>
                            <a:pt x="341652" y="8596"/>
                            <a:pt x="551643" y="0"/>
                          </a:cubicBezTo>
                          <a:cubicBezTo>
                            <a:pt x="761634" y="-8596"/>
                            <a:pt x="816788" y="27775"/>
                            <a:pt x="975450" y="0"/>
                          </a:cubicBezTo>
                          <a:cubicBezTo>
                            <a:pt x="1134112" y="-27775"/>
                            <a:pt x="1368196" y="21264"/>
                            <a:pt x="1511916" y="0"/>
                          </a:cubicBezTo>
                          <a:cubicBezTo>
                            <a:pt x="1655636" y="-21264"/>
                            <a:pt x="1891294" y="31189"/>
                            <a:pt x="2010829" y="0"/>
                          </a:cubicBezTo>
                          <a:cubicBezTo>
                            <a:pt x="2130364" y="-31189"/>
                            <a:pt x="2437396" y="71320"/>
                            <a:pt x="2622399" y="0"/>
                          </a:cubicBezTo>
                          <a:cubicBezTo>
                            <a:pt x="2807402" y="-71320"/>
                            <a:pt x="2866766" y="31790"/>
                            <a:pt x="3046207" y="0"/>
                          </a:cubicBezTo>
                          <a:cubicBezTo>
                            <a:pt x="3225648" y="-31790"/>
                            <a:pt x="3711577" y="84434"/>
                            <a:pt x="3883093" y="0"/>
                          </a:cubicBezTo>
                          <a:cubicBezTo>
                            <a:pt x="3955356" y="-1228"/>
                            <a:pt x="4000541" y="53972"/>
                            <a:pt x="4010928" y="127835"/>
                          </a:cubicBezTo>
                          <a:cubicBezTo>
                            <a:pt x="4069501" y="348909"/>
                            <a:pt x="3987844" y="487546"/>
                            <a:pt x="4010928" y="639157"/>
                          </a:cubicBezTo>
                          <a:cubicBezTo>
                            <a:pt x="4010573" y="715251"/>
                            <a:pt x="3968191" y="776012"/>
                            <a:pt x="3883093" y="766992"/>
                          </a:cubicBezTo>
                          <a:cubicBezTo>
                            <a:pt x="3680633" y="824451"/>
                            <a:pt x="3496434" y="764539"/>
                            <a:pt x="3384180" y="766992"/>
                          </a:cubicBezTo>
                          <a:cubicBezTo>
                            <a:pt x="3271926" y="769445"/>
                            <a:pt x="3053572" y="735895"/>
                            <a:pt x="2960372" y="766992"/>
                          </a:cubicBezTo>
                          <a:cubicBezTo>
                            <a:pt x="2867172" y="798089"/>
                            <a:pt x="2690510" y="721281"/>
                            <a:pt x="2536565" y="766992"/>
                          </a:cubicBezTo>
                          <a:cubicBezTo>
                            <a:pt x="2382620" y="812703"/>
                            <a:pt x="2141286" y="707509"/>
                            <a:pt x="2000099" y="766992"/>
                          </a:cubicBezTo>
                          <a:cubicBezTo>
                            <a:pt x="1858912" y="826475"/>
                            <a:pt x="1727253" y="742153"/>
                            <a:pt x="1463634" y="766992"/>
                          </a:cubicBezTo>
                          <a:cubicBezTo>
                            <a:pt x="1200015" y="791831"/>
                            <a:pt x="1011294" y="729557"/>
                            <a:pt x="889616" y="766992"/>
                          </a:cubicBezTo>
                          <a:cubicBezTo>
                            <a:pt x="767938" y="804427"/>
                            <a:pt x="469120" y="735709"/>
                            <a:pt x="127835" y="766992"/>
                          </a:cubicBezTo>
                          <a:cubicBezTo>
                            <a:pt x="47201" y="761529"/>
                            <a:pt x="8901" y="711449"/>
                            <a:pt x="0" y="639157"/>
                          </a:cubicBezTo>
                          <a:cubicBezTo>
                            <a:pt x="-48320" y="492654"/>
                            <a:pt x="37891" y="320785"/>
                            <a:pt x="0" y="12783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6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Text Placeholder 11">
              <a:extLst>
                <a:ext uri="{FF2B5EF4-FFF2-40B4-BE49-F238E27FC236}">
                  <a16:creationId xmlns:a16="http://schemas.microsoft.com/office/drawing/2014/main" id="{D30B0FCC-99FF-1C0E-C7A6-FCBD18033363}"/>
                </a:ext>
              </a:extLst>
            </p:cNvPr>
            <p:cNvSpPr txBox="1">
              <a:spLocks/>
            </p:cNvSpPr>
            <p:nvPr/>
          </p:nvSpPr>
          <p:spPr>
            <a:xfrm>
              <a:off x="344857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Monitoring 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6E6AA67-0F88-5568-66ED-A961339F0879}"/>
              </a:ext>
            </a:extLst>
          </p:cNvPr>
          <p:cNvSpPr txBox="1"/>
          <p:nvPr/>
        </p:nvSpPr>
        <p:spPr>
          <a:xfrm>
            <a:off x="2523957" y="4181160"/>
            <a:ext cx="666127" cy="442533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i="1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600" b="1" i="0">
                <a:solidFill>
                  <a:prstClr val="black"/>
                </a:solidFill>
              </a:rPr>
              <a:t>How?</a:t>
            </a:r>
            <a:endParaRPr lang="en-BE" sz="1600" b="1" i="0">
              <a:solidFill>
                <a:prstClr val="black"/>
              </a:solidFill>
            </a:endParaRPr>
          </a:p>
        </p:txBody>
      </p:sp>
      <p:cxnSp>
        <p:nvCxnSpPr>
          <p:cNvPr id="42" name="Curved Connector 21">
            <a:extLst>
              <a:ext uri="{FF2B5EF4-FFF2-40B4-BE49-F238E27FC236}">
                <a16:creationId xmlns:a16="http://schemas.microsoft.com/office/drawing/2014/main" id="{B32DCC1A-20CD-68FA-517F-FB90351370CA}"/>
              </a:ext>
            </a:extLst>
          </p:cNvPr>
          <p:cNvCxnSpPr>
            <a:cxnSpLocks/>
            <a:endCxn id="34" idx="0"/>
          </p:cNvCxnSpPr>
          <p:nvPr/>
        </p:nvCxnSpPr>
        <p:spPr>
          <a:xfrm rot="10800000" flipV="1">
            <a:off x="2857021" y="3818633"/>
            <a:ext cx="421468" cy="362526"/>
          </a:xfrm>
          <a:prstGeom prst="curvedConnector2">
            <a:avLst/>
          </a:prstGeom>
          <a:ln w="476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urved Connector 25">
            <a:extLst>
              <a:ext uri="{FF2B5EF4-FFF2-40B4-BE49-F238E27FC236}">
                <a16:creationId xmlns:a16="http://schemas.microsoft.com/office/drawing/2014/main" id="{ED796674-FC56-870C-2D7C-A12F6154445C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09848" y="4451716"/>
            <a:ext cx="255685" cy="432000"/>
          </a:xfrm>
          <a:prstGeom prst="curvedConnector2">
            <a:avLst/>
          </a:prstGeom>
          <a:ln w="476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 Placeholder 11">
            <a:extLst>
              <a:ext uri="{FF2B5EF4-FFF2-40B4-BE49-F238E27FC236}">
                <a16:creationId xmlns:a16="http://schemas.microsoft.com/office/drawing/2014/main" id="{C0754846-0066-97E4-3188-50CDD8DC1009}"/>
              </a:ext>
            </a:extLst>
          </p:cNvPr>
          <p:cNvSpPr txBox="1">
            <a:spLocks/>
          </p:cNvSpPr>
          <p:nvPr/>
        </p:nvSpPr>
        <p:spPr>
          <a:xfrm>
            <a:off x="3288632" y="4606256"/>
            <a:ext cx="5520479" cy="389353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  <a:highlight>
                  <a:srgbClr val="E6D5CA"/>
                </a:highlight>
              </a:rPr>
              <a:t>Tools &amp; systems </a:t>
            </a:r>
            <a:r>
              <a:rPr lang="en-US" sz="1600">
                <a:solidFill>
                  <a:prstClr val="black"/>
                </a:solidFill>
              </a:rPr>
              <a:t>(Dashboards, KPIs, Reporting tools…)</a:t>
            </a:r>
            <a:endParaRPr lang="en-BE" sz="1867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35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3F44-EC7D-D495-A8A9-4B8BE020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A501F7-86F0-88EF-6310-7C368423D468}"/>
              </a:ext>
            </a:extLst>
          </p:cNvPr>
          <p:cNvSpPr/>
          <p:nvPr/>
        </p:nvSpPr>
        <p:spPr>
          <a:xfrm flipH="1" flipV="1">
            <a:off x="433215" y="1274570"/>
            <a:ext cx="5343709" cy="594004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A6EAA2-5498-7FC1-D87F-F24DCA700678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ircle: Hollow 28">
            <a:extLst>
              <a:ext uri="{FF2B5EF4-FFF2-40B4-BE49-F238E27FC236}">
                <a16:creationId xmlns:a16="http://schemas.microsoft.com/office/drawing/2014/main" id="{DD0C5BC8-EB78-171D-53C2-23614A3AD5D1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Graphic 18" descr="Books with solid fill">
            <a:extLst>
              <a:ext uri="{FF2B5EF4-FFF2-40B4-BE49-F238E27FC236}">
                <a16:creationId xmlns:a16="http://schemas.microsoft.com/office/drawing/2014/main" id="{980B2C03-3BE2-D5B5-BFEF-BD6E23635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634" y="1309096"/>
            <a:ext cx="434502" cy="43450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13B618D-F573-E3C0-DC16-584643BCDD91}"/>
              </a:ext>
            </a:extLst>
          </p:cNvPr>
          <p:cNvSpPr txBox="1">
            <a:spLocks/>
          </p:cNvSpPr>
          <p:nvPr/>
        </p:nvSpPr>
        <p:spPr>
          <a:xfrm>
            <a:off x="1119520" y="1336051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Success criteria 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FEDA89-E99F-2709-C1B6-C0F69EC8AA92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95B6209-D268-09D4-F712-DE83093986BD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D738571-8D17-5155-6649-C49AB0BCC2F8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61596BD-D8E9-A6FA-B662-026E0BBBC479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D876621-24D2-B1AD-F15F-E38958748206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C09A1DD-6963-C2AE-D68D-5A10E50E0F01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631D620-E9CF-59B8-EDAA-1190426E87C5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08178FF-AB87-8F34-AE51-17BC4BCECB91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028113A-C4F9-90A1-DEC9-C0665C389FFB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BD97010-99AE-E590-E949-ACAFF3004058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6" name="Graphic 5" descr="Information outline">
              <a:extLst>
                <a:ext uri="{FF2B5EF4-FFF2-40B4-BE49-F238E27FC236}">
                  <a16:creationId xmlns:a16="http://schemas.microsoft.com/office/drawing/2014/main" id="{9D2FD4FF-14ED-4BAA-77D1-4AE229D27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" name="Graphic 6" descr="Abacus outline">
              <a:extLst>
                <a:ext uri="{FF2B5EF4-FFF2-40B4-BE49-F238E27FC236}">
                  <a16:creationId xmlns:a16="http://schemas.microsoft.com/office/drawing/2014/main" id="{0CE0A505-42D1-0FFB-596C-5F91EAFD0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8" name="Graphic 7" descr="Target outline">
              <a:extLst>
                <a:ext uri="{FF2B5EF4-FFF2-40B4-BE49-F238E27FC236}">
                  <a16:creationId xmlns:a16="http://schemas.microsoft.com/office/drawing/2014/main" id="{7E00C46A-472F-774A-8186-954FA85BE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" name="Graphic 8" descr="Clipboard Mixed outline">
              <a:extLst>
                <a:ext uri="{FF2B5EF4-FFF2-40B4-BE49-F238E27FC236}">
                  <a16:creationId xmlns:a16="http://schemas.microsoft.com/office/drawing/2014/main" id="{22DF8B92-1BEE-C6E2-3CC9-EE40E47DE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0" name="Graphic 9" descr="Gears outline">
              <a:extLst>
                <a:ext uri="{FF2B5EF4-FFF2-40B4-BE49-F238E27FC236}">
                  <a16:creationId xmlns:a16="http://schemas.microsoft.com/office/drawing/2014/main" id="{DD7AE3D4-4FAC-637C-CAA5-91BA3D1D8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" name="Graphic 11" descr="Bar graph with upward trend outline">
              <a:extLst>
                <a:ext uri="{FF2B5EF4-FFF2-40B4-BE49-F238E27FC236}">
                  <a16:creationId xmlns:a16="http://schemas.microsoft.com/office/drawing/2014/main" id="{9C9E9A4D-E4FC-B6D3-765D-A3F0AD7B8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3" name="Graphic 12" descr="Classroom outline">
              <a:extLst>
                <a:ext uri="{FF2B5EF4-FFF2-40B4-BE49-F238E27FC236}">
                  <a16:creationId xmlns:a16="http://schemas.microsoft.com/office/drawing/2014/main" id="{4D90D66D-BEB3-1C89-255F-0C4A1200C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4BFDD9BF-6DD8-6154-F6A7-0FCD55D22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43B15C6A-48EE-CD0B-2954-89BFFDE2A229}"/>
              </a:ext>
            </a:extLst>
          </p:cNvPr>
          <p:cNvSpPr/>
          <p:nvPr/>
        </p:nvSpPr>
        <p:spPr>
          <a:xfrm>
            <a:off x="1827843" y="6209959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EBFEC1-3F75-1CC9-D59C-6DEABC59E822}"/>
              </a:ext>
            </a:extLst>
          </p:cNvPr>
          <p:cNvSpPr txBox="1"/>
          <p:nvPr/>
        </p:nvSpPr>
        <p:spPr>
          <a:xfrm>
            <a:off x="433214" y="1826022"/>
            <a:ext cx="12285258" cy="3624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Have only a few KPIs that are key</a:t>
            </a:r>
          </a:p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Build a governance framework around these KPIs (ex: Dashboards, Touchpoints..) </a:t>
            </a:r>
          </a:p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Define clear thresholds &amp; pre-agreed actions </a:t>
            </a:r>
          </a:p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Monitor adoption of rules or solutions </a:t>
            </a:r>
          </a:p>
        </p:txBody>
      </p:sp>
      <p:sp>
        <p:nvSpPr>
          <p:cNvPr id="41" name="Isosceles Triangle 68">
            <a:extLst>
              <a:ext uri="{FF2B5EF4-FFF2-40B4-BE49-F238E27FC236}">
                <a16:creationId xmlns:a16="http://schemas.microsoft.com/office/drawing/2014/main" id="{E90B56DD-B10C-0851-E4F5-1C5B8EAC1583}"/>
              </a:ext>
            </a:extLst>
          </p:cNvPr>
          <p:cNvSpPr/>
          <p:nvPr/>
        </p:nvSpPr>
        <p:spPr>
          <a:xfrm rot="10800000">
            <a:off x="10877383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BA246870-6A24-21AA-A45E-1D1FEA192CAE}"/>
              </a:ext>
            </a:extLst>
          </p:cNvPr>
          <p:cNvSpPr txBox="1">
            <a:spLocks/>
          </p:cNvSpPr>
          <p:nvPr/>
        </p:nvSpPr>
        <p:spPr>
          <a:xfrm>
            <a:off x="317203" y="698365"/>
            <a:ext cx="6124260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7: Monitor Progress 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D1ED60-1BCE-EC3F-CDF3-B23D4D48B171}"/>
              </a:ext>
            </a:extLst>
          </p:cNvPr>
          <p:cNvGrpSpPr/>
          <p:nvPr/>
        </p:nvGrpSpPr>
        <p:grpSpPr>
          <a:xfrm>
            <a:off x="-80819" y="-44236"/>
            <a:ext cx="2932876" cy="617260"/>
            <a:chOff x="-121228" y="-66354"/>
            <a:chExt cx="2218895" cy="85577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A2C5004-55E0-33FE-9497-191CC8A219B0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Text Placeholder 11">
              <a:extLst>
                <a:ext uri="{FF2B5EF4-FFF2-40B4-BE49-F238E27FC236}">
                  <a16:creationId xmlns:a16="http://schemas.microsoft.com/office/drawing/2014/main" id="{3FB1AA02-78AA-C7AB-5011-B1722F73348C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Best Practices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8442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C11A4-ED4D-B8EB-3909-3F2DF14A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1">
            <a:extLst>
              <a:ext uri="{FF2B5EF4-FFF2-40B4-BE49-F238E27FC236}">
                <a16:creationId xmlns:a16="http://schemas.microsoft.com/office/drawing/2014/main" id="{BDA7C50B-C415-67D0-626E-A5107DCD087E}"/>
              </a:ext>
            </a:extLst>
          </p:cNvPr>
          <p:cNvSpPr/>
          <p:nvPr/>
        </p:nvSpPr>
        <p:spPr>
          <a:xfrm>
            <a:off x="497840" y="1344339"/>
            <a:ext cx="7920666" cy="546175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630">
              <a:defRPr/>
            </a:pPr>
            <a:r>
              <a:rPr lang="en-US" sz="2133">
                <a:solidFill>
                  <a:prstClr val="black"/>
                </a:solidFill>
                <a:latin typeface="Alata" panose="020B0604020202020204" charset="0"/>
              </a:rPr>
              <a:t> Purpose : Convert experience into organizational learning.</a:t>
            </a:r>
            <a:endParaRPr lang="en-BE" sz="2133">
              <a:solidFill>
                <a:prstClr val="black"/>
              </a:solidFill>
              <a:latin typeface="Alata" panose="020B060402020202020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7013231-4295-309A-8FC3-CD33E7CF5316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ircle: Hollow 28">
            <a:extLst>
              <a:ext uri="{FF2B5EF4-FFF2-40B4-BE49-F238E27FC236}">
                <a16:creationId xmlns:a16="http://schemas.microsoft.com/office/drawing/2014/main" id="{8BDC6681-BB39-7A72-1D52-F195C910CCCE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9F8B63-AA2C-DC4C-F3C8-B5611EE13CB8}"/>
              </a:ext>
            </a:extLst>
          </p:cNvPr>
          <p:cNvGrpSpPr/>
          <p:nvPr/>
        </p:nvGrpSpPr>
        <p:grpSpPr>
          <a:xfrm>
            <a:off x="7223371" y="279022"/>
            <a:ext cx="4639465" cy="575005"/>
            <a:chOff x="5677807" y="418528"/>
            <a:chExt cx="6215923" cy="75781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501995D-865C-0EF7-CE28-00B8AEF1AE51}"/>
                </a:ext>
              </a:extLst>
            </p:cNvPr>
            <p:cNvGrpSpPr/>
            <p:nvPr/>
          </p:nvGrpSpPr>
          <p:grpSpPr>
            <a:xfrm>
              <a:off x="5690030" y="445122"/>
              <a:ext cx="6203617" cy="685917"/>
              <a:chOff x="995673" y="8188180"/>
              <a:chExt cx="9681199" cy="1057407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A2CC61B-8413-B23C-E56D-4DF302C24C4F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0C7A51D-2FE9-74E2-FD9A-232247DEC7CF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685F39-D11C-7F04-8E60-35F60FE57781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A61049C-9274-3DCD-D20E-DA255896B7A6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C5BE9CF-50DE-47BE-BEBC-DEEEC2B30017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80E8C22-ED21-F90E-1AC2-BB3EADCF43BE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7714E1E-4F02-924E-517A-9317807DEA79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BBA1EC6-ED79-F819-A201-B27EB6E28383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22" name="Graphic 21" descr="Information outline">
              <a:extLst>
                <a:ext uri="{FF2B5EF4-FFF2-40B4-BE49-F238E27FC236}">
                  <a16:creationId xmlns:a16="http://schemas.microsoft.com/office/drawing/2014/main" id="{E3450F1A-F4F3-2BCC-CFAD-FCDCB69B5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23" name="Graphic 22" descr="Abacus outline">
              <a:extLst>
                <a:ext uri="{FF2B5EF4-FFF2-40B4-BE49-F238E27FC236}">
                  <a16:creationId xmlns:a16="http://schemas.microsoft.com/office/drawing/2014/main" id="{617F7BEA-3625-A5B6-8E55-FFD38F807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26" name="Graphic 25" descr="Target outline">
              <a:extLst>
                <a:ext uri="{FF2B5EF4-FFF2-40B4-BE49-F238E27FC236}">
                  <a16:creationId xmlns:a16="http://schemas.microsoft.com/office/drawing/2014/main" id="{96C551F3-BD49-D88C-3E4A-B746B1FF2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27" name="Graphic 26" descr="Clipboard Mixed outline">
              <a:extLst>
                <a:ext uri="{FF2B5EF4-FFF2-40B4-BE49-F238E27FC236}">
                  <a16:creationId xmlns:a16="http://schemas.microsoft.com/office/drawing/2014/main" id="{E69CDF18-71F8-B46C-1046-6B3D9296A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28" name="Graphic 27" descr="Gears outline">
              <a:extLst>
                <a:ext uri="{FF2B5EF4-FFF2-40B4-BE49-F238E27FC236}">
                  <a16:creationId xmlns:a16="http://schemas.microsoft.com/office/drawing/2014/main" id="{1D026053-40FA-D48C-00E0-376DA5BC4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29" name="Graphic 28" descr="Bar graph with upward trend outline">
              <a:extLst>
                <a:ext uri="{FF2B5EF4-FFF2-40B4-BE49-F238E27FC236}">
                  <a16:creationId xmlns:a16="http://schemas.microsoft.com/office/drawing/2014/main" id="{13305BD3-64BD-C9AF-98FA-A60D46CE6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30" name="Graphic 29" descr="Classroom outline">
              <a:extLst>
                <a:ext uri="{FF2B5EF4-FFF2-40B4-BE49-F238E27FC236}">
                  <a16:creationId xmlns:a16="http://schemas.microsoft.com/office/drawing/2014/main" id="{450C01B6-549E-6133-9B79-C1BF2D1B7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31" name="Graphic 30" descr="Question Mark outline">
              <a:extLst>
                <a:ext uri="{FF2B5EF4-FFF2-40B4-BE49-F238E27FC236}">
                  <a16:creationId xmlns:a16="http://schemas.microsoft.com/office/drawing/2014/main" id="{B2CB347A-6763-5BAA-E9EE-55A55349E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4DBEB01A-DAC6-0F53-8B97-DAC192C48ABC}"/>
              </a:ext>
            </a:extLst>
          </p:cNvPr>
          <p:cNvSpPr/>
          <p:nvPr/>
        </p:nvSpPr>
        <p:spPr>
          <a:xfrm rot="10800000">
            <a:off x="11461009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2E66236-5C42-E2AF-2519-78A68A6FF62F}"/>
              </a:ext>
            </a:extLst>
          </p:cNvPr>
          <p:cNvSpPr txBox="1">
            <a:spLocks/>
          </p:cNvSpPr>
          <p:nvPr/>
        </p:nvSpPr>
        <p:spPr>
          <a:xfrm>
            <a:off x="317203" y="720136"/>
            <a:ext cx="654673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8: Capture Lessons Learned  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365F2F-ACC4-A771-8044-C29FF1394977}"/>
              </a:ext>
            </a:extLst>
          </p:cNvPr>
          <p:cNvGrpSpPr/>
          <p:nvPr/>
        </p:nvGrpSpPr>
        <p:grpSpPr>
          <a:xfrm>
            <a:off x="-80818" y="-44236"/>
            <a:ext cx="1479263" cy="570514"/>
            <a:chOff x="-121228" y="-66354"/>
            <a:chExt cx="2218895" cy="85577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5B8E0B0-7968-C434-3036-E090D1132995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" name="Text Placeholder 11">
              <a:extLst>
                <a:ext uri="{FF2B5EF4-FFF2-40B4-BE49-F238E27FC236}">
                  <a16:creationId xmlns:a16="http://schemas.microsoft.com/office/drawing/2014/main" id="{CD0DABC3-F1F3-F265-67E8-3B2B0CB1B969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Theory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3D8F823-2FAF-0E04-E0A7-4AA514017728}"/>
              </a:ext>
            </a:extLst>
          </p:cNvPr>
          <p:cNvSpPr txBox="1"/>
          <p:nvPr/>
        </p:nvSpPr>
        <p:spPr>
          <a:xfrm>
            <a:off x="476019" y="2137880"/>
            <a:ext cx="11159855" cy="748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 fontAlgn="t"/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Projects produce </a:t>
            </a:r>
            <a:r>
              <a:rPr lang="en-US" sz="2133">
                <a:solidFill>
                  <a:prstClr val="black"/>
                </a:solidFill>
                <a:highlight>
                  <a:srgbClr val="E6D5CA"/>
                </a:highlight>
                <a:latin typeface="Alata" pitchFamily="2" charset="0"/>
                <a:cs typeface="Alata" pitchFamily="2" charset="0"/>
              </a:rPr>
              <a:t>results</a:t>
            </a:r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, but </a:t>
            </a:r>
            <a:r>
              <a:rPr lang="en-US" sz="2133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learning</a:t>
            </a:r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 produces </a:t>
            </a:r>
            <a:r>
              <a:rPr lang="en-US" sz="2133">
                <a:solidFill>
                  <a:prstClr val="black"/>
                </a:solidFill>
                <a:highlight>
                  <a:srgbClr val="E6D5CA"/>
                </a:highlight>
                <a:latin typeface="Alata" pitchFamily="2" charset="0"/>
                <a:cs typeface="Alata" pitchFamily="2" charset="0"/>
              </a:rPr>
              <a:t>organizational maturity.</a:t>
            </a:r>
            <a:b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</a:br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Without capturing lessons learned, mistakes </a:t>
            </a:r>
            <a:r>
              <a:rPr lang="en-US" sz="2133" b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reappear </a:t>
            </a:r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and improvements are </a:t>
            </a:r>
            <a:r>
              <a:rPr lang="en-US" sz="2133">
                <a:solidFill>
                  <a:prstClr val="black"/>
                </a:solidFill>
                <a:highlight>
                  <a:srgbClr val="E6D5CA"/>
                </a:highlight>
                <a:latin typeface="Alata" pitchFamily="2" charset="0"/>
                <a:cs typeface="Alata" pitchFamily="2" charset="0"/>
              </a:rPr>
              <a:t>temporary</a:t>
            </a:r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2AD547-2E04-769C-3BAA-0FDB8B5DE54A}"/>
              </a:ext>
            </a:extLst>
          </p:cNvPr>
          <p:cNvSpPr txBox="1"/>
          <p:nvPr/>
        </p:nvSpPr>
        <p:spPr>
          <a:xfrm>
            <a:off x="512526" y="3183912"/>
            <a:ext cx="4927125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 fontAlgn="t"/>
            <a:r>
              <a:rPr lang="en-US" sz="21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Lessons learned should ensure: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8F0604-D436-5833-505C-4D36D9C0912F}"/>
              </a:ext>
            </a:extLst>
          </p:cNvPr>
          <p:cNvGrpSpPr/>
          <p:nvPr/>
        </p:nvGrpSpPr>
        <p:grpSpPr>
          <a:xfrm>
            <a:off x="1610067" y="3887205"/>
            <a:ext cx="607187" cy="509439"/>
            <a:chOff x="3459875" y="3463721"/>
            <a:chExt cx="1067098" cy="91324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53F15CD-D319-EE72-8891-B95698DA0566}"/>
                </a:ext>
              </a:extLst>
            </p:cNvPr>
            <p:cNvSpPr/>
            <p:nvPr/>
          </p:nvSpPr>
          <p:spPr>
            <a:xfrm>
              <a:off x="3459875" y="3463721"/>
              <a:ext cx="883525" cy="913248"/>
            </a:xfrm>
            <a:prstGeom prst="ellipse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EE24A8-3D12-206A-AD2D-3604DED09C74}"/>
                </a:ext>
              </a:extLst>
            </p:cNvPr>
            <p:cNvSpPr txBox="1"/>
            <p:nvPr/>
          </p:nvSpPr>
          <p:spPr>
            <a:xfrm>
              <a:off x="3749275" y="3641178"/>
              <a:ext cx="777698" cy="680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1867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1</a:t>
              </a:r>
              <a:endParaRPr lang="en-BE" sz="1867">
                <a:solidFill>
                  <a:prstClr val="black"/>
                </a:solidFill>
                <a:latin typeface="Alata" pitchFamily="2" charset="0"/>
                <a:cs typeface="Alata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18AAED-294E-A97E-D390-E1AB9D46FED2}"/>
              </a:ext>
            </a:extLst>
          </p:cNvPr>
          <p:cNvGrpSpPr/>
          <p:nvPr/>
        </p:nvGrpSpPr>
        <p:grpSpPr>
          <a:xfrm>
            <a:off x="6777151" y="3903333"/>
            <a:ext cx="588419" cy="509440"/>
            <a:chOff x="3459875" y="3463721"/>
            <a:chExt cx="1013396" cy="91324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85E3616-B1B2-C8BE-C693-C500D6E09C3A}"/>
                </a:ext>
              </a:extLst>
            </p:cNvPr>
            <p:cNvSpPr/>
            <p:nvPr/>
          </p:nvSpPr>
          <p:spPr>
            <a:xfrm>
              <a:off x="3459875" y="3463721"/>
              <a:ext cx="883525" cy="913248"/>
            </a:xfrm>
            <a:prstGeom prst="ellipse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2D60D2-5DF8-0155-4CAF-738F5DAB1FD8}"/>
                </a:ext>
              </a:extLst>
            </p:cNvPr>
            <p:cNvSpPr txBox="1"/>
            <p:nvPr/>
          </p:nvSpPr>
          <p:spPr>
            <a:xfrm>
              <a:off x="3695575" y="3641177"/>
              <a:ext cx="777696" cy="680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1867">
                  <a:solidFill>
                    <a:prstClr val="black"/>
                  </a:solidFill>
                  <a:latin typeface="Alata" pitchFamily="2" charset="0"/>
                  <a:cs typeface="Alata" pitchFamily="2" charset="0"/>
                </a:rPr>
                <a:t>2</a:t>
              </a:r>
              <a:endParaRPr lang="en-BE" sz="1867">
                <a:solidFill>
                  <a:prstClr val="black"/>
                </a:solidFill>
                <a:latin typeface="Alata" pitchFamily="2" charset="0"/>
                <a:cs typeface="Alata" pitchFamily="2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4D978CB-FF29-9992-5325-0C52B73D5DC6}"/>
              </a:ext>
            </a:extLst>
          </p:cNvPr>
          <p:cNvSpPr txBox="1"/>
          <p:nvPr/>
        </p:nvSpPr>
        <p:spPr>
          <a:xfrm>
            <a:off x="2176535" y="3913562"/>
            <a:ext cx="3653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 fontAlgn="t"/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Continuous improvement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F633C1-1712-7B84-EBAB-0EE1BC5CA7FC}"/>
              </a:ext>
            </a:extLst>
          </p:cNvPr>
          <p:cNvSpPr txBox="1"/>
          <p:nvPr/>
        </p:nvSpPr>
        <p:spPr>
          <a:xfrm>
            <a:off x="7354313" y="3904121"/>
            <a:ext cx="3238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 fontAlgn="t"/>
            <a:r>
              <a:rPr lang="en-US" sz="24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Sustainability </a:t>
            </a:r>
          </a:p>
        </p:txBody>
      </p:sp>
      <p:pic>
        <p:nvPicPr>
          <p:cNvPr id="47" name="Graphic 46" descr="Continuous Improvement with solid fill">
            <a:extLst>
              <a:ext uri="{FF2B5EF4-FFF2-40B4-BE49-F238E27FC236}">
                <a16:creationId xmlns:a16="http://schemas.microsoft.com/office/drawing/2014/main" id="{52598313-8230-3CC6-55F6-804CE23101B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91848" y="4208815"/>
            <a:ext cx="1438442" cy="1438442"/>
          </a:xfrm>
          <a:prstGeom prst="rect">
            <a:avLst/>
          </a:prstGeom>
        </p:spPr>
      </p:pic>
      <p:pic>
        <p:nvPicPr>
          <p:cNvPr id="54" name="Graphic 53" descr="Business Growth outline">
            <a:extLst>
              <a:ext uri="{FF2B5EF4-FFF2-40B4-BE49-F238E27FC236}">
                <a16:creationId xmlns:a16="http://schemas.microsoft.com/office/drawing/2014/main" id="{1EC4A2DC-CF54-4A38-29F7-7891193D316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157513" y="4336487"/>
            <a:ext cx="1137228" cy="113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01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F9ED-ED39-8A7A-B3C1-CB6EF5BE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EC775BB-64AF-79BF-BAB2-42AB30D82D9E}"/>
              </a:ext>
            </a:extLst>
          </p:cNvPr>
          <p:cNvSpPr/>
          <p:nvPr/>
        </p:nvSpPr>
        <p:spPr>
          <a:xfrm flipH="1" flipV="1">
            <a:off x="558798" y="1315811"/>
            <a:ext cx="5343709" cy="510211"/>
          </a:xfrm>
          <a:prstGeom prst="roundRect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srgbClr val="E6D5CA"/>
              </a:solidFill>
              <a:latin typeface="Calibri" panose="020F0502020204030204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9B3CE0-6713-41C8-76C8-69697159B5DC}"/>
              </a:ext>
            </a:extLst>
          </p:cNvPr>
          <p:cNvCxnSpPr>
            <a:cxnSpLocks/>
          </p:cNvCxnSpPr>
          <p:nvPr/>
        </p:nvCxnSpPr>
        <p:spPr>
          <a:xfrm>
            <a:off x="7071360" y="573024"/>
            <a:ext cx="503529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ircle: Hollow 28">
            <a:extLst>
              <a:ext uri="{FF2B5EF4-FFF2-40B4-BE49-F238E27FC236}">
                <a16:creationId xmlns:a16="http://schemas.microsoft.com/office/drawing/2014/main" id="{2BE8E0B6-589A-8957-FFD7-5CBC7CA0352D}"/>
              </a:ext>
            </a:extLst>
          </p:cNvPr>
          <p:cNvSpPr/>
          <p:nvPr/>
        </p:nvSpPr>
        <p:spPr>
          <a:xfrm>
            <a:off x="6955855" y="499872"/>
            <a:ext cx="147805" cy="140374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9" name="Graphic 18" descr="Books with solid fill">
            <a:extLst>
              <a:ext uri="{FF2B5EF4-FFF2-40B4-BE49-F238E27FC236}">
                <a16:creationId xmlns:a16="http://schemas.microsoft.com/office/drawing/2014/main" id="{2DFBD0AE-3D92-09C9-4679-5E1C7810D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634" y="1352639"/>
            <a:ext cx="434502" cy="43450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A678451-E20A-0AFE-3EA0-6615302AA8AE}"/>
              </a:ext>
            </a:extLst>
          </p:cNvPr>
          <p:cNvSpPr txBox="1">
            <a:spLocks/>
          </p:cNvSpPr>
          <p:nvPr/>
        </p:nvSpPr>
        <p:spPr>
          <a:xfrm>
            <a:off x="1119520" y="1336051"/>
            <a:ext cx="534370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400">
                <a:solidFill>
                  <a:prstClr val="black"/>
                </a:solidFill>
              </a:rPr>
              <a:t>Success criteria </a:t>
            </a:r>
            <a:endParaRPr lang="en-BE" sz="2400">
              <a:solidFill>
                <a:prstClr val="black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CE3527-26AD-4388-D7F2-EB43B958668D}"/>
              </a:ext>
            </a:extLst>
          </p:cNvPr>
          <p:cNvGrpSpPr/>
          <p:nvPr/>
        </p:nvGrpSpPr>
        <p:grpSpPr>
          <a:xfrm>
            <a:off x="7223349" y="279019"/>
            <a:ext cx="4639467" cy="574999"/>
            <a:chOff x="5677807" y="418528"/>
            <a:chExt cx="6215958" cy="7578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CE910B9-99FB-46BF-F107-A37536FB0B2E}"/>
                </a:ext>
              </a:extLst>
            </p:cNvPr>
            <p:cNvGrpSpPr/>
            <p:nvPr/>
          </p:nvGrpSpPr>
          <p:grpSpPr>
            <a:xfrm>
              <a:off x="5690147" y="444158"/>
              <a:ext cx="6203618" cy="685800"/>
              <a:chOff x="995673" y="8188180"/>
              <a:chExt cx="9681199" cy="105740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2898077-E871-B4B9-3C55-72956D4CBCC4}"/>
                  </a:ext>
                </a:extLst>
              </p:cNvPr>
              <p:cNvSpPr/>
              <p:nvPr/>
            </p:nvSpPr>
            <p:spPr>
              <a:xfrm>
                <a:off x="7127043" y="8188181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D6F4345-328A-983B-7F55-64A3634D91F9}"/>
                  </a:ext>
                </a:extLst>
              </p:cNvPr>
              <p:cNvSpPr/>
              <p:nvPr/>
            </p:nvSpPr>
            <p:spPr>
              <a:xfrm>
                <a:off x="4674495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B4914CD-DA26-9CB1-6C97-FAEAA8E670A2}"/>
                  </a:ext>
                </a:extLst>
              </p:cNvPr>
              <p:cNvSpPr/>
              <p:nvPr/>
            </p:nvSpPr>
            <p:spPr>
              <a:xfrm>
                <a:off x="5900769" y="818818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737570F-1E7D-FF95-823D-FF78AF4597DA}"/>
                  </a:ext>
                </a:extLst>
              </p:cNvPr>
              <p:cNvSpPr/>
              <p:nvPr/>
            </p:nvSpPr>
            <p:spPr>
              <a:xfrm>
                <a:off x="8353317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4D3CBEF-10AA-8B26-0191-8A38AC4E8E7E}"/>
                  </a:ext>
                </a:extLst>
              </p:cNvPr>
              <p:cNvSpPr/>
              <p:nvPr/>
            </p:nvSpPr>
            <p:spPr>
              <a:xfrm>
                <a:off x="3448221" y="8188183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F53676F-16E2-3FE9-0C42-EB35CAB01412}"/>
                  </a:ext>
                </a:extLst>
              </p:cNvPr>
              <p:cNvSpPr/>
              <p:nvPr/>
            </p:nvSpPr>
            <p:spPr>
              <a:xfrm>
                <a:off x="995673" y="8190604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DBBE94B-CA71-1B43-E9CB-7ABD23E721BB}"/>
                  </a:ext>
                </a:extLst>
              </p:cNvPr>
              <p:cNvSpPr/>
              <p:nvPr/>
            </p:nvSpPr>
            <p:spPr>
              <a:xfrm>
                <a:off x="2221946" y="8190602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207430-CF05-A19E-0713-8234205F87E0}"/>
                  </a:ext>
                </a:extLst>
              </p:cNvPr>
              <p:cNvSpPr/>
              <p:nvPr/>
            </p:nvSpPr>
            <p:spPr>
              <a:xfrm>
                <a:off x="9579591" y="8188180"/>
                <a:ext cx="1097281" cy="1054983"/>
              </a:xfrm>
              <a:prstGeom prst="ellipse">
                <a:avLst/>
              </a:prstGeom>
              <a:solidFill>
                <a:srgbClr val="E6D5C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sz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6" name="Graphic 5" descr="Information outline">
              <a:extLst>
                <a:ext uri="{FF2B5EF4-FFF2-40B4-BE49-F238E27FC236}">
                  <a16:creationId xmlns:a16="http://schemas.microsoft.com/office/drawing/2014/main" id="{FA15AA9E-F865-CD65-FFBA-94E6B4BC3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7807" y="418528"/>
              <a:ext cx="740243" cy="757818"/>
            </a:xfrm>
            <a:prstGeom prst="rect">
              <a:avLst/>
            </a:prstGeom>
          </p:spPr>
        </p:pic>
        <p:pic>
          <p:nvPicPr>
            <p:cNvPr id="7" name="Graphic 6" descr="Abacus outline">
              <a:extLst>
                <a:ext uri="{FF2B5EF4-FFF2-40B4-BE49-F238E27FC236}">
                  <a16:creationId xmlns:a16="http://schemas.microsoft.com/office/drawing/2014/main" id="{6DAE056B-C33A-9396-A0A9-DBB62F5DA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00438" y="437178"/>
              <a:ext cx="703127" cy="719822"/>
            </a:xfrm>
            <a:prstGeom prst="rect">
              <a:avLst/>
            </a:prstGeom>
          </p:spPr>
        </p:pic>
        <p:pic>
          <p:nvPicPr>
            <p:cNvPr id="8" name="Graphic 7" descr="Target outline">
              <a:extLst>
                <a:ext uri="{FF2B5EF4-FFF2-40B4-BE49-F238E27FC236}">
                  <a16:creationId xmlns:a16="http://schemas.microsoft.com/office/drawing/2014/main" id="{53BB7D08-4825-7683-B967-25E206019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279041" y="444158"/>
              <a:ext cx="685801" cy="702084"/>
            </a:xfrm>
            <a:prstGeom prst="rect">
              <a:avLst/>
            </a:prstGeom>
          </p:spPr>
        </p:pic>
        <p:pic>
          <p:nvPicPr>
            <p:cNvPr id="9" name="Graphic 8" descr="Clipboard Mixed outline">
              <a:extLst>
                <a:ext uri="{FF2B5EF4-FFF2-40B4-BE49-F238E27FC236}">
                  <a16:creationId xmlns:a16="http://schemas.microsoft.com/office/drawing/2014/main" id="{84E1984A-ECD9-CFEB-9E45-D7F927621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26108" y="439279"/>
              <a:ext cx="685801" cy="702084"/>
            </a:xfrm>
            <a:prstGeom prst="rect">
              <a:avLst/>
            </a:prstGeom>
          </p:spPr>
        </p:pic>
        <p:pic>
          <p:nvPicPr>
            <p:cNvPr id="10" name="Graphic 9" descr="Gears outline">
              <a:extLst>
                <a:ext uri="{FF2B5EF4-FFF2-40B4-BE49-F238E27FC236}">
                  <a16:creationId xmlns:a16="http://schemas.microsoft.com/office/drawing/2014/main" id="{00919051-AAAF-82B8-F3E7-AE64C045E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611893" y="418528"/>
              <a:ext cx="685800" cy="702083"/>
            </a:xfrm>
            <a:prstGeom prst="rect">
              <a:avLst/>
            </a:prstGeom>
          </p:spPr>
        </p:pic>
        <p:pic>
          <p:nvPicPr>
            <p:cNvPr id="12" name="Graphic 11" descr="Bar graph with upward trend outline">
              <a:extLst>
                <a:ext uri="{FF2B5EF4-FFF2-40B4-BE49-F238E27FC236}">
                  <a16:creationId xmlns:a16="http://schemas.microsoft.com/office/drawing/2014/main" id="{41E21D11-49BF-5FDF-4219-45BEDC3E9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9940" y="454829"/>
              <a:ext cx="629051" cy="643987"/>
            </a:xfrm>
            <a:prstGeom prst="rect">
              <a:avLst/>
            </a:prstGeom>
          </p:spPr>
        </p:pic>
        <p:pic>
          <p:nvPicPr>
            <p:cNvPr id="13" name="Graphic 12" descr="Classroom outline">
              <a:extLst>
                <a:ext uri="{FF2B5EF4-FFF2-40B4-BE49-F238E27FC236}">
                  <a16:creationId xmlns:a16="http://schemas.microsoft.com/office/drawing/2014/main" id="{9D78B460-F241-21A8-14D0-6948F2702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90603" y="431225"/>
              <a:ext cx="703127" cy="719821"/>
            </a:xfrm>
            <a:prstGeom prst="rect">
              <a:avLst/>
            </a:prstGeom>
          </p:spPr>
        </p:pic>
        <p:pic>
          <p:nvPicPr>
            <p:cNvPr id="16" name="Graphic 15" descr="Question Mark outline">
              <a:extLst>
                <a:ext uri="{FF2B5EF4-FFF2-40B4-BE49-F238E27FC236}">
                  <a16:creationId xmlns:a16="http://schemas.microsoft.com/office/drawing/2014/main" id="{9579DE15-DA38-9CC1-BA76-46CCF86E3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058791" y="444158"/>
              <a:ext cx="685800" cy="685800"/>
            </a:xfrm>
            <a:prstGeom prst="rect">
              <a:avLst/>
            </a:prstGeom>
          </p:spPr>
        </p:pic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36D7445D-1047-E270-7EFD-DC055BCDB3C7}"/>
              </a:ext>
            </a:extLst>
          </p:cNvPr>
          <p:cNvSpPr/>
          <p:nvPr/>
        </p:nvSpPr>
        <p:spPr>
          <a:xfrm>
            <a:off x="1635307" y="5936953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AE2CCB-61A8-E7DE-D1BA-DFB4C3682454}"/>
              </a:ext>
            </a:extLst>
          </p:cNvPr>
          <p:cNvSpPr txBox="1"/>
          <p:nvPr/>
        </p:nvSpPr>
        <p:spPr>
          <a:xfrm>
            <a:off x="421339" y="2020685"/>
            <a:ext cx="11562843" cy="270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Identify key behavioral and structural changes during the mission</a:t>
            </a:r>
          </a:p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Ensure a good handover to avoid recurrent patterns (ex: documentation)</a:t>
            </a:r>
          </a:p>
          <a:p>
            <a:pPr marL="381019" indent="-381019" defTabSz="60963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Include lessons into existing routines  (ex: reusable templates, checklists)</a:t>
            </a:r>
          </a:p>
        </p:txBody>
      </p:sp>
      <p:sp>
        <p:nvSpPr>
          <p:cNvPr id="41" name="Isosceles Triangle 39">
            <a:extLst>
              <a:ext uri="{FF2B5EF4-FFF2-40B4-BE49-F238E27FC236}">
                <a16:creationId xmlns:a16="http://schemas.microsoft.com/office/drawing/2014/main" id="{42075ABA-DF64-EE67-887C-499823BF29DD}"/>
              </a:ext>
            </a:extLst>
          </p:cNvPr>
          <p:cNvSpPr/>
          <p:nvPr/>
        </p:nvSpPr>
        <p:spPr>
          <a:xfrm rot="10800000">
            <a:off x="11461009" y="36576"/>
            <a:ext cx="280416" cy="21945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4A01516-E1D1-EB76-D15B-D3A72DC458D9}"/>
              </a:ext>
            </a:extLst>
          </p:cNvPr>
          <p:cNvSpPr txBox="1">
            <a:spLocks/>
          </p:cNvSpPr>
          <p:nvPr/>
        </p:nvSpPr>
        <p:spPr>
          <a:xfrm>
            <a:off x="317203" y="676593"/>
            <a:ext cx="6546739" cy="716299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2933">
                <a:solidFill>
                  <a:prstClr val="black"/>
                </a:solidFill>
              </a:rPr>
              <a:t>Step 8: Capture Lessons Learned  </a:t>
            </a:r>
            <a:endParaRPr lang="en-BE" sz="2933">
              <a:solidFill>
                <a:prstClr val="black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325184-815C-5D51-6C90-654857FAE337}"/>
              </a:ext>
            </a:extLst>
          </p:cNvPr>
          <p:cNvGrpSpPr/>
          <p:nvPr/>
        </p:nvGrpSpPr>
        <p:grpSpPr>
          <a:xfrm>
            <a:off x="-80819" y="-44236"/>
            <a:ext cx="2932876" cy="617260"/>
            <a:chOff x="-121228" y="-66354"/>
            <a:chExt cx="2218895" cy="85577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D140708-AD5D-5307-36C4-42371F863202}"/>
                </a:ext>
              </a:extLst>
            </p:cNvPr>
            <p:cNvSpPr/>
            <p:nvPr/>
          </p:nvSpPr>
          <p:spPr>
            <a:xfrm flipH="1" flipV="1">
              <a:off x="-121228" y="-66354"/>
              <a:ext cx="2218895" cy="774635"/>
            </a:xfrm>
            <a:prstGeom prst="roundRect">
              <a:avLst/>
            </a:prstGeom>
            <a:solidFill>
              <a:srgbClr val="E6D5CA"/>
            </a:solidFill>
            <a:ln>
              <a:solidFill>
                <a:srgbClr val="E6D5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BE" sz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" name="Text Placeholder 11">
              <a:extLst>
                <a:ext uri="{FF2B5EF4-FFF2-40B4-BE49-F238E27FC236}">
                  <a16:creationId xmlns:a16="http://schemas.microsoft.com/office/drawing/2014/main" id="{BEFF6243-503F-0715-3240-59E5ECD6D017}"/>
                </a:ext>
              </a:extLst>
            </p:cNvPr>
            <p:cNvSpPr txBox="1">
              <a:spLocks/>
            </p:cNvSpPr>
            <p:nvPr/>
          </p:nvSpPr>
          <p:spPr>
            <a:xfrm>
              <a:off x="91932" y="14784"/>
              <a:ext cx="1911056" cy="774633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5000" kern="1200">
                  <a:solidFill>
                    <a:schemeClr val="tx1"/>
                  </a:solidFill>
                  <a:latin typeface="Alata" panose="020B060402020202020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2400">
                  <a:solidFill>
                    <a:prstClr val="black"/>
                  </a:solidFill>
                </a:rPr>
                <a:t>Best Practices</a:t>
              </a:r>
              <a:endParaRPr lang="en-BE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31188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B644-F5EB-0295-431D-C0CAF673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A50D00-1DD4-FC92-AFF1-B0D0DDB086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4400" y="5257800"/>
            <a:ext cx="3996267" cy="1225550"/>
          </a:xfrm>
        </p:spPr>
        <p:txBody>
          <a:bodyPr/>
          <a:lstStyle/>
          <a:p>
            <a:r>
              <a:rPr lang="en-US"/>
              <a:t>Best Practices tools to print 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02262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FB076E-7D9E-689D-99B4-A191AC66B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564" y="179520"/>
            <a:ext cx="4988560" cy="55880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ISolv Methodology – 8 Steps </a:t>
            </a:r>
            <a:endParaRPr lang="en-B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F3CA74-8298-B069-1837-3CAFD3F47B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49620" y="4517273"/>
            <a:ext cx="1785181" cy="664532"/>
          </a:xfrm>
        </p:spPr>
        <p:txBody>
          <a:bodyPr vert="horz" lIns="60960" tIns="30480" rIns="60960" bIns="30480" rtlCol="0">
            <a:noAutofit/>
          </a:bodyPr>
          <a:lstStyle/>
          <a:p>
            <a:pPr algn="ctr"/>
            <a:r>
              <a:rPr lang="en-US" sz="1733"/>
              <a:t>8. Capture lessons learned  </a:t>
            </a:r>
            <a:endParaRPr lang="en-BE" sz="1733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CBFDDD0-8FC8-E35A-303C-42EE8BC9D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7052" y="6469563"/>
            <a:ext cx="331760" cy="365125"/>
          </a:xfrm>
        </p:spPr>
        <p:txBody>
          <a:bodyPr/>
          <a:lstStyle/>
          <a:p>
            <a:pPr defTabSz="609630"/>
            <a:fld id="{CB2999FF-0F40-44FC-9B73-2C43F4CF90D2}" type="slidenum">
              <a:rPr lang="en-BE">
                <a:solidFill>
                  <a:sysClr val="windowText" lastClr="000000"/>
                </a:solidFill>
                <a:latin typeface="Calibri" panose="020F0502020204030204"/>
              </a:rPr>
              <a:pPr defTabSz="609630"/>
              <a:t>47</a:t>
            </a:fld>
            <a:endParaRPr lang="en-BE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84" name="Text Placeholder 13">
            <a:extLst>
              <a:ext uri="{FF2B5EF4-FFF2-40B4-BE49-F238E27FC236}">
                <a16:creationId xmlns:a16="http://schemas.microsoft.com/office/drawing/2014/main" id="{7A34E44D-D7D5-A134-B8F5-02A5DBD7FB96}"/>
              </a:ext>
            </a:extLst>
          </p:cNvPr>
          <p:cNvSpPr txBox="1">
            <a:spLocks/>
          </p:cNvSpPr>
          <p:nvPr/>
        </p:nvSpPr>
        <p:spPr>
          <a:xfrm>
            <a:off x="175317" y="4639124"/>
            <a:ext cx="1592672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1. Clarify the problem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85" name="Text Placeholder 13">
            <a:extLst>
              <a:ext uri="{FF2B5EF4-FFF2-40B4-BE49-F238E27FC236}">
                <a16:creationId xmlns:a16="http://schemas.microsoft.com/office/drawing/2014/main" id="{3D756A1A-F1F7-625B-017C-B494A9474EBB}"/>
              </a:ext>
            </a:extLst>
          </p:cNvPr>
          <p:cNvSpPr txBox="1">
            <a:spLocks/>
          </p:cNvSpPr>
          <p:nvPr/>
        </p:nvSpPr>
        <p:spPr>
          <a:xfrm>
            <a:off x="8241563" y="2107812"/>
            <a:ext cx="1719301" cy="434745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733">
                <a:solidFill>
                  <a:prstClr val="black"/>
                </a:solidFill>
              </a:rPr>
              <a:t>6. Implement  </a:t>
            </a:r>
            <a:endParaRPr lang="en-BE" sz="1733">
              <a:solidFill>
                <a:prstClr val="black"/>
              </a:solidFill>
            </a:endParaRPr>
          </a:p>
        </p:txBody>
      </p:sp>
      <p:sp>
        <p:nvSpPr>
          <p:cNvPr id="86" name="Text Placeholder 13">
            <a:extLst>
              <a:ext uri="{FF2B5EF4-FFF2-40B4-BE49-F238E27FC236}">
                <a16:creationId xmlns:a16="http://schemas.microsoft.com/office/drawing/2014/main" id="{3EB023BD-57C8-0A05-E9F7-ABC43551EFD0}"/>
              </a:ext>
            </a:extLst>
          </p:cNvPr>
          <p:cNvSpPr txBox="1">
            <a:spLocks/>
          </p:cNvSpPr>
          <p:nvPr/>
        </p:nvSpPr>
        <p:spPr>
          <a:xfrm>
            <a:off x="9383759" y="3090686"/>
            <a:ext cx="1217065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733">
                <a:solidFill>
                  <a:prstClr val="black"/>
                </a:solidFill>
              </a:rPr>
              <a:t>7. Monitor progress</a:t>
            </a:r>
            <a:endParaRPr lang="en-BE" sz="1733">
              <a:solidFill>
                <a:prstClr val="black"/>
              </a:solidFill>
            </a:endParaRPr>
          </a:p>
        </p:txBody>
      </p:sp>
      <p:sp>
        <p:nvSpPr>
          <p:cNvPr id="87" name="Text Placeholder 13">
            <a:extLst>
              <a:ext uri="{FF2B5EF4-FFF2-40B4-BE49-F238E27FC236}">
                <a16:creationId xmlns:a16="http://schemas.microsoft.com/office/drawing/2014/main" id="{6025283D-565C-8450-8D9C-66071844B860}"/>
              </a:ext>
            </a:extLst>
          </p:cNvPr>
          <p:cNvSpPr txBox="1">
            <a:spLocks/>
          </p:cNvSpPr>
          <p:nvPr/>
        </p:nvSpPr>
        <p:spPr>
          <a:xfrm>
            <a:off x="6727504" y="953707"/>
            <a:ext cx="1927215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5. Develop countermeasures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88" name="Text Placeholder 13">
            <a:extLst>
              <a:ext uri="{FF2B5EF4-FFF2-40B4-BE49-F238E27FC236}">
                <a16:creationId xmlns:a16="http://schemas.microsoft.com/office/drawing/2014/main" id="{BDEA5A77-766E-A238-D74D-F60A0C7C40B2}"/>
              </a:ext>
            </a:extLst>
          </p:cNvPr>
          <p:cNvSpPr txBox="1">
            <a:spLocks/>
          </p:cNvSpPr>
          <p:nvPr/>
        </p:nvSpPr>
        <p:spPr>
          <a:xfrm>
            <a:off x="2018613" y="1986883"/>
            <a:ext cx="1236651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3. Set the target  </a:t>
            </a:r>
            <a:endParaRPr lang="en-BE" sz="1867">
              <a:solidFill>
                <a:prstClr val="black"/>
              </a:solidFill>
            </a:endParaRPr>
          </a:p>
        </p:txBody>
      </p:sp>
      <p:sp>
        <p:nvSpPr>
          <p:cNvPr id="90" name="Text Placeholder 13">
            <a:extLst>
              <a:ext uri="{FF2B5EF4-FFF2-40B4-BE49-F238E27FC236}">
                <a16:creationId xmlns:a16="http://schemas.microsoft.com/office/drawing/2014/main" id="{EA5A3C18-C6A3-FDC2-845F-1D56A73F547A}"/>
              </a:ext>
            </a:extLst>
          </p:cNvPr>
          <p:cNvSpPr txBox="1">
            <a:spLocks/>
          </p:cNvSpPr>
          <p:nvPr/>
        </p:nvSpPr>
        <p:spPr>
          <a:xfrm>
            <a:off x="731520" y="3126586"/>
            <a:ext cx="1467829" cy="66453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latin typeface="Alata" panose="020B060402020202020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defTabSz="609630">
              <a:spcBef>
                <a:spcPts val="667"/>
              </a:spcBef>
            </a:pPr>
            <a:r>
              <a:rPr lang="en-US" sz="1867">
                <a:solidFill>
                  <a:prstClr val="black"/>
                </a:solidFill>
              </a:rPr>
              <a:t>2. Break of the problem </a:t>
            </a:r>
            <a:endParaRPr lang="en-BE" sz="1867">
              <a:solidFill>
                <a:prstClr val="black"/>
              </a:solidFill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A65AE34-72D0-446E-AED0-94E13CE66594}"/>
              </a:ext>
            </a:extLst>
          </p:cNvPr>
          <p:cNvGrpSpPr/>
          <p:nvPr/>
        </p:nvGrpSpPr>
        <p:grpSpPr>
          <a:xfrm>
            <a:off x="1652137" y="1048512"/>
            <a:ext cx="8327253" cy="7187183"/>
            <a:chOff x="3056616" y="1998217"/>
            <a:chExt cx="11848968" cy="9989566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8C7979E7-7DB4-ED29-A1AD-183F61CA3257}"/>
                </a:ext>
              </a:extLst>
            </p:cNvPr>
            <p:cNvGrpSpPr/>
            <p:nvPr/>
          </p:nvGrpSpPr>
          <p:grpSpPr>
            <a:xfrm>
              <a:off x="3056616" y="2403019"/>
              <a:ext cx="11848968" cy="9584764"/>
              <a:chOff x="3056616" y="2403019"/>
              <a:chExt cx="11848968" cy="9584764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821CF72F-5AA8-D9D1-DD6C-2B3F52315F0B}"/>
                  </a:ext>
                </a:extLst>
              </p:cNvPr>
              <p:cNvGrpSpPr/>
              <p:nvPr/>
            </p:nvGrpSpPr>
            <p:grpSpPr>
              <a:xfrm>
                <a:off x="3056616" y="2403019"/>
                <a:ext cx="11848968" cy="9584764"/>
                <a:chOff x="3056616" y="4130219"/>
                <a:chExt cx="11848968" cy="9584764"/>
              </a:xfrm>
            </p:grpSpPr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42022113-EAED-55F1-8525-76A440789BAF}"/>
                    </a:ext>
                  </a:extLst>
                </p:cNvPr>
                <p:cNvGrpSpPr/>
                <p:nvPr/>
              </p:nvGrpSpPr>
              <p:grpSpPr>
                <a:xfrm>
                  <a:off x="3056616" y="4130219"/>
                  <a:ext cx="11848968" cy="9584764"/>
                  <a:chOff x="3056616" y="2403019"/>
                  <a:chExt cx="11848968" cy="9584764"/>
                </a:xfrm>
              </p:grpSpPr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CCB0F57A-228B-7A1D-E816-192AD65F2C63}"/>
                      </a:ext>
                    </a:extLst>
                  </p:cNvPr>
                  <p:cNvGrpSpPr/>
                  <p:nvPr/>
                </p:nvGrpSpPr>
                <p:grpSpPr>
                  <a:xfrm>
                    <a:off x="3056616" y="2403019"/>
                    <a:ext cx="11848968" cy="9584764"/>
                    <a:chOff x="3056616" y="2403019"/>
                    <a:chExt cx="11848968" cy="9584764"/>
                  </a:xfrm>
                </p:grpSpPr>
                <p:grpSp>
                  <p:nvGrpSpPr>
                    <p:cNvPr id="182" name="Group 181">
                      <a:extLst>
                        <a:ext uri="{FF2B5EF4-FFF2-40B4-BE49-F238E27FC236}">
                          <a16:creationId xmlns:a16="http://schemas.microsoft.com/office/drawing/2014/main" id="{D629A3E4-6177-DE19-AC07-9672AF5857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56616" y="2403019"/>
                      <a:ext cx="11848968" cy="9584764"/>
                      <a:chOff x="3056616" y="2403019"/>
                      <a:chExt cx="11848968" cy="9584764"/>
                    </a:xfrm>
                  </p:grpSpPr>
                  <p:grpSp>
                    <p:nvGrpSpPr>
                      <p:cNvPr id="181" name="Group 180">
                        <a:extLst>
                          <a:ext uri="{FF2B5EF4-FFF2-40B4-BE49-F238E27FC236}">
                            <a16:creationId xmlns:a16="http://schemas.microsoft.com/office/drawing/2014/main" id="{04FB7E67-42C6-363C-0B88-0B42C88752E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56616" y="2403019"/>
                        <a:ext cx="11848968" cy="9584764"/>
                        <a:chOff x="3056616" y="2403019"/>
                        <a:chExt cx="11848968" cy="9584764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96452CD0-6D40-83ED-6A6A-9CDE47EB990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056616" y="2403019"/>
                          <a:ext cx="11848968" cy="9584764"/>
                          <a:chOff x="3056616" y="2403019"/>
                          <a:chExt cx="11848968" cy="9584764"/>
                        </a:xfrm>
                      </p:grpSpPr>
                      <p:sp>
                        <p:nvSpPr>
                          <p:cNvPr id="73" name="Oval 72">
                            <a:extLst>
                              <a:ext uri="{FF2B5EF4-FFF2-40B4-BE49-F238E27FC236}">
                                <a16:creationId xmlns:a16="http://schemas.microsoft.com/office/drawing/2014/main" id="{97ED31F5-A776-C5AE-AB0F-C7EC849229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3254228" y="6547697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8" name="Oval 77">
                            <a:extLst>
                              <a:ext uri="{FF2B5EF4-FFF2-40B4-BE49-F238E27FC236}">
                                <a16:creationId xmlns:a16="http://schemas.microsoft.com/office/drawing/2014/main" id="{E812344D-A0D6-CC82-7582-6FB1B81AA7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467050" y="4693845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6" name="Oval 75">
                            <a:extLst>
                              <a:ext uri="{FF2B5EF4-FFF2-40B4-BE49-F238E27FC236}">
                                <a16:creationId xmlns:a16="http://schemas.microsoft.com/office/drawing/2014/main" id="{959BA6AB-0C91-01F5-15C1-56BEE4FDDE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67021" y="3181492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9" name="Oval 78">
                            <a:extLst>
                              <a:ext uri="{FF2B5EF4-FFF2-40B4-BE49-F238E27FC236}">
                                <a16:creationId xmlns:a16="http://schemas.microsoft.com/office/drawing/2014/main" id="{B1A92234-30A0-B597-9F7E-DB7D0FE049D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084440" y="2403019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67" name="Oval 66">
                            <a:extLst>
                              <a:ext uri="{FF2B5EF4-FFF2-40B4-BE49-F238E27FC236}">
                                <a16:creationId xmlns:a16="http://schemas.microsoft.com/office/drawing/2014/main" id="{D247A486-5F91-7C51-553A-15CEDAF5E29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753942" y="4745254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4" name="Oval 73">
                            <a:extLst>
                              <a:ext uri="{FF2B5EF4-FFF2-40B4-BE49-F238E27FC236}">
                                <a16:creationId xmlns:a16="http://schemas.microsoft.com/office/drawing/2014/main" id="{331DB396-990C-5450-A94C-388F481867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056616" y="6547698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77" name="Oval 76">
                            <a:extLst>
                              <a:ext uri="{FF2B5EF4-FFF2-40B4-BE49-F238E27FC236}">
                                <a16:creationId xmlns:a16="http://schemas.microsoft.com/office/drawing/2014/main" id="{AC3C3F6B-E561-0CC4-042A-37575B864A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46125" y="3262818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sp>
                        <p:nvSpPr>
                          <p:cNvPr id="80" name="Oval 79">
                            <a:extLst>
                              <a:ext uri="{FF2B5EF4-FFF2-40B4-BE49-F238E27FC236}">
                                <a16:creationId xmlns:a16="http://schemas.microsoft.com/office/drawing/2014/main" id="{93250C7E-8194-6FDD-C0B0-6F66087D14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028706" y="2428419"/>
                            <a:ext cx="1651356" cy="1617997"/>
                          </a:xfrm>
                          <a:prstGeom prst="ellipse">
                            <a:avLst/>
                          </a:prstGeom>
                          <a:solidFill>
                            <a:srgbClr val="E6D5CA"/>
                          </a:solidFill>
                          <a:ln>
                            <a:noFill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3">
                            <a:schemeClr val="accent1"/>
                          </a:fillRef>
                          <a:effectRef idx="2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 defTabSz="609630"/>
                            <a:endParaRPr sz="1200">
                              <a:solidFill>
                                <a:prstClr val="white"/>
                              </a:solidFill>
                              <a:latin typeface="Calibri" panose="020F0502020204030204"/>
                            </a:endParaRPr>
                          </a:p>
                        </p:txBody>
                      </p:sp>
                      <p:grpSp>
                        <p:nvGrpSpPr>
                          <p:cNvPr id="93" name="Group 92">
                            <a:extLst>
                              <a:ext uri="{FF2B5EF4-FFF2-40B4-BE49-F238E27FC236}">
                                <a16:creationId xmlns:a16="http://schemas.microsoft.com/office/drawing/2014/main" id="{51AFD6F2-224C-8FAE-EAD7-1E88FD5590B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914900" y="4348974"/>
                            <a:ext cx="8142732" cy="7638809"/>
                            <a:chOff x="4914900" y="4204740"/>
                            <a:chExt cx="8142732" cy="7783044"/>
                          </a:xfrm>
                        </p:grpSpPr>
                        <p:sp>
                          <p:nvSpPr>
                            <p:cNvPr id="75" name="Oval 74">
                              <a:extLst>
                                <a:ext uri="{FF2B5EF4-FFF2-40B4-BE49-F238E27FC236}">
                                  <a16:creationId xmlns:a16="http://schemas.microsoft.com/office/drawing/2014/main" id="{9FB7E311-F7AC-AAEB-5512-3E0C90ADA0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14900" y="4204740"/>
                              <a:ext cx="8132400" cy="7770853"/>
                            </a:xfrm>
                            <a:prstGeom prst="ellipse">
                              <a:avLst/>
                            </a:prstGeom>
                            <a:solidFill>
                              <a:srgbClr val="E6D5CA"/>
                            </a:solidFill>
                            <a:ln>
                              <a:noFill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3">
                              <a:schemeClr val="accent1"/>
                            </a:fillRef>
                            <a:effectRef idx="2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sz="1200">
                                <a:solidFill>
                                  <a:prstClr val="white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82" name="Rectangle 81">
                              <a:extLst>
                                <a:ext uri="{FF2B5EF4-FFF2-40B4-BE49-F238E27FC236}">
                                  <a16:creationId xmlns:a16="http://schemas.microsoft.com/office/drawing/2014/main" id="{C1813BDA-87CB-F89E-FCF0-F4BD502EBC8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14900" y="7878429"/>
                              <a:ext cx="8142732" cy="4109355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solidFill>
                                <a:schemeClr val="bg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white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83" name="Rectangle: Rounded Corners 82">
                              <a:extLst>
                                <a:ext uri="{FF2B5EF4-FFF2-40B4-BE49-F238E27FC236}">
                                  <a16:creationId xmlns:a16="http://schemas.microsoft.com/office/drawing/2014/main" id="{C7DAAD29-A20C-3886-2A5F-134CCA4E37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23116" y="7718552"/>
                              <a:ext cx="8124183" cy="304800"/>
                            </a:xfrm>
                            <a:prstGeom prst="roundRect">
                              <a:avLst/>
                            </a:prstGeom>
                            <a:solidFill>
                              <a:srgbClr val="E6D5CA"/>
                            </a:solidFill>
                            <a:ln>
                              <a:noFill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3">
                              <a:schemeClr val="accent1"/>
                            </a:fillRef>
                            <a:effectRef idx="2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white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</p:grpSp>
                      <p:pic>
                        <p:nvPicPr>
                          <p:cNvPr id="95" name="Graphic 94" descr="Information outline">
                            <a:extLst>
                              <a:ext uri="{FF2B5EF4-FFF2-40B4-BE49-F238E27FC236}">
                                <a16:creationId xmlns:a16="http://schemas.microsoft.com/office/drawing/2014/main" id="{74B291A8-901A-89D8-2340-DB99B3CAAF2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96DAC541-7B7A-43D3-8B79-37D633B846F1}">
                                <asvg:svgBlip xmlns:asvg="http://schemas.microsoft.com/office/drawing/2016/SVG/main" r:embed="rId4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383895" y="6858297"/>
                            <a:ext cx="996798" cy="996798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01" name="Graphic 100" descr="Clipboard Mixed outline">
                            <a:extLst>
                              <a:ext uri="{FF2B5EF4-FFF2-40B4-BE49-F238E27FC236}">
                                <a16:creationId xmlns:a16="http://schemas.microsoft.com/office/drawing/2014/main" id="{E8BF89A2-9004-EF60-BAFA-6D31B486A4E0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96DAC541-7B7A-43D3-8B79-37D633B846F1}">
                                <asvg:svgBlip xmlns:asvg="http://schemas.microsoft.com/office/drawing/2016/SVG/main" r:embed="rId6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405595" y="2707494"/>
                            <a:ext cx="1009047" cy="1009047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03" name="Graphic 102" descr="Bar graph with upward trend outline">
                            <a:extLst>
                              <a:ext uri="{FF2B5EF4-FFF2-40B4-BE49-F238E27FC236}">
                                <a16:creationId xmlns:a16="http://schemas.microsoft.com/office/drawing/2014/main" id="{F27B44E3-A999-64BA-AD3E-FAF101BF6CB1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96DAC541-7B7A-43D3-8B79-37D633B846F1}">
                                <asvg:svgBlip xmlns:asvg="http://schemas.microsoft.com/office/drawing/2016/SVG/main" r:embed="rId8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2804867" y="5014982"/>
                            <a:ext cx="975722" cy="975722"/>
                          </a:xfrm>
                          <a:prstGeom prst="rect">
                            <a:avLst/>
                          </a:prstGeom>
                        </p:spPr>
                      </p:pic>
                      <p:grpSp>
                        <p:nvGrpSpPr>
                          <p:cNvPr id="153" name="Group 152">
                            <a:extLst>
                              <a:ext uri="{FF2B5EF4-FFF2-40B4-BE49-F238E27FC236}">
                                <a16:creationId xmlns:a16="http://schemas.microsoft.com/office/drawing/2014/main" id="{0F771CA4-0E57-8068-D6FA-E94FB7CE75D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3804658">
                            <a:off x="8145269" y="2990860"/>
                            <a:ext cx="1471997" cy="2838586"/>
                            <a:chOff x="4658138" y="5228140"/>
                            <a:chExt cx="1471997" cy="2838586"/>
                          </a:xfrm>
                        </p:grpSpPr>
                        <p:sp>
                          <p:nvSpPr>
                            <p:cNvPr id="143" name="Arrow: Chevron 142">
                              <a:extLst>
                                <a:ext uri="{FF2B5EF4-FFF2-40B4-BE49-F238E27FC236}">
                                  <a16:creationId xmlns:a16="http://schemas.microsoft.com/office/drawing/2014/main" id="{19880C63-86A1-F754-CEEA-E4A05FF4FFB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676769">
                              <a:off x="4689802" y="7561438"/>
                              <a:ext cx="232483" cy="222430"/>
                            </a:xfrm>
                            <a:prstGeom prst="chevron">
                              <a:avLst/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grpSp>
                          <p:nvGrpSpPr>
                            <p:cNvPr id="151" name="Group 150">
                              <a:extLst>
                                <a:ext uri="{FF2B5EF4-FFF2-40B4-BE49-F238E27FC236}">
                                  <a16:creationId xmlns:a16="http://schemas.microsoft.com/office/drawing/2014/main" id="{06B53C41-3DBD-2964-3AC3-B19524B28A9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658138" y="5228140"/>
                              <a:ext cx="1471997" cy="2838586"/>
                              <a:chOff x="4658138" y="5228140"/>
                              <a:chExt cx="1471997" cy="2838586"/>
                            </a:xfrm>
                            <a:solidFill>
                              <a:schemeClr val="tx1"/>
                            </a:solidFill>
                          </p:grpSpPr>
                          <p:sp>
                            <p:nvSpPr>
                              <p:cNvPr id="113" name="Arrow: Chevron 112">
                                <a:extLst>
                                  <a:ext uri="{FF2B5EF4-FFF2-40B4-BE49-F238E27FC236}">
                                    <a16:creationId xmlns:a16="http://schemas.microsoft.com/office/drawing/2014/main" id="{CE29FDF1-2F5E-2E80-7E57-028F56EB9DF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6200000">
                                <a:off x="4653111" y="7839270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26" name="Arrow: Chevron 125">
                                <a:extLst>
                                  <a:ext uri="{FF2B5EF4-FFF2-40B4-BE49-F238E27FC236}">
                                    <a16:creationId xmlns:a16="http://schemas.microsoft.com/office/drawing/2014/main" id="{B7984D1B-6BDE-40C8-EFD9-48081D74EF2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7754660">
                                <a:off x="5164578" y="6198933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28" name="Arrow: Chevron 127">
                                <a:extLst>
                                  <a:ext uri="{FF2B5EF4-FFF2-40B4-BE49-F238E27FC236}">
                                    <a16:creationId xmlns:a16="http://schemas.microsoft.com/office/drawing/2014/main" id="{005A8BD9-FE5F-C554-0AB4-DC3B81D4FB8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7384498">
                                <a:off x="4913366" y="6731015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0" name="Arrow: Chevron 129">
                                <a:extLst>
                                  <a:ext uri="{FF2B5EF4-FFF2-40B4-BE49-F238E27FC236}">
                                    <a16:creationId xmlns:a16="http://schemas.microsoft.com/office/drawing/2014/main" id="{15F342E3-C29F-9896-7F9B-4C5614B877C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6939508">
                                <a:off x="4823441" y="7001921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3" name="Arrow: Chevron 132">
                                <a:extLst>
                                  <a:ext uri="{FF2B5EF4-FFF2-40B4-BE49-F238E27FC236}">
                                    <a16:creationId xmlns:a16="http://schemas.microsoft.com/office/drawing/2014/main" id="{A7B910ED-3451-7421-47AF-0937ABF326B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8262743">
                                <a:off x="5494608" y="5690575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4" name="Arrow: Chevron 133">
                                <a:extLst>
                                  <a:ext uri="{FF2B5EF4-FFF2-40B4-BE49-F238E27FC236}">
                                    <a16:creationId xmlns:a16="http://schemas.microsoft.com/office/drawing/2014/main" id="{7CC9E0AE-D386-6330-9011-B7691128D15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8060164">
                                <a:off x="5311422" y="5945466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5" name="Arrow: Chevron 134">
                                <a:extLst>
                                  <a:ext uri="{FF2B5EF4-FFF2-40B4-BE49-F238E27FC236}">
                                    <a16:creationId xmlns:a16="http://schemas.microsoft.com/office/drawing/2014/main" id="{4794AAA5-4A90-EFEC-8FB3-2957D71914E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7560543">
                                <a:off x="5030565" y="6460034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6" name="Arrow: Chevron 135">
                                <a:extLst>
                                  <a:ext uri="{FF2B5EF4-FFF2-40B4-BE49-F238E27FC236}">
                                    <a16:creationId xmlns:a16="http://schemas.microsoft.com/office/drawing/2014/main" id="{3DF01830-6AE3-19EF-1933-8321F27ED01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8529904">
                                <a:off x="5690590" y="5453623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8" name="Arrow: Chevron 137">
                                <a:extLst>
                                  <a:ext uri="{FF2B5EF4-FFF2-40B4-BE49-F238E27FC236}">
                                    <a16:creationId xmlns:a16="http://schemas.microsoft.com/office/drawing/2014/main" id="{C486AEC6-DC08-98B4-E387-E35AD44A4C2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8828231">
                                <a:off x="5902678" y="5233167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  <p:sp>
                            <p:nvSpPr>
                              <p:cNvPr id="157" name="Arrow: Chevron 156">
                                <a:extLst>
                                  <a:ext uri="{FF2B5EF4-FFF2-40B4-BE49-F238E27FC236}">
                                    <a16:creationId xmlns:a16="http://schemas.microsoft.com/office/drawing/2014/main" id="{A442D864-2023-10AA-9D9E-874F8D54BC8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6719446">
                                <a:off x="4743289" y="7274570"/>
                                <a:ext cx="232483" cy="222430"/>
                              </a:xfrm>
                              <a:prstGeom prst="chevron">
                                <a:avLst/>
                              </a:prstGeom>
                              <a:grp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 defTabSz="609630"/>
                                <a:endParaRPr lang="en-BE" sz="1200">
                                  <a:solidFill>
                                    <a:prstClr val="black"/>
                                  </a:solidFill>
                                  <a:latin typeface="Calibri" panose="020F0502020204030204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163" name="Group 162">
                            <a:extLst>
                              <a:ext uri="{FF2B5EF4-FFF2-40B4-BE49-F238E27FC236}">
                                <a16:creationId xmlns:a16="http://schemas.microsoft.com/office/drawing/2014/main" id="{B794C904-9E21-8A7C-142F-FF74F29F280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77486" y="4490796"/>
                            <a:ext cx="2385314" cy="3519543"/>
                            <a:chOff x="4764506" y="4490801"/>
                            <a:chExt cx="2398310" cy="3546294"/>
                          </a:xfrm>
                        </p:grpSpPr>
                        <p:sp>
                          <p:nvSpPr>
                            <p:cNvPr id="146" name="Arrow: Chevron 145">
                              <a:extLst>
                                <a:ext uri="{FF2B5EF4-FFF2-40B4-BE49-F238E27FC236}">
                                  <a16:creationId xmlns:a16="http://schemas.microsoft.com/office/drawing/2014/main" id="{312041E4-1E80-1825-37A7-47BBB69358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20410579">
                              <a:off x="6980483" y="4490801"/>
                              <a:ext cx="182333" cy="213831"/>
                            </a:xfrm>
                            <a:prstGeom prst="chevron">
                              <a:avLst>
                                <a:gd name="adj" fmla="val 72603"/>
                              </a:avLst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162" name="Freeform: Shape 161">
                              <a:extLst>
                                <a:ext uri="{FF2B5EF4-FFF2-40B4-BE49-F238E27FC236}">
                                  <a16:creationId xmlns:a16="http://schemas.microsoft.com/office/drawing/2014/main" id="{87B26AED-4BAB-AB3F-C58C-8F510E4346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64506" y="4578385"/>
                              <a:ext cx="2361691" cy="3458710"/>
                            </a:xfrm>
                            <a:custGeom>
                              <a:avLst/>
                              <a:gdLst>
                                <a:gd name="connsiteX0" fmla="*/ 0 w 2450957"/>
                                <a:gd name="connsiteY0" fmla="*/ 3576506 h 3576506"/>
                                <a:gd name="connsiteX1" fmla="*/ 64169 w 2450957"/>
                                <a:gd name="connsiteY1" fmla="*/ 2870653 h 3576506"/>
                                <a:gd name="connsiteX2" fmla="*/ 336884 w 2450957"/>
                                <a:gd name="connsiteY2" fmla="*/ 2036464 h 3576506"/>
                                <a:gd name="connsiteX3" fmla="*/ 770021 w 2450957"/>
                                <a:gd name="connsiteY3" fmla="*/ 1346653 h 3576506"/>
                                <a:gd name="connsiteX4" fmla="*/ 1331495 w 2450957"/>
                                <a:gd name="connsiteY4" fmla="*/ 737053 h 3576506"/>
                                <a:gd name="connsiteX5" fmla="*/ 2294021 w 2450957"/>
                                <a:gd name="connsiteY5" fmla="*/ 95369 h 3576506"/>
                                <a:gd name="connsiteX6" fmla="*/ 2438400 w 2450957"/>
                                <a:gd name="connsiteY6" fmla="*/ 15158 h 3576506"/>
                                <a:gd name="connsiteX0" fmla="*/ 0 w 2439353"/>
                                <a:gd name="connsiteY0" fmla="*/ 3562720 h 3562720"/>
                                <a:gd name="connsiteX1" fmla="*/ 64169 w 2439353"/>
                                <a:gd name="connsiteY1" fmla="*/ 2856867 h 3562720"/>
                                <a:gd name="connsiteX2" fmla="*/ 336884 w 2439353"/>
                                <a:gd name="connsiteY2" fmla="*/ 2022678 h 3562720"/>
                                <a:gd name="connsiteX3" fmla="*/ 770021 w 2439353"/>
                                <a:gd name="connsiteY3" fmla="*/ 1332867 h 3562720"/>
                                <a:gd name="connsiteX4" fmla="*/ 1331495 w 2439353"/>
                                <a:gd name="connsiteY4" fmla="*/ 723267 h 3562720"/>
                                <a:gd name="connsiteX5" fmla="*/ 1973179 w 2439353"/>
                                <a:gd name="connsiteY5" fmla="*/ 306172 h 3562720"/>
                                <a:gd name="connsiteX6" fmla="*/ 2438400 w 2439353"/>
                                <a:gd name="connsiteY6" fmla="*/ 1372 h 3562720"/>
                                <a:gd name="connsiteX0" fmla="*/ 0 w 2439353"/>
                                <a:gd name="connsiteY0" fmla="*/ 3562979 h 3562979"/>
                                <a:gd name="connsiteX1" fmla="*/ 64169 w 2439353"/>
                                <a:gd name="connsiteY1" fmla="*/ 2857126 h 3562979"/>
                                <a:gd name="connsiteX2" fmla="*/ 336884 w 2439353"/>
                                <a:gd name="connsiteY2" fmla="*/ 2022937 h 3562979"/>
                                <a:gd name="connsiteX3" fmla="*/ 770021 w 2439353"/>
                                <a:gd name="connsiteY3" fmla="*/ 1333126 h 3562979"/>
                                <a:gd name="connsiteX4" fmla="*/ 1331495 w 2439353"/>
                                <a:gd name="connsiteY4" fmla="*/ 723526 h 3562979"/>
                                <a:gd name="connsiteX5" fmla="*/ 1973179 w 2439353"/>
                                <a:gd name="connsiteY5" fmla="*/ 270989 h 3562979"/>
                                <a:gd name="connsiteX6" fmla="*/ 2438400 w 2439353"/>
                                <a:gd name="connsiteY6" fmla="*/ 1631 h 3562979"/>
                                <a:gd name="connsiteX0" fmla="*/ 0 w 2453490"/>
                                <a:gd name="connsiteY0" fmla="*/ 3520927 h 3520927"/>
                                <a:gd name="connsiteX1" fmla="*/ 64169 w 2453490"/>
                                <a:gd name="connsiteY1" fmla="*/ 2815074 h 3520927"/>
                                <a:gd name="connsiteX2" fmla="*/ 336884 w 2453490"/>
                                <a:gd name="connsiteY2" fmla="*/ 1980885 h 3520927"/>
                                <a:gd name="connsiteX3" fmla="*/ 770021 w 2453490"/>
                                <a:gd name="connsiteY3" fmla="*/ 1291074 h 3520927"/>
                                <a:gd name="connsiteX4" fmla="*/ 1331495 w 2453490"/>
                                <a:gd name="connsiteY4" fmla="*/ 681474 h 3520927"/>
                                <a:gd name="connsiteX5" fmla="*/ 1973179 w 2453490"/>
                                <a:gd name="connsiteY5" fmla="*/ 228937 h 3520927"/>
                                <a:gd name="connsiteX6" fmla="*/ 2452577 w 2453490"/>
                                <a:gd name="connsiteY6" fmla="*/ 2109 h 3520927"/>
                                <a:gd name="connsiteX0" fmla="*/ 0 w 2488843"/>
                                <a:gd name="connsiteY0" fmla="*/ 3527917 h 3527917"/>
                                <a:gd name="connsiteX1" fmla="*/ 64169 w 2488843"/>
                                <a:gd name="connsiteY1" fmla="*/ 2822064 h 3527917"/>
                                <a:gd name="connsiteX2" fmla="*/ 336884 w 2488843"/>
                                <a:gd name="connsiteY2" fmla="*/ 1987875 h 3527917"/>
                                <a:gd name="connsiteX3" fmla="*/ 770021 w 2488843"/>
                                <a:gd name="connsiteY3" fmla="*/ 1298064 h 3527917"/>
                                <a:gd name="connsiteX4" fmla="*/ 1331495 w 2488843"/>
                                <a:gd name="connsiteY4" fmla="*/ 688464 h 3527917"/>
                                <a:gd name="connsiteX5" fmla="*/ 1973179 w 2488843"/>
                                <a:gd name="connsiteY5" fmla="*/ 235927 h 3527917"/>
                                <a:gd name="connsiteX6" fmla="*/ 2488019 w 2488843"/>
                                <a:gd name="connsiteY6" fmla="*/ 2011 h 3527917"/>
                                <a:gd name="connsiteX0" fmla="*/ 0 w 2361691"/>
                                <a:gd name="connsiteY0" fmla="*/ 3458710 h 3458710"/>
                                <a:gd name="connsiteX1" fmla="*/ 64169 w 2361691"/>
                                <a:gd name="connsiteY1" fmla="*/ 2752857 h 3458710"/>
                                <a:gd name="connsiteX2" fmla="*/ 336884 w 2361691"/>
                                <a:gd name="connsiteY2" fmla="*/ 1918668 h 3458710"/>
                                <a:gd name="connsiteX3" fmla="*/ 770021 w 2361691"/>
                                <a:gd name="connsiteY3" fmla="*/ 1228857 h 3458710"/>
                                <a:gd name="connsiteX4" fmla="*/ 1331495 w 2361691"/>
                                <a:gd name="connsiteY4" fmla="*/ 619257 h 3458710"/>
                                <a:gd name="connsiteX5" fmla="*/ 1973179 w 2361691"/>
                                <a:gd name="connsiteY5" fmla="*/ 166720 h 3458710"/>
                                <a:gd name="connsiteX6" fmla="*/ 2360429 w 2361691"/>
                                <a:gd name="connsiteY6" fmla="*/ 3688 h 345871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2361691" h="3458710">
                                  <a:moveTo>
                                    <a:pt x="0" y="3458710"/>
                                  </a:moveTo>
                                  <a:cubicBezTo>
                                    <a:pt x="4011" y="3234120"/>
                                    <a:pt x="8022" y="3009531"/>
                                    <a:pt x="64169" y="2752857"/>
                                  </a:cubicBezTo>
                                  <a:cubicBezTo>
                                    <a:pt x="120316" y="2496183"/>
                                    <a:pt x="219242" y="2172668"/>
                                    <a:pt x="336884" y="1918668"/>
                                  </a:cubicBezTo>
                                  <a:cubicBezTo>
                                    <a:pt x="454526" y="1664668"/>
                                    <a:pt x="604253" y="1445425"/>
                                    <a:pt x="770021" y="1228857"/>
                                  </a:cubicBezTo>
                                  <a:cubicBezTo>
                                    <a:pt x="935789" y="1012289"/>
                                    <a:pt x="1130969" y="796280"/>
                                    <a:pt x="1331495" y="619257"/>
                                  </a:cubicBezTo>
                                  <a:cubicBezTo>
                                    <a:pt x="1532021" y="442234"/>
                                    <a:pt x="1788695" y="287036"/>
                                    <a:pt x="1973179" y="166720"/>
                                  </a:cubicBezTo>
                                  <a:cubicBezTo>
                                    <a:pt x="2157663" y="46404"/>
                                    <a:pt x="2380481" y="-16365"/>
                                    <a:pt x="2360429" y="3688"/>
                                  </a:cubicBezTo>
                                </a:path>
                              </a:pathLst>
                            </a:custGeom>
                            <a:ln w="19050" cap="flat" cmpd="sng" algn="ctr">
                              <a:solidFill>
                                <a:schemeClr val="dk1"/>
                              </a:solidFill>
                              <a:prstDash val="dash"/>
                              <a:round/>
                              <a:headEnd type="none" w="med" len="med"/>
                              <a:tailEnd type="none" w="med" len="med"/>
                            </a:ln>
                          </p:spPr>
                          <p:style>
                            <a:lnRef idx="0">
                              <a:scrgbClr r="0" g="0" b="0"/>
                            </a:lnRef>
                            <a:fillRef idx="0">
                              <a:scrgbClr r="0" g="0" b="0"/>
                            </a:fillRef>
                            <a:effectRef idx="0">
                              <a:scrgbClr r="0" g="0" b="0"/>
                            </a:effectRef>
                            <a:fontRef idx="minor">
                              <a:schemeClr val="tx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5" name="Text Placeholder 13">
                            <a:extLst>
                              <a:ext uri="{FF2B5EF4-FFF2-40B4-BE49-F238E27FC236}">
                                <a16:creationId xmlns:a16="http://schemas.microsoft.com/office/drawing/2014/main" id="{D3051C3D-D4E1-96C2-2862-E9FEBB67293B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>
                          <a:xfrm rot="18412859">
                            <a:off x="4997738" y="5972273"/>
                            <a:ext cx="4269478" cy="2064599"/>
                          </a:xfrm>
                          <a:prstGeom prst="rect">
                            <a:avLst/>
                          </a:prstGeom>
                        </p:spPr>
                        <p:txBody>
                          <a:bodyPr spcFirstLastPara="1" vert="horz" lIns="60960" tIns="30480" rIns="60960" bIns="30480" numCol="1" rtlCol="0">
                            <a:prstTxWarp prst="textArchUp">
                              <a:avLst/>
                            </a:prstTxWarp>
                            <a:normAutofit/>
                          </a:bodyPr>
                          <a:lstStyle>
                            <a:lvl1pPr marL="0" indent="0" algn="just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1000"/>
                              </a:spcBef>
                              <a:buFont typeface="Arial" panose="020B0604020202020204" pitchFamily="34" charset="0"/>
                              <a:buNone/>
                              <a:defRPr sz="2000" kern="1200">
                                <a:solidFill>
                                  <a:schemeClr val="tx1"/>
                                </a:solidFill>
                                <a:latin typeface="Alata" panose="020B0604020202020204" charset="0"/>
                                <a:ea typeface="+mn-ea"/>
                                <a:cs typeface="+mn-cs"/>
                              </a:defRPr>
                            </a:lvl1pPr>
                            <a:lvl2pPr marL="685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4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1143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0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600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20574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5146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971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429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886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600">
                                <a:solidFill>
                                  <a:prstClr val="black"/>
                                </a:solidFill>
                              </a:rPr>
                              <a:t>Phase 1: Mission Statement</a:t>
                            </a:r>
                          </a:p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200">
                                <a:solidFill>
                                  <a:prstClr val="black"/>
                                </a:solidFill>
                              </a:rPr>
                              <a:t>(within the first 6 weeks)  </a:t>
                            </a:r>
                            <a:endParaRPr lang="en-BE" sz="1200">
                              <a:solidFill>
                                <a:prstClr val="black"/>
                              </a:solidFill>
                            </a:endParaRPr>
                          </a:p>
                        </p:txBody>
                      </p:sp>
                      <p:grpSp>
                        <p:nvGrpSpPr>
                          <p:cNvPr id="173" name="Group 172">
                            <a:extLst>
                              <a:ext uri="{FF2B5EF4-FFF2-40B4-BE49-F238E27FC236}">
                                <a16:creationId xmlns:a16="http://schemas.microsoft.com/office/drawing/2014/main" id="{198F3E29-C35E-DF3B-9FD9-E6F650DECD6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6527588">
                            <a:off x="6778495" y="3019105"/>
                            <a:ext cx="5368975" cy="7908565"/>
                            <a:chOff x="4764506" y="4441954"/>
                            <a:chExt cx="5368975" cy="7908565"/>
                          </a:xfrm>
                        </p:grpSpPr>
                        <p:sp>
                          <p:nvSpPr>
                            <p:cNvPr id="174" name="Arrow: Chevron 173">
                              <a:extLst>
                                <a:ext uri="{FF2B5EF4-FFF2-40B4-BE49-F238E27FC236}">
                                  <a16:creationId xmlns:a16="http://schemas.microsoft.com/office/drawing/2014/main" id="{D052E4B9-EC1F-965E-453D-079547D396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20410579">
                              <a:off x="7084598" y="4441954"/>
                              <a:ext cx="182333" cy="213831"/>
                            </a:xfrm>
                            <a:prstGeom prst="chevron">
                              <a:avLst>
                                <a:gd name="adj" fmla="val 72603"/>
                              </a:avLst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175" name="Freeform: Shape 174">
                              <a:extLst>
                                <a:ext uri="{FF2B5EF4-FFF2-40B4-BE49-F238E27FC236}">
                                  <a16:creationId xmlns:a16="http://schemas.microsoft.com/office/drawing/2014/main" id="{C94C67B8-3BB4-614A-5C18-E26C8A64108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764506" y="4538873"/>
                              <a:ext cx="2467203" cy="3498223"/>
                            </a:xfrm>
                            <a:custGeom>
                              <a:avLst/>
                              <a:gdLst>
                                <a:gd name="connsiteX0" fmla="*/ 0 w 2450957"/>
                                <a:gd name="connsiteY0" fmla="*/ 3576506 h 3576506"/>
                                <a:gd name="connsiteX1" fmla="*/ 64169 w 2450957"/>
                                <a:gd name="connsiteY1" fmla="*/ 2870653 h 3576506"/>
                                <a:gd name="connsiteX2" fmla="*/ 336884 w 2450957"/>
                                <a:gd name="connsiteY2" fmla="*/ 2036464 h 3576506"/>
                                <a:gd name="connsiteX3" fmla="*/ 770021 w 2450957"/>
                                <a:gd name="connsiteY3" fmla="*/ 1346653 h 3576506"/>
                                <a:gd name="connsiteX4" fmla="*/ 1331495 w 2450957"/>
                                <a:gd name="connsiteY4" fmla="*/ 737053 h 3576506"/>
                                <a:gd name="connsiteX5" fmla="*/ 2294021 w 2450957"/>
                                <a:gd name="connsiteY5" fmla="*/ 95369 h 3576506"/>
                                <a:gd name="connsiteX6" fmla="*/ 2438400 w 2450957"/>
                                <a:gd name="connsiteY6" fmla="*/ 15158 h 3576506"/>
                                <a:gd name="connsiteX0" fmla="*/ 0 w 2439353"/>
                                <a:gd name="connsiteY0" fmla="*/ 3562720 h 3562720"/>
                                <a:gd name="connsiteX1" fmla="*/ 64169 w 2439353"/>
                                <a:gd name="connsiteY1" fmla="*/ 2856867 h 3562720"/>
                                <a:gd name="connsiteX2" fmla="*/ 336884 w 2439353"/>
                                <a:gd name="connsiteY2" fmla="*/ 2022678 h 3562720"/>
                                <a:gd name="connsiteX3" fmla="*/ 770021 w 2439353"/>
                                <a:gd name="connsiteY3" fmla="*/ 1332867 h 3562720"/>
                                <a:gd name="connsiteX4" fmla="*/ 1331495 w 2439353"/>
                                <a:gd name="connsiteY4" fmla="*/ 723267 h 3562720"/>
                                <a:gd name="connsiteX5" fmla="*/ 1973179 w 2439353"/>
                                <a:gd name="connsiteY5" fmla="*/ 306172 h 3562720"/>
                                <a:gd name="connsiteX6" fmla="*/ 2438400 w 2439353"/>
                                <a:gd name="connsiteY6" fmla="*/ 1372 h 3562720"/>
                                <a:gd name="connsiteX0" fmla="*/ 0 w 2439353"/>
                                <a:gd name="connsiteY0" fmla="*/ 3562979 h 3562979"/>
                                <a:gd name="connsiteX1" fmla="*/ 64169 w 2439353"/>
                                <a:gd name="connsiteY1" fmla="*/ 2857126 h 3562979"/>
                                <a:gd name="connsiteX2" fmla="*/ 336884 w 2439353"/>
                                <a:gd name="connsiteY2" fmla="*/ 2022937 h 3562979"/>
                                <a:gd name="connsiteX3" fmla="*/ 770021 w 2439353"/>
                                <a:gd name="connsiteY3" fmla="*/ 1333126 h 3562979"/>
                                <a:gd name="connsiteX4" fmla="*/ 1331495 w 2439353"/>
                                <a:gd name="connsiteY4" fmla="*/ 723526 h 3562979"/>
                                <a:gd name="connsiteX5" fmla="*/ 1973179 w 2439353"/>
                                <a:gd name="connsiteY5" fmla="*/ 270989 h 3562979"/>
                                <a:gd name="connsiteX6" fmla="*/ 2438400 w 2439353"/>
                                <a:gd name="connsiteY6" fmla="*/ 1631 h 3562979"/>
                                <a:gd name="connsiteX0" fmla="*/ 0 w 2453490"/>
                                <a:gd name="connsiteY0" fmla="*/ 3520927 h 3520927"/>
                                <a:gd name="connsiteX1" fmla="*/ 64169 w 2453490"/>
                                <a:gd name="connsiteY1" fmla="*/ 2815074 h 3520927"/>
                                <a:gd name="connsiteX2" fmla="*/ 336884 w 2453490"/>
                                <a:gd name="connsiteY2" fmla="*/ 1980885 h 3520927"/>
                                <a:gd name="connsiteX3" fmla="*/ 770021 w 2453490"/>
                                <a:gd name="connsiteY3" fmla="*/ 1291074 h 3520927"/>
                                <a:gd name="connsiteX4" fmla="*/ 1331495 w 2453490"/>
                                <a:gd name="connsiteY4" fmla="*/ 681474 h 3520927"/>
                                <a:gd name="connsiteX5" fmla="*/ 1973179 w 2453490"/>
                                <a:gd name="connsiteY5" fmla="*/ 228937 h 3520927"/>
                                <a:gd name="connsiteX6" fmla="*/ 2452577 w 2453490"/>
                                <a:gd name="connsiteY6" fmla="*/ 2109 h 3520927"/>
                                <a:gd name="connsiteX0" fmla="*/ 0 w 2488843"/>
                                <a:gd name="connsiteY0" fmla="*/ 3527917 h 3527917"/>
                                <a:gd name="connsiteX1" fmla="*/ 64169 w 2488843"/>
                                <a:gd name="connsiteY1" fmla="*/ 2822064 h 3527917"/>
                                <a:gd name="connsiteX2" fmla="*/ 336884 w 2488843"/>
                                <a:gd name="connsiteY2" fmla="*/ 1987875 h 3527917"/>
                                <a:gd name="connsiteX3" fmla="*/ 770021 w 2488843"/>
                                <a:gd name="connsiteY3" fmla="*/ 1298064 h 3527917"/>
                                <a:gd name="connsiteX4" fmla="*/ 1331495 w 2488843"/>
                                <a:gd name="connsiteY4" fmla="*/ 688464 h 3527917"/>
                                <a:gd name="connsiteX5" fmla="*/ 1973179 w 2488843"/>
                                <a:gd name="connsiteY5" fmla="*/ 235927 h 3527917"/>
                                <a:gd name="connsiteX6" fmla="*/ 2488019 w 2488843"/>
                                <a:gd name="connsiteY6" fmla="*/ 2011 h 3527917"/>
                                <a:gd name="connsiteX0" fmla="*/ 0 w 2361691"/>
                                <a:gd name="connsiteY0" fmla="*/ 3458710 h 3458710"/>
                                <a:gd name="connsiteX1" fmla="*/ 64169 w 2361691"/>
                                <a:gd name="connsiteY1" fmla="*/ 2752857 h 3458710"/>
                                <a:gd name="connsiteX2" fmla="*/ 336884 w 2361691"/>
                                <a:gd name="connsiteY2" fmla="*/ 1918668 h 3458710"/>
                                <a:gd name="connsiteX3" fmla="*/ 770021 w 2361691"/>
                                <a:gd name="connsiteY3" fmla="*/ 1228857 h 3458710"/>
                                <a:gd name="connsiteX4" fmla="*/ 1331495 w 2361691"/>
                                <a:gd name="connsiteY4" fmla="*/ 619257 h 3458710"/>
                                <a:gd name="connsiteX5" fmla="*/ 1973179 w 2361691"/>
                                <a:gd name="connsiteY5" fmla="*/ 166720 h 3458710"/>
                                <a:gd name="connsiteX6" fmla="*/ 2360429 w 2361691"/>
                                <a:gd name="connsiteY6" fmla="*/ 3688 h 345871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2361691" h="3458710">
                                  <a:moveTo>
                                    <a:pt x="0" y="3458710"/>
                                  </a:moveTo>
                                  <a:cubicBezTo>
                                    <a:pt x="4011" y="3234120"/>
                                    <a:pt x="8022" y="3009531"/>
                                    <a:pt x="64169" y="2752857"/>
                                  </a:cubicBezTo>
                                  <a:cubicBezTo>
                                    <a:pt x="120316" y="2496183"/>
                                    <a:pt x="219242" y="2172668"/>
                                    <a:pt x="336884" y="1918668"/>
                                  </a:cubicBezTo>
                                  <a:cubicBezTo>
                                    <a:pt x="454526" y="1664668"/>
                                    <a:pt x="604253" y="1445425"/>
                                    <a:pt x="770021" y="1228857"/>
                                  </a:cubicBezTo>
                                  <a:cubicBezTo>
                                    <a:pt x="935789" y="1012289"/>
                                    <a:pt x="1130969" y="796280"/>
                                    <a:pt x="1331495" y="619257"/>
                                  </a:cubicBezTo>
                                  <a:cubicBezTo>
                                    <a:pt x="1532021" y="442234"/>
                                    <a:pt x="1788695" y="287036"/>
                                    <a:pt x="1973179" y="166720"/>
                                  </a:cubicBezTo>
                                  <a:cubicBezTo>
                                    <a:pt x="2157663" y="46404"/>
                                    <a:pt x="2380481" y="-16365"/>
                                    <a:pt x="2360429" y="3688"/>
                                  </a:cubicBezTo>
                                </a:path>
                              </a:pathLst>
                            </a:custGeom>
                            <a:ln w="28575">
                              <a:headEnd type="none" w="med" len="med"/>
                              <a:tailEnd type="none" w="med" len="med"/>
                            </a:ln>
                          </p:spPr>
                          <p:style>
                            <a:lnRef idx="3">
                              <a:schemeClr val="dk1"/>
                            </a:lnRef>
                            <a:fillRef idx="0">
                              <a:schemeClr val="dk1"/>
                            </a:fillRef>
                            <a:effectRef idx="2">
                              <a:schemeClr val="dk1"/>
                            </a:effectRef>
                            <a:fontRef idx="minor">
                              <a:schemeClr val="tx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  <p:sp>
                          <p:nvSpPr>
                            <p:cNvPr id="193" name="Arrow: Chevron 192">
                              <a:extLst>
                                <a:ext uri="{FF2B5EF4-FFF2-40B4-BE49-F238E27FC236}">
                                  <a16:creationId xmlns:a16="http://schemas.microsoft.com/office/drawing/2014/main" id="{2E8B175F-A134-A2E1-7422-9535B934FDC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4272412">
                              <a:off x="9935399" y="12152437"/>
                              <a:ext cx="182333" cy="213831"/>
                            </a:xfrm>
                            <a:prstGeom prst="chevron">
                              <a:avLst>
                                <a:gd name="adj" fmla="val 72603"/>
                              </a:avLst>
                            </a:prstGeom>
                            <a:solidFill>
                              <a:schemeClr val="tx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 defTabSz="609630"/>
                              <a:endParaRPr lang="en-BE" sz="1200">
                                <a:solidFill>
                                  <a:prstClr val="black"/>
                                </a:solidFill>
                                <a:latin typeface="Calibri" panose="020F050202020403020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8" name="Text Placeholder 13">
                            <a:extLst>
                              <a:ext uri="{FF2B5EF4-FFF2-40B4-BE49-F238E27FC236}">
                                <a16:creationId xmlns:a16="http://schemas.microsoft.com/office/drawing/2014/main" id="{A812A29F-8E84-057A-9AF4-9413061DFEA3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>
                          <a:xfrm>
                            <a:off x="6853284" y="5044245"/>
                            <a:ext cx="4269478" cy="2064599"/>
                          </a:xfrm>
                          <a:prstGeom prst="rect">
                            <a:avLst/>
                          </a:prstGeom>
                        </p:spPr>
                        <p:txBody>
                          <a:bodyPr spcFirstLastPara="1" vert="horz" lIns="60960" tIns="30480" rIns="60960" bIns="30480" numCol="1" rtlCol="0">
                            <a:prstTxWarp prst="textArchUp">
                              <a:avLst/>
                            </a:prstTxWarp>
                            <a:normAutofit/>
                          </a:bodyPr>
                          <a:lstStyle>
                            <a:lvl1pPr marL="0" indent="0" algn="just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1000"/>
                              </a:spcBef>
                              <a:buFont typeface="Arial" panose="020B0604020202020204" pitchFamily="34" charset="0"/>
                              <a:buNone/>
                              <a:defRPr sz="2000" kern="1200">
                                <a:solidFill>
                                  <a:schemeClr val="tx1"/>
                                </a:solidFill>
                                <a:latin typeface="Alata" panose="020B0604020202020204" charset="0"/>
                                <a:ea typeface="+mn-ea"/>
                                <a:cs typeface="+mn-cs"/>
                              </a:defRPr>
                            </a:lvl1pPr>
                            <a:lvl2pPr marL="685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4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1143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0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600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20574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5146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971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429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886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600">
                                <a:solidFill>
                                  <a:prstClr val="black"/>
                                </a:solidFill>
                              </a:rPr>
                              <a:t>Phase 2: Action Plan</a:t>
                            </a:r>
                          </a:p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200">
                                <a:solidFill>
                                  <a:prstClr val="black"/>
                                </a:solidFill>
                              </a:rPr>
                              <a:t>(after alignment meeting)  </a:t>
                            </a:r>
                            <a:endParaRPr lang="en-BE" sz="1200">
                              <a:solidFill>
                                <a:prstClr val="black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179" name="Text Placeholder 13">
                            <a:extLst>
                              <a:ext uri="{FF2B5EF4-FFF2-40B4-BE49-F238E27FC236}">
                                <a16:creationId xmlns:a16="http://schemas.microsoft.com/office/drawing/2014/main" id="{6E2FBAAF-15C5-69CC-8F1C-0AB606D660A9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>
                          <a:xfrm rot="3221837">
                            <a:off x="8669153" y="5935981"/>
                            <a:ext cx="4269478" cy="2064599"/>
                          </a:xfrm>
                          <a:prstGeom prst="rect">
                            <a:avLst/>
                          </a:prstGeom>
                        </p:spPr>
                        <p:txBody>
                          <a:bodyPr spcFirstLastPara="1" vert="horz" lIns="60960" tIns="30480" rIns="60960" bIns="30480" numCol="1" rtlCol="0">
                            <a:prstTxWarp prst="textArchUp">
                              <a:avLst/>
                            </a:prstTxWarp>
                            <a:normAutofit/>
                          </a:bodyPr>
                          <a:lstStyle>
                            <a:lvl1pPr marL="0" indent="0" algn="just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1000"/>
                              </a:spcBef>
                              <a:buFont typeface="Arial" panose="020B0604020202020204" pitchFamily="34" charset="0"/>
                              <a:buNone/>
                              <a:defRPr sz="2000" kern="1200">
                                <a:solidFill>
                                  <a:schemeClr val="tx1"/>
                                </a:solidFill>
                                <a:latin typeface="Alata" panose="020B0604020202020204" charset="0"/>
                                <a:ea typeface="+mn-ea"/>
                                <a:cs typeface="+mn-cs"/>
                              </a:defRPr>
                            </a:lvl1pPr>
                            <a:lvl2pPr marL="685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4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1143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20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600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20574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5146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9718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4290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886200" indent="-228600" algn="l" defTabSz="914400" rtl="0" eaLnBrk="1" latinLnBrk="0" hangingPunct="1">
                              <a:lnSpc>
                                <a:spcPct val="90000"/>
                              </a:lnSpc>
                              <a:spcBef>
                                <a:spcPts val="500"/>
                              </a:spcBef>
                              <a:buFont typeface="Arial" panose="020B0604020202020204" pitchFamily="34" charset="0"/>
                              <a:buChar char="•"/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600">
                                <a:solidFill>
                                  <a:prstClr val="black"/>
                                </a:solidFill>
                              </a:rPr>
                              <a:t>Phase 3: Implementation</a:t>
                            </a:r>
                          </a:p>
                          <a:p>
                            <a:pPr algn="ctr" defTabSz="609630">
                              <a:spcBef>
                                <a:spcPts val="667"/>
                              </a:spcBef>
                            </a:pPr>
                            <a:r>
                              <a:rPr lang="en-US" sz="1200">
                                <a:solidFill>
                                  <a:prstClr val="black"/>
                                </a:solidFill>
                              </a:rPr>
                              <a:t>(after Action Plan)  </a:t>
                            </a:r>
                            <a:endParaRPr lang="en-BE" sz="1200">
                              <a:solidFill>
                                <a:prstClr val="black"/>
                              </a:solidFill>
                            </a:endParaRPr>
                          </a:p>
                        </p:txBody>
                      </p:sp>
                    </p:grpSp>
                    <p:pic>
                      <p:nvPicPr>
                        <p:cNvPr id="92" name="Graphic 91" descr="Abacus outline">
                          <a:extLst>
                            <a:ext uri="{FF2B5EF4-FFF2-40B4-BE49-F238E27FC236}">
                              <a16:creationId xmlns:a16="http://schemas.microsoft.com/office/drawing/2014/main" id="{FE2E80A6-6FCE-A7E6-1664-6BD2D5A9514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>
                          <a:extLs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81221" y="5055853"/>
                          <a:ext cx="996798" cy="996798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97" name="Graphic 96" descr="Target outline">
                        <a:extLst>
                          <a:ext uri="{FF2B5EF4-FFF2-40B4-BE49-F238E27FC236}">
                            <a16:creationId xmlns:a16="http://schemas.microsoft.com/office/drawing/2014/main" id="{FDB822BC-344A-41C3-4FCA-61CB459C058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1">
                        <a:extLst>
                          <a:ext uri="{96DAC541-7B7A-43D3-8B79-37D633B846F1}">
                            <asvg:svgBlip xmlns:asvg="http://schemas.microsoft.com/office/drawing/2016/SVG/main" r:embed="rId1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27215" y="3609924"/>
                        <a:ext cx="914400" cy="91440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07" name="Graphic 106" descr="Classroom outline">
                      <a:extLst>
                        <a:ext uri="{FF2B5EF4-FFF2-40B4-BE49-F238E27FC236}">
                          <a16:creationId xmlns:a16="http://schemas.microsoft.com/office/drawing/2014/main" id="{F94BB5A1-15F4-2B0E-018F-A0F26F7F707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3">
                      <a:extLst>
                        <a:ext uri="{96DAC541-7B7A-43D3-8B79-37D633B846F1}">
                          <asvg:svgBlip xmlns:asvg="http://schemas.microsoft.com/office/drawing/2016/SVG/main" r:embed="rId1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3622706" y="6899495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05" name="Graphic 104" descr="Gears outline">
                    <a:extLst>
                      <a:ext uri="{FF2B5EF4-FFF2-40B4-BE49-F238E27FC236}">
                        <a16:creationId xmlns:a16="http://schemas.microsoft.com/office/drawing/2014/main" id="{1C30D0EB-BC6C-D45B-AC9C-ADD1CE2664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>
                    <a:extLst>
                      <a:ext uri="{96DAC541-7B7A-43D3-8B79-37D633B846F1}">
                        <asvg:svgBlip xmlns:asvg="http://schemas.microsoft.com/office/drawing/2016/SVG/main" r:embed="rId1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256009" y="3453800"/>
                    <a:ext cx="1073381" cy="107338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9" name="Graphic 98" descr="Question Mark outline">
                  <a:extLst>
                    <a:ext uri="{FF2B5EF4-FFF2-40B4-BE49-F238E27FC236}">
                      <a16:creationId xmlns:a16="http://schemas.microsoft.com/office/drawing/2014/main" id="{C224885B-26B7-20C8-19C6-2B80F33329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97184" y="450741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166" name="Circle: Hollow 165">
                <a:extLst>
                  <a:ext uri="{FF2B5EF4-FFF2-40B4-BE49-F238E27FC236}">
                    <a16:creationId xmlns:a16="http://schemas.microsoft.com/office/drawing/2014/main" id="{67C5DCE0-302F-FA6A-B5F0-6796E75314E6}"/>
                  </a:ext>
                </a:extLst>
              </p:cNvPr>
              <p:cNvSpPr/>
              <p:nvPr/>
            </p:nvSpPr>
            <p:spPr>
              <a:xfrm>
                <a:off x="4656597" y="8033379"/>
                <a:ext cx="210314" cy="195108"/>
              </a:xfrm>
              <a:prstGeom prst="donu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67" name="Circle: Hollow 166">
                <a:extLst>
                  <a:ext uri="{FF2B5EF4-FFF2-40B4-BE49-F238E27FC236}">
                    <a16:creationId xmlns:a16="http://schemas.microsoft.com/office/drawing/2014/main" id="{9CE9820D-24CC-1345-F766-16EBBE3C70ED}"/>
                  </a:ext>
                </a:extLst>
              </p:cNvPr>
              <p:cNvSpPr/>
              <p:nvPr/>
            </p:nvSpPr>
            <p:spPr>
              <a:xfrm>
                <a:off x="7126394" y="4433977"/>
                <a:ext cx="187390" cy="178795"/>
              </a:xfrm>
              <a:prstGeom prst="donu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2" name="Circle: Hollow 171">
                <a:extLst>
                  <a:ext uri="{FF2B5EF4-FFF2-40B4-BE49-F238E27FC236}">
                    <a16:creationId xmlns:a16="http://schemas.microsoft.com/office/drawing/2014/main" id="{6C338F5E-7D7A-632D-BB35-3DFBC3947510}"/>
                  </a:ext>
                </a:extLst>
              </p:cNvPr>
              <p:cNvSpPr/>
              <p:nvPr/>
            </p:nvSpPr>
            <p:spPr>
              <a:xfrm>
                <a:off x="10491421" y="4383759"/>
                <a:ext cx="194279" cy="193960"/>
              </a:xfrm>
              <a:prstGeom prst="donu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76" name="Circle: Hollow 175">
                <a:extLst>
                  <a:ext uri="{FF2B5EF4-FFF2-40B4-BE49-F238E27FC236}">
                    <a16:creationId xmlns:a16="http://schemas.microsoft.com/office/drawing/2014/main" id="{37071281-1AFD-48FE-579D-2FC3C8E66F17}"/>
                  </a:ext>
                </a:extLst>
              </p:cNvPr>
              <p:cNvSpPr/>
              <p:nvPr/>
            </p:nvSpPr>
            <p:spPr>
              <a:xfrm>
                <a:off x="13091485" y="8018155"/>
                <a:ext cx="210314" cy="195108"/>
              </a:xfrm>
              <a:prstGeom prst="donu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BE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89" name="Text Placeholder 13">
              <a:extLst>
                <a:ext uri="{FF2B5EF4-FFF2-40B4-BE49-F238E27FC236}">
                  <a16:creationId xmlns:a16="http://schemas.microsoft.com/office/drawing/2014/main" id="{F36CBD1D-5C2E-C3EA-0C1F-4D0F01D2584C}"/>
                </a:ext>
              </a:extLst>
            </p:cNvPr>
            <p:cNvSpPr txBox="1">
              <a:spLocks/>
            </p:cNvSpPr>
            <p:nvPr/>
          </p:nvSpPr>
          <p:spPr>
            <a:xfrm>
              <a:off x="5406830" y="1998217"/>
              <a:ext cx="1825598" cy="982751"/>
            </a:xfrm>
            <a:prstGeom prst="rect">
              <a:avLst/>
            </a:prstGeom>
          </p:spPr>
          <p:txBody>
            <a:bodyPr vert="horz" lIns="60960" tIns="30480" rIns="60960" bIns="30480" rtlCol="0">
              <a:norm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800">
                  <a:latin typeface="Alata" panose="020B060402020202020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defTabSz="609630">
                <a:spcBef>
                  <a:spcPts val="667"/>
                </a:spcBef>
              </a:pPr>
              <a:r>
                <a:rPr lang="en-US" sz="1867">
                  <a:solidFill>
                    <a:prstClr val="black"/>
                  </a:solidFill>
                </a:rPr>
                <a:t>4. Analyze root cause  </a:t>
              </a:r>
              <a:endParaRPr lang="en-BE" sz="1867">
                <a:solidFill>
                  <a:prstClr val="black"/>
                </a:solidFill>
              </a:endParaRPr>
            </a:p>
          </p:txBody>
        </p:sp>
        <p:sp>
          <p:nvSpPr>
            <p:cNvPr id="111" name="Slide Number Placeholder 8">
              <a:extLst>
                <a:ext uri="{FF2B5EF4-FFF2-40B4-BE49-F238E27FC236}">
                  <a16:creationId xmlns:a16="http://schemas.microsoft.com/office/drawing/2014/main" id="{81F15185-EAD9-AB9F-BD38-C7FDF92066FC}"/>
                </a:ext>
              </a:extLst>
            </p:cNvPr>
            <p:cNvSpPr txBox="1">
              <a:spLocks/>
            </p:cNvSpPr>
            <p:nvPr/>
          </p:nvSpPr>
          <p:spPr>
            <a:xfrm>
              <a:off x="8219753" y="7109425"/>
              <a:ext cx="1695692" cy="702624"/>
            </a:xfrm>
            <a:prstGeom prst="rect">
              <a:avLst/>
            </a:prstGeom>
          </p:spPr>
          <p:txBody>
            <a:bodyPr vert="horz" lIns="60960" tIns="30480" rIns="60960" bIns="30480" rtlCol="0" anchor="ctr"/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/>
              <a:r>
                <a:rPr lang="en-US" sz="3200" err="1">
                  <a:solidFill>
                    <a:prstClr val="black"/>
                  </a:solidFill>
                  <a:latin typeface="Alata"/>
                  <a:cs typeface="Calibri"/>
                </a:rPr>
                <a:t>intys</a:t>
              </a:r>
              <a:r>
                <a:rPr lang="en-US" sz="3200">
                  <a:solidFill>
                    <a:prstClr val="black"/>
                  </a:solidFill>
                  <a:latin typeface="Alata"/>
                  <a:cs typeface="Calibri"/>
                </a:rPr>
                <a:t>.</a:t>
              </a: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2EE743AE-02FE-CE95-7E1A-246400A60270}"/>
              </a:ext>
            </a:extLst>
          </p:cNvPr>
          <p:cNvSpPr/>
          <p:nvPr/>
        </p:nvSpPr>
        <p:spPr>
          <a:xfrm>
            <a:off x="1860461" y="6358658"/>
            <a:ext cx="8534400" cy="1731264"/>
          </a:xfrm>
          <a:prstGeom prst="ellipse">
            <a:avLst/>
          </a:prstGeom>
          <a:solidFill>
            <a:srgbClr val="E6D5CA"/>
          </a:solidFill>
          <a:ln>
            <a:solidFill>
              <a:srgbClr val="E6D5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B9A00F2D-8047-6BE8-9CDE-BA70E9329194}"/>
              </a:ext>
            </a:extLst>
          </p:cNvPr>
          <p:cNvCxnSpPr>
            <a:cxnSpLocks/>
          </p:cNvCxnSpPr>
          <p:nvPr/>
        </p:nvCxnSpPr>
        <p:spPr>
          <a:xfrm flipH="1">
            <a:off x="2914965" y="5511681"/>
            <a:ext cx="5781555" cy="15275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" name="Text Placeholder 13">
            <a:extLst>
              <a:ext uri="{FF2B5EF4-FFF2-40B4-BE49-F238E27FC236}">
                <a16:creationId xmlns:a16="http://schemas.microsoft.com/office/drawing/2014/main" id="{E39F199B-276C-CDEE-A410-38679D9DF5EF}"/>
              </a:ext>
            </a:extLst>
          </p:cNvPr>
          <p:cNvSpPr txBox="1">
            <a:spLocks/>
          </p:cNvSpPr>
          <p:nvPr/>
        </p:nvSpPr>
        <p:spPr>
          <a:xfrm>
            <a:off x="4126629" y="5596295"/>
            <a:ext cx="3749047" cy="67457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spcBef>
                <a:spcPts val="667"/>
              </a:spcBef>
            </a:pPr>
            <a:r>
              <a:rPr lang="en-US" sz="1867" dirty="0">
                <a:solidFill>
                  <a:prstClr val="black"/>
                </a:solidFill>
              </a:rPr>
              <a:t>The “Delivery Cycle”</a:t>
            </a:r>
          </a:p>
          <a:p>
            <a:pPr algn="ctr" defTabSz="609630">
              <a:spcBef>
                <a:spcPts val="667"/>
              </a:spcBef>
            </a:pPr>
            <a:r>
              <a:rPr lang="en-US" sz="1333" dirty="0">
                <a:solidFill>
                  <a:prstClr val="black"/>
                </a:solidFill>
              </a:rPr>
              <a:t>(After Lessons Learned/ Starting a new project)</a:t>
            </a:r>
            <a:endParaRPr lang="en-BE" sz="1333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629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4E03-4EB4-5895-83E9-521FB0BF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E8AAA-783F-1A3E-9919-12220F611B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801" y="717641"/>
            <a:ext cx="9855199" cy="434502"/>
          </a:xfrm>
        </p:spPr>
        <p:txBody>
          <a:bodyPr>
            <a:normAutofit/>
          </a:bodyPr>
          <a:lstStyle/>
          <a:p>
            <a:r>
              <a:rPr lang="en-US"/>
              <a:t>Problem tree  </a:t>
            </a:r>
            <a:endParaRPr lang="en-BE"/>
          </a:p>
        </p:txBody>
      </p:sp>
      <p:graphicFrame>
        <p:nvGraphicFramePr>
          <p:cNvPr id="7" name="Diagram 2049">
            <a:extLst>
              <a:ext uri="{FF2B5EF4-FFF2-40B4-BE49-F238E27FC236}">
                <a16:creationId xmlns:a16="http://schemas.microsoft.com/office/drawing/2014/main" id="{20C4299E-57B9-C7AC-AA19-EC7CA69008E3}"/>
              </a:ext>
            </a:extLst>
          </p:cNvPr>
          <p:cNvGraphicFramePr/>
          <p:nvPr/>
        </p:nvGraphicFramePr>
        <p:xfrm>
          <a:off x="890016" y="1342802"/>
          <a:ext cx="10009632" cy="4424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267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18695-33C5-CD31-C5C1-04ABD545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EB70103-7B15-A5F5-8ED8-B1211A9839F3}"/>
              </a:ext>
            </a:extLst>
          </p:cNvPr>
          <p:cNvSpPr/>
          <p:nvPr/>
        </p:nvSpPr>
        <p:spPr>
          <a:xfrm>
            <a:off x="698500" y="1566334"/>
            <a:ext cx="1968500" cy="337529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FF044-724C-457F-AE53-C278321661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800" y="1191835"/>
            <a:ext cx="2954867" cy="434502"/>
          </a:xfrm>
        </p:spPr>
        <p:txBody>
          <a:bodyPr>
            <a:normAutofit/>
          </a:bodyPr>
          <a:lstStyle/>
          <a:p>
            <a:r>
              <a:rPr lang="en-US"/>
              <a:t>5 Whys </a:t>
            </a:r>
            <a:endParaRPr lang="en-B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F16B9-5B16-4FE6-BD38-C1DE3508087A}"/>
              </a:ext>
            </a:extLst>
          </p:cNvPr>
          <p:cNvSpPr/>
          <p:nvPr/>
        </p:nvSpPr>
        <p:spPr>
          <a:xfrm>
            <a:off x="698500" y="2913056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E40D81-F10C-0FF3-17DB-C7B8766BFB04}"/>
              </a:ext>
            </a:extLst>
          </p:cNvPr>
          <p:cNvSpPr/>
          <p:nvPr/>
        </p:nvSpPr>
        <p:spPr>
          <a:xfrm>
            <a:off x="698500" y="2625185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D2E092D0-187F-5FBC-F73F-A0A56B7294FE}"/>
              </a:ext>
            </a:extLst>
          </p:cNvPr>
          <p:cNvSpPr txBox="1">
            <a:spLocks/>
          </p:cNvSpPr>
          <p:nvPr/>
        </p:nvSpPr>
        <p:spPr>
          <a:xfrm>
            <a:off x="1182361" y="2623717"/>
            <a:ext cx="2032000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1</a:t>
            </a:r>
            <a:r>
              <a:rPr lang="en-US" sz="1600" baseline="30000">
                <a:solidFill>
                  <a:prstClr val="black"/>
                </a:solidFill>
              </a:rPr>
              <a:t>st</a:t>
            </a:r>
            <a:r>
              <a:rPr lang="en-US" sz="1600">
                <a:solidFill>
                  <a:prstClr val="black"/>
                </a:solidFill>
              </a:rPr>
              <a:t> Why 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0E5FF67-451F-236D-741F-7D88831D6C86}"/>
              </a:ext>
            </a:extLst>
          </p:cNvPr>
          <p:cNvSpPr txBox="1">
            <a:spLocks/>
          </p:cNvSpPr>
          <p:nvPr/>
        </p:nvSpPr>
        <p:spPr>
          <a:xfrm>
            <a:off x="698500" y="1617870"/>
            <a:ext cx="2070100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Prioritized problem: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2489B4-9508-0076-D78E-E235F6E6AAC3}"/>
              </a:ext>
            </a:extLst>
          </p:cNvPr>
          <p:cNvSpPr/>
          <p:nvPr/>
        </p:nvSpPr>
        <p:spPr>
          <a:xfrm>
            <a:off x="699131" y="1903864"/>
            <a:ext cx="5541433" cy="4345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7225D3-0194-A9AE-08E9-F71A7677D4BE}"/>
              </a:ext>
            </a:extLst>
          </p:cNvPr>
          <p:cNvSpPr/>
          <p:nvPr/>
        </p:nvSpPr>
        <p:spPr>
          <a:xfrm>
            <a:off x="8994978" y="2604855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25D871-2A69-C178-2F83-03E8C9650DC4}"/>
              </a:ext>
            </a:extLst>
          </p:cNvPr>
          <p:cNvSpPr/>
          <p:nvPr/>
        </p:nvSpPr>
        <p:spPr>
          <a:xfrm>
            <a:off x="6918978" y="2613322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85DF53-6ADE-F42E-2F33-A29EB08FB063}"/>
              </a:ext>
            </a:extLst>
          </p:cNvPr>
          <p:cNvSpPr/>
          <p:nvPr/>
        </p:nvSpPr>
        <p:spPr>
          <a:xfrm>
            <a:off x="4843789" y="2615892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C0EE05-D52A-AEB6-B3B8-6F5D3727D0BF}"/>
              </a:ext>
            </a:extLst>
          </p:cNvPr>
          <p:cNvSpPr/>
          <p:nvPr/>
        </p:nvSpPr>
        <p:spPr>
          <a:xfrm>
            <a:off x="2768600" y="2615892"/>
            <a:ext cx="1883833" cy="289650"/>
          </a:xfrm>
          <a:prstGeom prst="rect">
            <a:avLst/>
          </a:prstGeom>
          <a:solidFill>
            <a:srgbClr val="E6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7D42C23-9CA4-1129-CFEC-F1E5DB360829}"/>
              </a:ext>
            </a:extLst>
          </p:cNvPr>
          <p:cNvSpPr txBox="1">
            <a:spLocks/>
          </p:cNvSpPr>
          <p:nvPr/>
        </p:nvSpPr>
        <p:spPr>
          <a:xfrm>
            <a:off x="3256695" y="2623717"/>
            <a:ext cx="1062567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2</a:t>
            </a:r>
            <a:r>
              <a:rPr lang="en-US" sz="1600" baseline="30000">
                <a:solidFill>
                  <a:prstClr val="black"/>
                </a:solidFill>
              </a:rPr>
              <a:t>nd</a:t>
            </a:r>
            <a:r>
              <a:rPr lang="en-US" sz="1600">
                <a:solidFill>
                  <a:prstClr val="black"/>
                </a:solidFill>
              </a:rPr>
              <a:t> Why 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B3ACE675-9A4C-B59A-657C-158A9D59A316}"/>
              </a:ext>
            </a:extLst>
          </p:cNvPr>
          <p:cNvSpPr txBox="1">
            <a:spLocks/>
          </p:cNvSpPr>
          <p:nvPr/>
        </p:nvSpPr>
        <p:spPr>
          <a:xfrm>
            <a:off x="9450917" y="2623717"/>
            <a:ext cx="1062567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5</a:t>
            </a:r>
            <a:r>
              <a:rPr lang="en-US" sz="1600" baseline="30000">
                <a:solidFill>
                  <a:prstClr val="black"/>
                </a:solidFill>
              </a:rPr>
              <a:t>th</a:t>
            </a:r>
            <a:r>
              <a:rPr lang="en-US" sz="1600">
                <a:solidFill>
                  <a:prstClr val="black"/>
                </a:solidFill>
              </a:rPr>
              <a:t> Why 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40CC50C-7288-C035-DDA5-17112E895290}"/>
              </a:ext>
            </a:extLst>
          </p:cNvPr>
          <p:cNvSpPr txBox="1">
            <a:spLocks/>
          </p:cNvSpPr>
          <p:nvPr/>
        </p:nvSpPr>
        <p:spPr>
          <a:xfrm>
            <a:off x="5357149" y="2613322"/>
            <a:ext cx="1062567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3</a:t>
            </a:r>
            <a:r>
              <a:rPr lang="en-US" sz="1600" baseline="30000">
                <a:solidFill>
                  <a:prstClr val="black"/>
                </a:solidFill>
              </a:rPr>
              <a:t>rd</a:t>
            </a:r>
            <a:r>
              <a:rPr lang="en-US" sz="1600">
                <a:solidFill>
                  <a:prstClr val="black"/>
                </a:solidFill>
              </a:rPr>
              <a:t> Why 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0D40FA6-846A-F269-E2BA-86CDA0FCCD54}"/>
              </a:ext>
            </a:extLst>
          </p:cNvPr>
          <p:cNvSpPr txBox="1">
            <a:spLocks/>
          </p:cNvSpPr>
          <p:nvPr/>
        </p:nvSpPr>
        <p:spPr>
          <a:xfrm>
            <a:off x="7487103" y="2604854"/>
            <a:ext cx="1062567" cy="434502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Alata" panose="020B06040202020202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spcBef>
                <a:spcPts val="667"/>
              </a:spcBef>
            </a:pPr>
            <a:r>
              <a:rPr lang="en-US" sz="1600">
                <a:solidFill>
                  <a:prstClr val="black"/>
                </a:solidFill>
              </a:rPr>
              <a:t>4</a:t>
            </a:r>
            <a:r>
              <a:rPr lang="en-US" sz="1600" baseline="30000">
                <a:solidFill>
                  <a:prstClr val="black"/>
                </a:solidFill>
              </a:rPr>
              <a:t>th</a:t>
            </a:r>
            <a:r>
              <a:rPr lang="en-US" sz="1600">
                <a:solidFill>
                  <a:prstClr val="black"/>
                </a:solidFill>
              </a:rPr>
              <a:t> Why  </a:t>
            </a:r>
            <a:endParaRPr lang="en-BE" sz="1600">
              <a:solidFill>
                <a:prstClr val="black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E9D5CB-BAF4-D814-43D5-DD5A6291D0A2}"/>
              </a:ext>
            </a:extLst>
          </p:cNvPr>
          <p:cNvSpPr/>
          <p:nvPr/>
        </p:nvSpPr>
        <p:spPr>
          <a:xfrm>
            <a:off x="8997544" y="2894505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F92766-5A2F-3827-B393-172B15C841B0}"/>
              </a:ext>
            </a:extLst>
          </p:cNvPr>
          <p:cNvSpPr/>
          <p:nvPr/>
        </p:nvSpPr>
        <p:spPr>
          <a:xfrm>
            <a:off x="6918978" y="2904590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43629F7-9C05-8334-C66B-A9C43D9F3580}"/>
              </a:ext>
            </a:extLst>
          </p:cNvPr>
          <p:cNvSpPr/>
          <p:nvPr/>
        </p:nvSpPr>
        <p:spPr>
          <a:xfrm>
            <a:off x="4843789" y="2904590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8FE82F-A78B-CADE-DFBC-17E889C43A76}"/>
              </a:ext>
            </a:extLst>
          </p:cNvPr>
          <p:cNvSpPr/>
          <p:nvPr/>
        </p:nvSpPr>
        <p:spPr>
          <a:xfrm>
            <a:off x="2768600" y="2902972"/>
            <a:ext cx="1883833" cy="196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r>
              <a:rPr lang="en-US" sz="1200">
                <a:solidFill>
                  <a:prstClr val="white"/>
                </a:solidFill>
                <a:latin typeface="Calibri" panose="020F0502020204030204"/>
              </a:rPr>
              <a:t>D</a:t>
            </a:r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700125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21C1-719F-6ECC-7B78-97FAAE719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7E580-98D4-365E-7352-BDEC2E2F9B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800" y="1191835"/>
            <a:ext cx="9855199" cy="434502"/>
          </a:xfrm>
        </p:spPr>
        <p:txBody>
          <a:bodyPr>
            <a:normAutofit/>
          </a:bodyPr>
          <a:lstStyle/>
          <a:p>
            <a:r>
              <a:rPr lang="en-US"/>
              <a:t>Feasibility table (Develop Countermeasures) </a:t>
            </a:r>
            <a:endParaRPr lang="en-BE"/>
          </a:p>
        </p:txBody>
      </p:sp>
      <p:graphicFrame>
        <p:nvGraphicFramePr>
          <p:cNvPr id="8" name="Tableau 4">
            <a:extLst>
              <a:ext uri="{FF2B5EF4-FFF2-40B4-BE49-F238E27FC236}">
                <a16:creationId xmlns:a16="http://schemas.microsoft.com/office/drawing/2014/main" id="{26BABAF0-B08D-71A9-330B-0A5278959E39}"/>
              </a:ext>
            </a:extLst>
          </p:cNvPr>
          <p:cNvGraphicFramePr>
            <a:graphicFrameLocks noGrp="1"/>
          </p:cNvGraphicFramePr>
          <p:nvPr/>
        </p:nvGraphicFramePr>
        <p:xfrm>
          <a:off x="550333" y="2292749"/>
          <a:ext cx="8686800" cy="2452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9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8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7438"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solidFill>
                            <a:schemeClr val="tx1"/>
                          </a:solidFill>
                          <a:latin typeface="Alata" pitchFamily="2" charset="0"/>
                          <a:cs typeface="Alata" pitchFamily="2" charset="0"/>
                        </a:rPr>
                        <a:t>Root cause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solidFill>
                            <a:schemeClr val="tx1"/>
                          </a:solidFill>
                          <a:latin typeface="Alata" pitchFamily="2" charset="0"/>
                          <a:cs typeface="Alata" pitchFamily="2" charset="0"/>
                        </a:rPr>
                        <a:t>Counter measures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solidFill>
                            <a:schemeClr val="tx1"/>
                          </a:solidFill>
                          <a:latin typeface="Alata" pitchFamily="2" charset="0"/>
                          <a:cs typeface="Alata" pitchFamily="2" charset="0"/>
                        </a:rPr>
                        <a:t>Finance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solidFill>
                            <a:schemeClr val="tx1"/>
                          </a:solidFill>
                          <a:latin typeface="Alata" pitchFamily="2" charset="0"/>
                          <a:cs typeface="Alata" pitchFamily="2" charset="0"/>
                        </a:rPr>
                        <a:t>Legal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solidFill>
                            <a:schemeClr val="tx1"/>
                          </a:solidFill>
                          <a:latin typeface="Alata" pitchFamily="2" charset="0"/>
                          <a:cs typeface="Alata" pitchFamily="2" charset="0"/>
                        </a:rPr>
                        <a:t>HR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solidFill>
                            <a:schemeClr val="tx1"/>
                          </a:solidFill>
                          <a:latin typeface="Alata" pitchFamily="2" charset="0"/>
                          <a:cs typeface="Alata" pitchFamily="2" charset="0"/>
                        </a:rPr>
                        <a:t>Maintenance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>
                          <a:solidFill>
                            <a:schemeClr val="tx1"/>
                          </a:solidFill>
                          <a:latin typeface="Alata" pitchFamily="2" charset="0"/>
                          <a:cs typeface="Alata" pitchFamily="2" charset="0"/>
                        </a:rPr>
                        <a:t>To</a:t>
                      </a:r>
                      <a:r>
                        <a:rPr lang="fr-FR" sz="1200" baseline="0">
                          <a:solidFill>
                            <a:schemeClr val="tx1"/>
                          </a:solidFill>
                          <a:latin typeface="Alata" pitchFamily="2" charset="0"/>
                          <a:cs typeface="Alata" pitchFamily="2" charset="0"/>
                        </a:rPr>
                        <a:t> be implemented</a:t>
                      </a:r>
                      <a:endParaRPr lang="fr-FR" sz="1200">
                        <a:solidFill>
                          <a:schemeClr val="tx1"/>
                        </a:solidFill>
                        <a:latin typeface="Alata" pitchFamily="2" charset="0"/>
                        <a:cs typeface="Alata" pitchFamily="2" charset="0"/>
                      </a:endParaRP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438">
                <a:tc rowSpan="2"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fr-FR" sz="900" b="1">
                          <a:solidFill>
                            <a:srgbClr val="6B6C6E"/>
                          </a:solidFill>
                          <a:latin typeface="Alata" pitchFamily="2" charset="0"/>
                          <a:cs typeface="Alata" pitchFamily="2" charset="0"/>
                        </a:rPr>
                        <a:t>(Root cause)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>
                          <a:solidFill>
                            <a:srgbClr val="6B6C6E"/>
                          </a:solidFill>
                          <a:latin typeface="Alata" pitchFamily="2" charset="0"/>
                          <a:cs typeface="Alata" pitchFamily="2" charset="0"/>
                        </a:rPr>
                        <a:t>(Countermeasure 1)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800">
                        <a:solidFill>
                          <a:srgbClr val="008000"/>
                        </a:solidFill>
                        <a:latin typeface="+mn-lt"/>
                        <a:cs typeface="Alata" pitchFamily="2" charset="0"/>
                      </a:endParaRP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800">
                        <a:solidFill>
                          <a:srgbClr val="008000"/>
                        </a:solidFill>
                        <a:latin typeface="+mn-lt"/>
                        <a:cs typeface="Alata" pitchFamily="2" charset="0"/>
                      </a:endParaRP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>
                          <a:solidFill>
                            <a:schemeClr val="tx1"/>
                          </a:solidFill>
                          <a:latin typeface="+mn-lt"/>
                          <a:cs typeface="Myriad pro"/>
                        </a:rPr>
                        <a:t>X</a:t>
                      </a:r>
                      <a:endParaRPr lang="fr-FR" sz="800" b="1">
                        <a:solidFill>
                          <a:schemeClr val="tx1"/>
                        </a:solidFill>
                        <a:latin typeface="+mn-lt"/>
                        <a:cs typeface="Alata" pitchFamily="2" charset="0"/>
                      </a:endParaRP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>
                          <a:solidFill>
                            <a:schemeClr val="tx1"/>
                          </a:solidFill>
                          <a:latin typeface="+mn-lt"/>
                          <a:cs typeface="Alata" pitchFamily="2" charset="0"/>
                        </a:rPr>
                        <a:t>O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600" b="1">
                        <a:solidFill>
                          <a:srgbClr val="DD241A"/>
                        </a:solidFill>
                        <a:latin typeface="+mn-lt"/>
                        <a:cs typeface="Myriad pro"/>
                      </a:endParaRP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438">
                <a:tc vMerge="1">
                  <a:txBody>
                    <a:bodyPr/>
                    <a:lstStyle/>
                    <a:p>
                      <a:pPr algn="ctr"/>
                      <a:endParaRPr lang="fr-FR" sz="1200">
                        <a:latin typeface="Myriad pro"/>
                        <a:cs typeface="Myriad pro"/>
                      </a:endParaRPr>
                    </a:p>
                  </a:txBody>
                  <a:tcPr>
                    <a:lnL w="12700" cap="flat" cmpd="sng" algn="ctr">
                      <a:solidFill>
                        <a:srgbClr val="6B6C6E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6C6E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6C6E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6C6E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>
                          <a:solidFill>
                            <a:srgbClr val="6B6C6E"/>
                          </a:solidFill>
                          <a:latin typeface="Alata" pitchFamily="2" charset="0"/>
                          <a:cs typeface="Alata" pitchFamily="2" charset="0"/>
                        </a:rPr>
                        <a:t>(Countermeasure 2)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800">
                        <a:solidFill>
                          <a:srgbClr val="B98F0F"/>
                        </a:solidFill>
                        <a:latin typeface="+mn-lt"/>
                        <a:cs typeface="Alata" pitchFamily="2" charset="0"/>
                      </a:endParaRP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800">
                        <a:solidFill>
                          <a:srgbClr val="008000"/>
                        </a:solidFill>
                        <a:latin typeface="+mn-lt"/>
                        <a:cs typeface="Alata" pitchFamily="2" charset="0"/>
                      </a:endParaRP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>
                          <a:solidFill>
                            <a:schemeClr val="tx1"/>
                          </a:solidFill>
                          <a:latin typeface="+mn-lt"/>
                          <a:cs typeface="Alata" pitchFamily="2" charset="0"/>
                        </a:rPr>
                        <a:t>Δ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1">
                          <a:solidFill>
                            <a:schemeClr val="tx1"/>
                          </a:solidFill>
                          <a:latin typeface="+mn-lt"/>
                          <a:cs typeface="Alata" pitchFamily="2" charset="0"/>
                        </a:rPr>
                        <a:t>Δ</a:t>
                      </a: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600" b="1">
                        <a:solidFill>
                          <a:srgbClr val="B98F0F"/>
                        </a:solidFill>
                        <a:latin typeface="+mn-lt"/>
                        <a:cs typeface="Myriad pro"/>
                      </a:endParaRPr>
                    </a:p>
                  </a:txBody>
                  <a:tcPr marL="60960" marR="6096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90D69A4-4E6D-F960-6D8A-94F1162E4F54}"/>
              </a:ext>
            </a:extLst>
          </p:cNvPr>
          <p:cNvSpPr/>
          <p:nvPr/>
        </p:nvSpPr>
        <p:spPr>
          <a:xfrm>
            <a:off x="8466667" y="3455405"/>
            <a:ext cx="127000" cy="12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B4310-FC04-2A09-4903-29C162F504AF}"/>
              </a:ext>
            </a:extLst>
          </p:cNvPr>
          <p:cNvSpPr/>
          <p:nvPr/>
        </p:nvSpPr>
        <p:spPr>
          <a:xfrm>
            <a:off x="8466667" y="4260512"/>
            <a:ext cx="127000" cy="12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BE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C1EC683-8F1C-9D5B-C2F5-DF69F36C8E67}"/>
              </a:ext>
            </a:extLst>
          </p:cNvPr>
          <p:cNvSpPr txBox="1"/>
          <p:nvPr/>
        </p:nvSpPr>
        <p:spPr>
          <a:xfrm>
            <a:off x="10129556" y="2956373"/>
            <a:ext cx="1512111" cy="830997"/>
          </a:xfrm>
          <a:prstGeom prst="rect">
            <a:avLst/>
          </a:prstGeom>
          <a:solidFill>
            <a:srgbClr val="E6D5CA"/>
          </a:solidFill>
          <a:ln>
            <a:solidFill>
              <a:srgbClr val="6B6C6E"/>
            </a:solidFill>
          </a:ln>
        </p:spPr>
        <p:txBody>
          <a:bodyPr wrap="square" rtlCol="0">
            <a:spAutoFit/>
          </a:bodyPr>
          <a:lstStyle/>
          <a:p>
            <a:pPr defTabSz="609630"/>
            <a:r>
              <a:rPr lang="fr-FR" sz="16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O:</a:t>
            </a:r>
            <a:r>
              <a:rPr lang="fr-FR" sz="1333">
                <a:solidFill>
                  <a:srgbClr val="6B6C6E"/>
                </a:solidFill>
                <a:latin typeface="Alata" pitchFamily="2" charset="0"/>
                <a:cs typeface="Alata" pitchFamily="2" charset="0"/>
              </a:rPr>
              <a:t> </a:t>
            </a:r>
            <a:r>
              <a:rPr lang="fr-FR" sz="13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OK</a:t>
            </a:r>
          </a:p>
          <a:p>
            <a:pPr defTabSz="609630"/>
            <a:r>
              <a:rPr lang="fr-FR" sz="16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Δ: </a:t>
            </a:r>
            <a:r>
              <a:rPr lang="fr-FR" sz="13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To </a:t>
            </a:r>
            <a:r>
              <a:rPr lang="fr-FR" sz="1333" err="1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negotiate</a:t>
            </a:r>
            <a:endParaRPr lang="fr-FR" sz="1333">
              <a:solidFill>
                <a:prstClr val="black"/>
              </a:solidFill>
              <a:latin typeface="Alata" pitchFamily="2" charset="0"/>
              <a:cs typeface="Alata" pitchFamily="2" charset="0"/>
            </a:endParaRPr>
          </a:p>
          <a:p>
            <a:pPr defTabSz="609630"/>
            <a:r>
              <a:rPr lang="fr-FR" sz="1600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X: </a:t>
            </a:r>
            <a:r>
              <a:rPr lang="fr-FR" sz="1333">
                <a:solidFill>
                  <a:prstClr val="black"/>
                </a:solidFill>
                <a:latin typeface="Alata" pitchFamily="2" charset="0"/>
                <a:cs typeface="Alata" pitchFamily="2" charset="0"/>
              </a:rPr>
              <a:t> not OK</a:t>
            </a:r>
          </a:p>
        </p:txBody>
      </p:sp>
    </p:spTree>
    <p:extLst>
      <p:ext uri="{BB962C8B-B14F-4D97-AF65-F5344CB8AC3E}">
        <p14:creationId xmlns:p14="http://schemas.microsoft.com/office/powerpoint/2010/main" val="412586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424B-D6FB-DC33-6708-E84E0331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10B96-E36B-5406-EEE2-B2A92D7620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800" y="1191835"/>
            <a:ext cx="9855199" cy="434502"/>
          </a:xfrm>
        </p:spPr>
        <p:txBody>
          <a:bodyPr>
            <a:normAutofit/>
          </a:bodyPr>
          <a:lstStyle/>
          <a:p>
            <a:r>
              <a:rPr lang="en-US"/>
              <a:t>RACI (R=</a:t>
            </a:r>
            <a:r>
              <a:rPr lang="en-US" b="1"/>
              <a:t>R</a:t>
            </a:r>
            <a:r>
              <a:rPr lang="en-US"/>
              <a:t>esponsible, A=</a:t>
            </a:r>
            <a:r>
              <a:rPr lang="en-US" b="1"/>
              <a:t>A</a:t>
            </a:r>
            <a:r>
              <a:rPr lang="en-US"/>
              <a:t>ccountable, C=</a:t>
            </a:r>
            <a:r>
              <a:rPr lang="en-US" b="1"/>
              <a:t>C</a:t>
            </a:r>
            <a:r>
              <a:rPr lang="en-US"/>
              <a:t>onsulted, I=</a:t>
            </a:r>
            <a:r>
              <a:rPr lang="en-US" b="1"/>
              <a:t>I</a:t>
            </a:r>
            <a:r>
              <a:rPr lang="en-US"/>
              <a:t>nformed) </a:t>
            </a:r>
            <a:endParaRPr lang="en-B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32BA59-47F5-1734-423E-A53CC20968F5}"/>
              </a:ext>
            </a:extLst>
          </p:cNvPr>
          <p:cNvGraphicFramePr>
            <a:graphicFrameLocks noGrp="1"/>
          </p:cNvGraphicFramePr>
          <p:nvPr/>
        </p:nvGraphicFramePr>
        <p:xfrm>
          <a:off x="973791" y="1660940"/>
          <a:ext cx="9440208" cy="32781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3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3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3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58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Activities</a:t>
                      </a: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Ressources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Role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1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Role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2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Role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3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Role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4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Role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5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Task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1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5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Task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2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5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Task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3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5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b="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Task</a:t>
                      </a:r>
                      <a:r>
                        <a:rPr lang="fr-FR" sz="1300" b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4</a:t>
                      </a:r>
                      <a:endParaRPr lang="fr-BE" sz="1300" b="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</a:rPr>
                        <a:t> </a:t>
                      </a:r>
                      <a:endParaRPr lang="fr-BE" sz="5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15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22C9-5C80-D79A-74A9-6BD0343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52D3-5ABC-7C34-C34A-BC1C6263AF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0413" y="1011090"/>
            <a:ext cx="9855199" cy="434502"/>
          </a:xfrm>
        </p:spPr>
        <p:txBody>
          <a:bodyPr>
            <a:normAutofit/>
          </a:bodyPr>
          <a:lstStyle/>
          <a:p>
            <a:r>
              <a:rPr lang="en-US"/>
              <a:t>Gantt Chart</a:t>
            </a:r>
            <a:endParaRPr lang="en-B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AADDE0-8DB4-F020-8672-E6D9B53AB85B}"/>
              </a:ext>
            </a:extLst>
          </p:cNvPr>
          <p:cNvGraphicFramePr>
            <a:graphicFrameLocks noGrp="1"/>
          </p:cNvGraphicFramePr>
          <p:nvPr/>
        </p:nvGraphicFramePr>
        <p:xfrm>
          <a:off x="780413" y="1649287"/>
          <a:ext cx="9741284" cy="38847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76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793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Week 1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Week 2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Week 3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Week 4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Week</a:t>
                      </a:r>
                      <a:r>
                        <a:rPr lang="fr-FR" sz="1300" baseline="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</a:t>
                      </a: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5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BE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ea typeface="Times New Roman"/>
                          <a:cs typeface="Alata" pitchFamily="2" charset="0"/>
                        </a:rPr>
                        <a:t>Week 6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BE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ea typeface="Times New Roman"/>
                          <a:cs typeface="Alata" pitchFamily="2" charset="0"/>
                        </a:rPr>
                        <a:t>Week 7</a:t>
                      </a: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Task</a:t>
                      </a: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1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8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Task</a:t>
                      </a: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2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8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Task</a:t>
                      </a: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3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solidFill>
                          <a:srgbClr val="FFFFFF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solidFill>
                          <a:srgbClr val="FFFFFF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8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FR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cs typeface="Alata" pitchFamily="2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1300" err="1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Task</a:t>
                      </a:r>
                      <a:r>
                        <a:rPr lang="fr-FR" sz="1300">
                          <a:solidFill>
                            <a:schemeClr val="tx1"/>
                          </a:solidFill>
                          <a:effectLst/>
                          <a:latin typeface="Alata" pitchFamily="2" charset="0"/>
                          <a:cs typeface="Alata" pitchFamily="2" charset="0"/>
                        </a:rPr>
                        <a:t> 4</a:t>
                      </a:r>
                      <a:endParaRPr lang="fr-BE" sz="1300">
                        <a:solidFill>
                          <a:schemeClr val="tx1"/>
                        </a:solidFill>
                        <a:effectLst/>
                        <a:latin typeface="Alata" pitchFamily="2" charset="0"/>
                        <a:ea typeface="Times New Roman"/>
                        <a:cs typeface="Alata" pitchFamily="2" charset="0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solidFill>
                          <a:srgbClr val="FFFFFF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solidFill>
                          <a:srgbClr val="FFFFFF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r>
                        <a:rPr lang="fr-FR" sz="500">
                          <a:effectLst/>
                          <a:latin typeface="+mn-lt"/>
                        </a:rPr>
                        <a:t> </a:t>
                      </a: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990600" algn="l"/>
                        </a:tabLst>
                      </a:pPr>
                      <a:endParaRPr lang="fr-BE" sz="50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45720" marR="457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12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8A8B-1B77-9F36-E8F4-6D1C1ED5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DD093-8667-1C12-0710-F93563746A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3565" y="1242738"/>
            <a:ext cx="9855199" cy="434502"/>
          </a:xfrm>
        </p:spPr>
        <p:txBody>
          <a:bodyPr>
            <a:normAutofit/>
          </a:bodyPr>
          <a:lstStyle/>
          <a:p>
            <a:r>
              <a:rPr lang="en-US"/>
              <a:t>Simple roadmap </a:t>
            </a:r>
            <a:endParaRPr lang="en-BE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9DFBF56-C1F9-0F9B-5E37-F76C5F6288AF}"/>
              </a:ext>
            </a:extLst>
          </p:cNvPr>
          <p:cNvGraphicFramePr/>
          <p:nvPr/>
        </p:nvGraphicFramePr>
        <p:xfrm>
          <a:off x="1772973" y="2093653"/>
          <a:ext cx="8590227" cy="1335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311DD3-B489-FCF2-7770-47BA8C0FE71C}"/>
              </a:ext>
            </a:extLst>
          </p:cNvPr>
          <p:cNvSpPr txBox="1"/>
          <p:nvPr/>
        </p:nvSpPr>
        <p:spPr>
          <a:xfrm>
            <a:off x="2426208" y="3429000"/>
            <a:ext cx="1365504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1333">
                <a:solidFill>
                  <a:sysClr val="windowText" lastClr="000000"/>
                </a:solidFill>
                <a:latin typeface="Alata" pitchFamily="2" charset="0"/>
                <a:cs typeface="Alata" pitchFamily="2" charset="0"/>
              </a:rPr>
              <a:t>- Actions</a:t>
            </a:r>
            <a:endParaRPr lang="en-BE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B7B95-ACCB-99B1-E284-C97F35C24CE0}"/>
              </a:ext>
            </a:extLst>
          </p:cNvPr>
          <p:cNvSpPr txBox="1"/>
          <p:nvPr/>
        </p:nvSpPr>
        <p:spPr>
          <a:xfrm>
            <a:off x="8626918" y="3429000"/>
            <a:ext cx="1365504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1333">
                <a:solidFill>
                  <a:sysClr val="windowText" lastClr="000000"/>
                </a:solidFill>
                <a:latin typeface="Alata" pitchFamily="2" charset="0"/>
                <a:cs typeface="Alata" pitchFamily="2" charset="0"/>
              </a:rPr>
              <a:t>- Actions</a:t>
            </a:r>
            <a:endParaRPr lang="en-BE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C28BD3-844F-FFEA-4210-3B86F0CDC96B}"/>
              </a:ext>
            </a:extLst>
          </p:cNvPr>
          <p:cNvSpPr txBox="1"/>
          <p:nvPr/>
        </p:nvSpPr>
        <p:spPr>
          <a:xfrm>
            <a:off x="6423030" y="3429000"/>
            <a:ext cx="1365504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1333">
                <a:solidFill>
                  <a:sysClr val="windowText" lastClr="000000"/>
                </a:solidFill>
                <a:latin typeface="Alata" pitchFamily="2" charset="0"/>
                <a:cs typeface="Alata" pitchFamily="2" charset="0"/>
              </a:rPr>
              <a:t>- Actions</a:t>
            </a:r>
            <a:endParaRPr lang="en-BE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84386F-81F9-C8A2-C848-672BFBF155FA}"/>
              </a:ext>
            </a:extLst>
          </p:cNvPr>
          <p:cNvSpPr txBox="1"/>
          <p:nvPr/>
        </p:nvSpPr>
        <p:spPr>
          <a:xfrm>
            <a:off x="4415659" y="3429000"/>
            <a:ext cx="1365504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/>
            <a:r>
              <a:rPr lang="en-US" sz="1333">
                <a:solidFill>
                  <a:sysClr val="windowText" lastClr="000000"/>
                </a:solidFill>
                <a:latin typeface="Alata" pitchFamily="2" charset="0"/>
                <a:cs typeface="Alata" pitchFamily="2" charset="0"/>
              </a:rPr>
              <a:t>- Actions</a:t>
            </a:r>
            <a:endParaRPr lang="en-BE" sz="1333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8579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theme/theme1.xml><?xml version="1.0" encoding="utf-8"?>
<a:theme xmlns:a="http://schemas.openxmlformats.org/drawingml/2006/main" name="Thème Office">
  <a:themeElements>
    <a:clrScheme name="Intys Consulting">
      <a:dk1>
        <a:srgbClr val="39342E"/>
      </a:dk1>
      <a:lt1>
        <a:srgbClr val="FFFFFF"/>
      </a:lt1>
      <a:dk2>
        <a:srgbClr val="5F5A54"/>
      </a:dk2>
      <a:lt2>
        <a:srgbClr val="81756B"/>
      </a:lt2>
      <a:accent1>
        <a:srgbClr val="D02C2F"/>
      </a:accent1>
      <a:accent2>
        <a:srgbClr val="E94B4E"/>
      </a:accent2>
      <a:accent3>
        <a:srgbClr val="AE1613"/>
      </a:accent3>
      <a:accent4>
        <a:srgbClr val="7A161A"/>
      </a:accent4>
      <a:accent5>
        <a:srgbClr val="5F5A54"/>
      </a:accent5>
      <a:accent6>
        <a:srgbClr val="5F5A54"/>
      </a:accent6>
      <a:hlink>
        <a:srgbClr val="D7D4CF"/>
      </a:hlink>
      <a:folHlink>
        <a:srgbClr val="D7D4CF"/>
      </a:folHlink>
    </a:clrScheme>
    <a:fontScheme name="Personnalisé 1">
      <a:majorFont>
        <a:latin typeface="Ebrima"/>
        <a:ea typeface=""/>
        <a:cs typeface=""/>
      </a:majorFont>
      <a:minorFont>
        <a:latin typeface="Ebri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wrap="square" rtlCol="0">
        <a:spAutoFit/>
      </a:bodyPr>
      <a:lstStyle>
        <a:defPPr marL="179388" indent="-179388" algn="l">
          <a:lnSpc>
            <a:spcPct val="150000"/>
          </a:lnSpc>
          <a:buFont typeface="Wingdings" panose="05000000000000000000" pitchFamily="2" charset="2"/>
          <a:buChar char="§"/>
          <a:defRPr sz="1600" b="1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69133C99-5B52-40A5-9267-1757B3066F8E}" vid="{5DA6F195-E98B-4BF0-BCD9-05E2C0150E8B}"/>
    </a:ext>
  </a:extLst>
</a:theme>
</file>

<file path=ppt/theme/theme2.xml><?xml version="1.0" encoding="utf-8"?>
<a:theme xmlns:a="http://schemas.openxmlformats.org/drawingml/2006/main" name="1_Custom Design">
  <a:themeElements>
    <a:clrScheme name="1_Custom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D11"/>
      </a:accent1>
      <a:accent2>
        <a:srgbClr val="B2B2B2"/>
      </a:accent2>
      <a:accent3>
        <a:srgbClr val="FFFFFF"/>
      </a:accent3>
      <a:accent4>
        <a:srgbClr val="000000"/>
      </a:accent4>
      <a:accent5>
        <a:srgbClr val="FFE3AA"/>
      </a:accent5>
      <a:accent6>
        <a:srgbClr val="A1A1A1"/>
      </a:accent6>
      <a:hlink>
        <a:srgbClr val="000000"/>
      </a:hlink>
      <a:folHlink>
        <a:srgbClr val="000000"/>
      </a:folHlink>
    </a:clrScheme>
    <a:fontScheme name="1_Custom Design">
      <a:majorFont>
        <a:latin typeface="Arial Narrow"/>
        <a:ea typeface="ＭＳ Ｐゴシック"/>
        <a:cs typeface="Arial"/>
      </a:majorFont>
      <a:minorFont>
        <a:latin typeface="Arial Narrow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D11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FFE3AA"/>
        </a:accent5>
        <a:accent6>
          <a:srgbClr val="A1A1A1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Front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ub-sec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los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bstrac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Sub-sec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Classic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87A467FD3BE24CB82EFBE6871FD4E3" ma:contentTypeVersion="3" ma:contentTypeDescription="Crée un document." ma:contentTypeScope="" ma:versionID="1a5fd1c6b3ed7624e0925e21a1d833d4">
  <xsd:schema xmlns:xsd="http://www.w3.org/2001/XMLSchema" xmlns:xs="http://www.w3.org/2001/XMLSchema" xmlns:p="http://schemas.microsoft.com/office/2006/metadata/properties" xmlns:ns2="165e2d99-c8bf-4909-96a9-11c65280bb01" targetNamespace="http://schemas.microsoft.com/office/2006/metadata/properties" ma:root="true" ma:fieldsID="830bcf0d829e698b68938c37122a74c6" ns2:_="">
    <xsd:import namespace="165e2d99-c8bf-4909-96a9-11c65280bb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5e2d99-c8bf-4909-96a9-11c65280bb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2F36BE-F02F-4905-91F2-69336DD14C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ED2038-7C17-47C5-AB3A-E6E7C4698E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5e2d99-c8bf-4909-96a9-11c65280bb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CD33D2-BBCD-476B-B4CF-61B81C6A4361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IntysConsulting_Template</Template>
  <TotalTime>316</TotalTime>
  <Words>7848</Words>
  <Application>Microsoft Office PowerPoint</Application>
  <PresentationFormat>Grand écran</PresentationFormat>
  <Paragraphs>1227</Paragraphs>
  <Slides>53</Slides>
  <Notes>35</Notes>
  <HiddenSlides>0</HiddenSlides>
  <MMClips>0</MMClips>
  <ScaleCrop>false</ScaleCrop>
  <HeadingPairs>
    <vt:vector size="4" baseType="variant">
      <vt:variant>
        <vt:lpstr>Thème</vt:lpstr>
      </vt:variant>
      <vt:variant>
        <vt:i4>9</vt:i4>
      </vt:variant>
      <vt:variant>
        <vt:lpstr>Titres des diapositives</vt:lpstr>
      </vt:variant>
      <vt:variant>
        <vt:i4>53</vt:i4>
      </vt:variant>
    </vt:vector>
  </HeadingPairs>
  <TitlesOfParts>
    <vt:vector size="62" baseType="lpstr">
      <vt:lpstr>Thème Office</vt:lpstr>
      <vt:lpstr>1_Custom Design</vt:lpstr>
      <vt:lpstr>Front page</vt:lpstr>
      <vt:lpstr>Sub-section</vt:lpstr>
      <vt:lpstr>Closing Slide</vt:lpstr>
      <vt:lpstr>Abstract</vt:lpstr>
      <vt:lpstr>1_Sub-section</vt:lpstr>
      <vt:lpstr>Classic Layout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Delphine Van Triel</dc:creator>
  <cp:lastModifiedBy>Vanessa Samzun</cp:lastModifiedBy>
  <cp:revision>597</cp:revision>
  <cp:lastPrinted>2021-04-20T11:51:48Z</cp:lastPrinted>
  <dcterms:created xsi:type="dcterms:W3CDTF">2018-03-28T14:41:57Z</dcterms:created>
  <dcterms:modified xsi:type="dcterms:W3CDTF">2026-02-24T12:28:39Z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0x0101001287A467FD3BE24CB82EFBE6871FD4E3</vt:lpwstr>
  </property>
  <property fmtid="{D5CDD505-2E9C-101B-9397-08002B2CF9AE}" pid="3" name="AuthorIds_UIVersion_2048">
    <vt:lpwstr>227</vt:lpwstr>
  </property>
</Properties>
</file>